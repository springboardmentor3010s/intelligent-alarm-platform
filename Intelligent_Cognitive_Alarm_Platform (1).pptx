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547eb1e-d5db-6295-9ec2-efea3bcd3d76}">
          <p14:sldIdLst>
            <p14:sldId id="256"/>
            <p14:sldId id="257"/>
            <p14:sldId id="258"/>
          </p14:sldIdLst>
        </p14:section>
        <p14:section name="How it works" id="{0950c7f1-21e1-8fd0-aacf-9cc60510fc70}">
          <p14:sldIdLst>
            <p14:sldId id="259"/>
            <p14:sldId id="260"/>
            <p14:sldId id="261"/>
          </p14:sldIdLst>
        </p14:section>
        <p14:section name="Intelligence" id="{96b68c89-2b7c-fc66-4591-fa04b52ba1de}">
          <p14:sldIdLst>
            <p14:sldId id="262"/>
            <p14:sldId id="263"/>
          </p14:sldIdLst>
        </p14:section>
        <p14:section name="Technology" id="{7abd048d-faf7-1742-5dc3-49b5e0ad52fa}">
          <p14:sldIdLst>
            <p14:sldId id="264"/>
            <p14:sldId id="265"/>
          </p14:sldIdLst>
        </p14:section>
        <p14:section name="Demo and outlook" id="{307b0a64-427f-f7b7-8c9e-a19f822f6b1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Habit score weights</c:v>
                </c:pt>
              </c:strCache>
            </c:strRef>
          </c:tx>
          <c:spPr>
            <a:solidFill>
              <a:schemeClr val="accent1"/>
            </a:solidFill>
            <a:ln w="9525" cap="flat">
              <a:solidFill>
                <a:srgbClr val="F9F9F9"/>
              </a:solidFill>
              <a:prstDash val="solid"/>
              <a:round/>
            </a:ln>
            <a:effectLst/>
          </c:spPr>
          <c:dPt>
            <c:idx val="0"/>
            <c:bubble3D val="0"/>
            <c:spPr>
              <a:solidFill>
                <a:srgbClr val="1E1B4B"/>
              </a:solidFill>
              <a:ln w="25400" cap="flat">
                <a:solidFill>
                  <a:srgbClr val="FFFFFF"/>
                </a:solidFill>
                <a:prstDash val="solid"/>
                <a:round/>
              </a:ln>
              <a:effectLst/>
            </c:spPr>
          </c:dPt>
          <c:dPt>
            <c:idx val="1"/>
            <c:bubble3D val="0"/>
            <c:spPr>
              <a:solidFill>
                <a:srgbClr val="6C5CE7"/>
              </a:solidFill>
              <a:ln w="25400" cap="flat">
                <a:solidFill>
                  <a:srgbClr val="FFFFFF"/>
                </a:solidFill>
                <a:prstDash val="solid"/>
                <a:round/>
              </a:ln>
              <a:effectLst/>
            </c:spPr>
          </c:dPt>
          <c:dPt>
            <c:idx val="2"/>
            <c:bubble3D val="0"/>
            <c:spPr>
              <a:solidFill>
                <a:srgbClr val="0F8B8D"/>
              </a:solidFill>
              <a:ln w="25400" cap="flat">
                <a:solidFill>
                  <a:srgbClr val="FFFFFF"/>
                </a:solidFill>
                <a:prstDash val="solid"/>
                <a:round/>
              </a:ln>
              <a:effectLst/>
            </c:spPr>
          </c:dPt>
          <c:dPt>
            <c:idx val="3"/>
            <c:bubble3D val="0"/>
            <c:spPr>
              <a:solidFill>
                <a:srgbClr val="D9480F"/>
              </a:solidFill>
              <a:ln w="25400" cap="flat">
                <a:solidFill>
                  <a:srgbClr val="FFFFFF"/>
                </a:solidFill>
                <a:prstDash val="solid"/>
                <a:round/>
              </a:ln>
              <a:effectLst/>
            </c:spPr>
          </c:dPt>
          <c:dLbls>
            <c:dLbl>
              <c:idx val="0"/>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3"/>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Wake-up consistency</c:v>
                </c:pt>
                <c:pt idx="1">
                  <c:v>Challenge completion</c:v>
                </c:pt>
                <c:pt idx="2">
                  <c:v>Snooze reduction</c:v>
                </c:pt>
                <c:pt idx="3">
                  <c:v>Sleep adherence</c:v>
                </c:pt>
              </c:strCache>
            </c:strRef>
          </c:cat>
          <c:val>
            <c:numRef>
              <c:f>Sheet1!$B$2:$B$5</c:f>
              <c:numCache>
                <c:ptCount val="4"/>
                <c:pt idx="0">
                  <c:v>35</c:v>
                </c:pt>
                <c:pt idx="1">
                  <c:v>25</c:v>
                </c:pt>
                <c:pt idx="2">
                  <c:v>20</c:v>
                </c:pt>
                <c:pt idx="3">
                  <c:v>20</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I'm presenting the Intelligent Cognitive Alarm Platform. Many people wake up to an alarm, snooze it repeatedly, or turn it off without becoming fully alert. This platform makes waking up more engaging by asking the user to solve a short cognitive challenge before completing a smart alarm, and it records activity so users can review their habits and receive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alarms mainly make a sound at a chosen time. They don't check whether a person is alert, and snoozing can become a repeated habit. This project combines alarm scheduling with a small mental task - a math problem, memory task, riddle or other challenge - so the user engages instead of dismissing the alarm automatically. The goal is more consistent waking routines through feedback and measurable progress. Note: it supports habit tracking; it does not diagnose sleep conditions or prove productivity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objectives are to let users create and manage alarms and their challenge settings; complete a cognitive challenge as part of the wake-up workflow; track completions, snoozes and challenge performance; review dashboard analytics and recommendations; and use different account roles - user, wellness coach and administrator. In short, the product connects a daily routine - waking up - with a cycle of challenge, measurement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begins when a user registers and signs in, then configures preferences such as wake time, time zone and challenge difficulty. They create an alarm with time, recurrence, challenge type, difficulty and number of questions. When the alarm is triggered, the user answers the generated questions; the system records answers and response times. Once the required challenge session is successful, the user can complete the alarm. The platform then records the completion and produces a performance entry, a recommendation and an in-app notification. Finally the user reviews progress on the dashboard or in analytics and reports, and that history can inform later difficulty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has several connected features: authentication and profiles; alarm management with recurrence and challenge settings; cognitive challenge generation and validation; performance tracking of answers, accuracy, response time, snoozes and completions; dashboards and PDF/Excel reports; notifications and recommendations; and role-based views with extra tools for coaches and administrators.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engine supports seven categories - math, logic, memory, word, pattern, riddle and quiz - and five difficulty levels: beginner, easy, medium, hard and expert. Questions are generated by the application's challenge logic. When a user submits an answer, the backend normalizes and checks it, records whether it was correct, and tracks response time and attempts. Challenge sessions are linked to the relevant alarm and user. For a smart alarm, the backend checks that the challenge session was completed successfully before accepting the completion request, so the challenge is more than a visual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uses recorded performance to personalize challenges. The rules-based difficulty engine considers accuracy, response time and consecutive correct or incorrect answers. It waits until it has enough answered questions, then can maintain, raise or lower the level within the five tiers. The project also defines a weighted habit score: wake-up consistency 35%, challenge completion success 25%, snooze reduction 20% and sleep schedule adherence 20%. A key point: the system should show only what it can measure. Actual nightly sleep duration is not recorded today, so sleep adherence - and any score that depends on it - may be unavailable rather than a made-up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 this project means a set of different mechanisms, not a conversational model. The rules-based adaptive engine adjusts difficulty from user performance. The XGBoost module can estimate wake-up readiness from features such as accuracy, response time, snooze frequency, wake consistency, sleep adherence, streak and difficulty. The Q-learning module represents user context as a state and can recommend actions such as maintaining or changing difficulty or choosing a category. The recommendation and analytics services turn recorded activity into dashboard insights and post-alarm guidance. Important qualification: the XGBoost training script can create a baseline dataset when none is provided, so its existence does not mean the model has been validated on a large real-world dataset, and actual sleep adherence is not currently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interface is a React application built with Vite, using Axios to call the backend and Recharts for visualizations. The backend is FastAPI and exposes REST endpoints for authentication, alarms, challenges, profiles, dashboards, notifications, reports, coaches, administrators and machine-learning functions. SQLAlchemy connects it to a relational database: SQLite is the local default, while Docker Compose uses PostgreSQL and builds separate backend and frontend services. An optional MongoDB telemetry service falls back to a JSONL file store when MongoDB is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user, wellness coach and administrator roles. Public registration creates a normal user account; privileged roles are assigned through administration rather than self-selected. The backend uses JWT bearer tokens to identify signed-in users and scopes personal alarm and challenge data to the authenticated account. Coaches can access assigned clients while administrators have broader platform management functions. Users can review analytics and export reports in PDF or Excel, and in-app notifications are supported. Some integrations, such as actual Firebase push delivery, need separate credentials and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demonstration I'll sign in as a user and open the alarms page, create an alarm, choose its time and challenge settings, and show it in the alarm list. Then I'll trigger the alarm workflow, answer the cognitive questions and complete the session. After that I'll show how the dashboard reflects recorded challenge results, response time, snoozes and completions, and finally open the recommendations or analytics view and the report options. Demo note: the alarm scheduler runs in the browser application, so keep the web app open on the alarms screen with sound enabled. It is not a native Android or iOS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provides a working web-based alarm and challenge workflow, but there are boundaries. Native mobile alarm scheduling is not included. Real nightly sleep duration and adherence are not measured. Readiness predictions should be treated as experimental until validated on representative real-world data. Push notifications and cloud deployment need provider-specific setup. Performance and concurrency goals need dedicated load testing before production-scale claims. Future work includes a native mobile client, verified device-level alarm scheduling, sleep-data integrations, real-world model evaluation and deployment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Intelligent Cognitive Alarm Platform combines alarm management, cognitive challenges, performance tracking, analytics and personalized feedback in one application. Its central idea is to turn waking up from a passive dismissal into a measurable interaction, and it shows how a full-stack application can connect a frontend, secure API, database, analytics and machine-learning modules. Thank you - I'm happy to answer questions.
Likely questions: (1) Is this real AI? It combines a rules-based adaptation engine, analytics, an XGBoost readiness model and a Q-learning module - not a conversational model. (2) Does it work with the browser closed? No - it is a web workflow, not a native alarm. (3) How is the habit score calculated? 35% wake-up consistency, 25% challenge completion, 20% snooze reduction, 20% sleep adherence; no sleep value is invented. (4) Was the readiness model trained on real user data? The repo has a training pipeline and baseline dataset generator; real validation needs representative data. (5) Strongest part? The connected end-to-end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600200"/>
            <a:ext cx="612648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3977640"/>
            <a:ext cx="5943600" cy="8686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737360"/>
            <a:ext cx="6126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1"/>
          <p:cNvSpPr/>
          <p:nvPr>
            <p:ph idx="102" type="body" hasCustomPrompt="1"/>
          </p:nvPr>
        </p:nvSpPr>
        <p:spPr>
          <a:xfrm>
            <a:off x="731520" y="3154680"/>
            <a:ext cx="585216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Intelligent Cognitive Alarm Platform</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4.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4.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600200"/>
            <a:ext cx="6126480" cy="2194560"/>
          </a:xfrm>
          <a:prstGeom prst="rect">
            <a:avLst/>
          </a:prstGeom>
          <a:noFill/>
          <a:ln/>
        </p:spPr>
        <p:txBody>
          <a:bodyPr wrap="square" lIns="0" tIns="0" rIns="0" bIns="0" rtlCol="0" anchor="b"/>
          <a:lstStyle/>
          <a:p>
            <a:pPr algn="l" indent="0" marL="0">
              <a:buNone/>
            </a:pPr>
            <a:r>
              <a:rPr lang="en-US" sz="4400" b="1" dirty="0">
                <a:solidFill>
                  <a:schemeClr val="bg1"/>
                </a:solidFill>
              </a:rPr>
              <a:t>Intelligent Cognitive Alarm Platform</a:t>
            </a:r>
            <a:endParaRPr lang="en-US" sz="4400" dirty="0"/>
          </a:p>
        </p:txBody>
      </p:sp>
      <p:sp>
        <p:nvSpPr>
          <p:cNvPr id="3" name="Text 1"/>
          <p:cNvSpPr/>
          <p:nvPr>
            <p:ph idx="102" type="body" hasCustomPrompt="1"/>
          </p:nvPr>
        </p:nvSpPr>
        <p:spPr>
          <a:xfrm>
            <a:off x="731520" y="3977640"/>
            <a:ext cx="5943600" cy="868680"/>
          </a:xfrm>
          <a:prstGeom prst="rect">
            <a:avLst/>
          </a:prstGeom>
          <a:noFill/>
          <a:ln/>
        </p:spPr>
        <p:txBody>
          <a:bodyPr wrap="square" lIns="0" tIns="0" rIns="0" bIns="0" rtlCol="0" anchor="t"/>
          <a:lstStyle/>
          <a:p>
            <a:pPr algn="l" indent="0" marL="0">
              <a:buNone/>
            </a:pPr>
            <a:r>
              <a:rPr lang="en-US" sz="1800" dirty="0">
                <a:solidFill>
                  <a:schemeClr val="bg2"/>
                </a:solidFill>
              </a:rPr>
              <a:t>Wake up sharper: solve a challenge, build the habit, get feedback</a:t>
            </a:r>
            <a:endParaRPr lang="en-US" sz="1800" dirty="0"/>
          </a:p>
        </p:txBody>
      </p:sp>
      <p:sp>
        <p:nvSpPr>
          <p:cNvPr id="4" name="text-1"/>
          <p:cNvSpPr txBox="1"/>
          <p:nvPr/>
        </p:nvSpPr>
        <p:spPr>
          <a:xfrm>
            <a:off x="731520" y="1097280"/>
            <a:ext cx="5943600" cy="320040"/>
          </a:xfrm>
          <a:prstGeom prst="rect">
            <a:avLst/>
          </a:prstGeom>
          <a:noFill/>
          <a:ln/>
        </p:spPr>
        <p:txBody>
          <a:bodyPr wrap="square" lIns="0" tIns="0" rIns="0" bIns="0" rtlCol="0" anchor="t"/>
          <a:lstStyle/>
          <a:p>
            <a:pPr indent="0" marL="0">
              <a:buNone/>
            </a:pPr>
            <a:r>
              <a:rPr lang="en-US" sz="1400" b="1" spc="300" kern="0" dirty="0">
                <a:solidFill>
                  <a:schemeClr val="accent1"/>
                </a:solidFill>
              </a:rPr>
              <a:t>INFOSYS SPRINGBOARD 7.0 PROJECT</a:t>
            </a:r>
            <a:endParaRPr lang="en-US" sz="1400" dirty="0"/>
          </a:p>
        </p:txBody>
      </p:sp>
      <p:sp>
        <p:nvSpPr>
          <p:cNvPr id="5" name="text-2"/>
          <p:cNvSpPr txBox="1"/>
          <p:nvPr/>
        </p:nvSpPr>
        <p:spPr>
          <a:xfrm>
            <a:off x="731520" y="5486400"/>
            <a:ext cx="5943600" cy="365760"/>
          </a:xfrm>
          <a:prstGeom prst="rect">
            <a:avLst/>
          </a:prstGeom>
          <a:noFill/>
          <a:ln/>
        </p:spPr>
        <p:txBody>
          <a:bodyPr wrap="square" lIns="0" tIns="0" rIns="0" bIns="0" rtlCol="0" anchor="t"/>
          <a:lstStyle/>
          <a:p>
            <a:pPr indent="0" marL="0">
              <a:buNone/>
            </a:pPr>
            <a:r>
              <a:rPr lang="en-US" sz="1800" b="1" dirty="0">
                <a:solidFill>
                  <a:schemeClr val="bg1"/>
                </a:solidFill>
              </a:rPr>
              <a:t>Yada Srilaxmi</a:t>
            </a:r>
            <a:endParaRPr lang="en-US" sz="1800" dirty="0"/>
          </a:p>
        </p:txBody>
      </p:sp>
      <p:sp>
        <p:nvSpPr>
          <p:cNvPr id="6" name="text-3"/>
          <p:cNvSpPr txBox="1"/>
          <p:nvPr/>
        </p:nvSpPr>
        <p:spPr>
          <a:xfrm>
            <a:off x="731520" y="5852160"/>
            <a:ext cx="6217920" cy="320040"/>
          </a:xfrm>
          <a:prstGeom prst="rect">
            <a:avLst/>
          </a:prstGeom>
          <a:noFill/>
          <a:ln/>
        </p:spPr>
        <p:txBody>
          <a:bodyPr wrap="square" lIns="0" tIns="0" rIns="0" bIns="0" rtlCol="0" anchor="t"/>
          <a:lstStyle/>
          <a:p>
            <a:pPr indent="0" marL="0">
              <a:buNone/>
            </a:pPr>
            <a:r>
              <a:rPr lang="en-US" sz="1400" dirty="0">
                <a:solidFill>
                  <a:schemeClr val="bg2"/>
                </a:solidFill>
              </a:rPr>
              <a:t>B.Tech CSE (AI &amp; ML) · Malla Reddy Engineering College for Women</a:t>
            </a:r>
            <a:endParaRPr lang="en-US" sz="1400" dirty="0"/>
          </a:p>
        </p:txBody>
      </p:sp>
      <p:sp>
        <p:nvSpPr>
          <p:cNvPr id="7" name="ring-4"/>
          <p:cNvSpPr/>
          <p:nvPr/>
        </p:nvSpPr>
        <p:spPr>
          <a:xfrm>
            <a:off x="7040880" y="777240"/>
            <a:ext cx="5303520" cy="5303520"/>
          </a:xfrm>
          <a:prstGeom prst="ellipse">
            <a:avLst/>
          </a:prstGeom>
          <a:solidFill>
            <a:schemeClr val="tx2">
              <a:alpha val="0"/>
            </a:schemeClr>
          </a:solidFill>
          <a:ln w="19050">
            <a:solidFill>
              <a:schemeClr val="accent5"/>
            </a:solidFill>
            <a:prstDash val="solid"/>
          </a:ln>
        </p:spPr>
      </p:sp>
      <p:sp>
        <p:nvSpPr>
          <p:cNvPr id="8" name="ring-5"/>
          <p:cNvSpPr/>
          <p:nvPr/>
        </p:nvSpPr>
        <p:spPr>
          <a:xfrm>
            <a:off x="7680960" y="1417320"/>
            <a:ext cx="4023360" cy="4023360"/>
          </a:xfrm>
          <a:prstGeom prst="ellipse">
            <a:avLst/>
          </a:prstGeom>
          <a:solidFill>
            <a:schemeClr val="tx2">
              <a:alpha val="0"/>
            </a:schemeClr>
          </a:solidFill>
          <a:ln w="31750">
            <a:solidFill>
              <a:schemeClr val="accent5"/>
            </a:solidFill>
            <a:prstDash val="solid"/>
          </a:ln>
        </p:spPr>
      </p:sp>
      <p:sp>
        <p:nvSpPr>
          <p:cNvPr id="9" name="ring-6"/>
          <p:cNvSpPr/>
          <p:nvPr/>
        </p:nvSpPr>
        <p:spPr>
          <a:xfrm>
            <a:off x="8366760" y="2103120"/>
            <a:ext cx="2651760" cy="2651760"/>
          </a:xfrm>
          <a:prstGeom prst="ellipse">
            <a:avLst/>
          </a:prstGeom>
          <a:solidFill>
            <a:schemeClr val="tx2">
              <a:alpha val="0"/>
            </a:schemeClr>
          </a:solidFill>
          <a:ln w="25400">
            <a:solidFill>
              <a:schemeClr val="accent1"/>
            </a:solidFill>
            <a:prstDash val="solid"/>
          </a:ln>
        </p:spPr>
      </p:sp>
      <p:sp>
        <p:nvSpPr>
          <p:cNvPr id="10" name="hero-circle-7"/>
          <p:cNvSpPr/>
          <p:nvPr/>
        </p:nvSpPr>
        <p:spPr>
          <a:xfrm>
            <a:off x="8823960" y="2560320"/>
            <a:ext cx="1737360" cy="1737360"/>
          </a:xfrm>
          <a:prstGeom prst="ellipse">
            <a:avLst/>
          </a:prstGeom>
          <a:solidFill>
            <a:schemeClr val="accent1"/>
          </a:solidFill>
          <a:ln/>
        </p:spPr>
      </p:sp>
      <p:pic>
        <p:nvPicPr>
          <p:cNvPr id="11" name="hero-bell-8" descr="Alarm bell icon">    </p:cNvPr>
          <p:cNvPicPr>
            <a:picLocks noChangeAspect="1"/>
          </p:cNvPicPr>
          <p:nvPr/>
        </p:nvPicPr>
        <p:blipFill>
          <a:blip r:embed="rId1"/>
          <a:stretch>
            <a:fillRect/>
          </a:stretch>
        </p:blipFill>
        <p:spPr>
          <a:xfrm>
            <a:off x="9235440" y="2971800"/>
            <a:ext cx="914400" cy="914400"/>
          </a:xfrm>
          <a:prstGeom prst="rect">
            <a:avLst/>
          </a:prstGeom>
        </p:spPr>
      </p:pic>
      <p:sp>
        <p:nvSpPr>
          <p:cNvPr id="12" name="FaBrain-circle-9"/>
          <p:cNvSpPr/>
          <p:nvPr/>
        </p:nvSpPr>
        <p:spPr>
          <a:xfrm>
            <a:off x="8033797" y="1522204"/>
            <a:ext cx="731520" cy="731520"/>
          </a:xfrm>
          <a:prstGeom prst="ellipse">
            <a:avLst/>
          </a:prstGeom>
          <a:solidFill>
            <a:schemeClr val="accent2"/>
          </a:solidFill>
          <a:ln/>
        </p:spPr>
      </p:sp>
      <p:pic>
        <p:nvPicPr>
          <p:cNvPr id="13" name="FaBrain-glyph-10" descr="Brain icon">    </p:cNvPr>
          <p:cNvPicPr>
            <a:picLocks noChangeAspect="1"/>
          </p:cNvPicPr>
          <p:nvPr/>
        </p:nvPicPr>
        <p:blipFill>
          <a:blip r:embed="rId2"/>
          <a:stretch>
            <a:fillRect/>
          </a:stretch>
        </p:blipFill>
        <p:spPr>
          <a:xfrm>
            <a:off x="8209362" y="1697769"/>
            <a:ext cx="380390" cy="380390"/>
          </a:xfrm>
          <a:prstGeom prst="rect">
            <a:avLst/>
          </a:prstGeom>
        </p:spPr>
      </p:pic>
      <p:sp>
        <p:nvSpPr>
          <p:cNvPr id="14" name="FaChartLine-circle-11"/>
          <p:cNvSpPr/>
          <p:nvPr/>
        </p:nvSpPr>
        <p:spPr>
          <a:xfrm>
            <a:off x="11150081" y="3913413"/>
            <a:ext cx="731520" cy="731520"/>
          </a:xfrm>
          <a:prstGeom prst="ellipse">
            <a:avLst/>
          </a:prstGeom>
          <a:solidFill>
            <a:schemeClr val="accent3"/>
          </a:solidFill>
          <a:ln/>
        </p:spPr>
      </p:sp>
      <p:pic>
        <p:nvPicPr>
          <p:cNvPr id="15" name="FaChartLine-glyph-12" descr="ChartLine icon">    </p:cNvPr>
          <p:cNvPicPr>
            <a:picLocks noChangeAspect="1"/>
          </p:cNvPicPr>
          <p:nvPr/>
        </p:nvPicPr>
        <p:blipFill>
          <a:blip r:embed="rId3"/>
          <a:stretch>
            <a:fillRect/>
          </a:stretch>
        </p:blipFill>
        <p:spPr>
          <a:xfrm>
            <a:off x="11325646" y="4088978"/>
            <a:ext cx="380390" cy="380390"/>
          </a:xfrm>
          <a:prstGeom prst="rect">
            <a:avLst/>
          </a:prstGeom>
        </p:spPr>
      </p:pic>
      <p:sp>
        <p:nvSpPr>
          <p:cNvPr id="16" name="FaClock-circle-13"/>
          <p:cNvSpPr/>
          <p:nvPr/>
        </p:nvSpPr>
        <p:spPr>
          <a:xfrm>
            <a:off x="8173028" y="4711112"/>
            <a:ext cx="731520" cy="731520"/>
          </a:xfrm>
          <a:prstGeom prst="ellipse">
            <a:avLst/>
          </a:prstGeom>
          <a:solidFill>
            <a:schemeClr val="accent4"/>
          </a:solidFill>
          <a:ln/>
        </p:spPr>
      </p:sp>
      <p:pic>
        <p:nvPicPr>
          <p:cNvPr id="17" name="FaClock-glyph-14" descr="Clock icon">    </p:cNvPr>
          <p:cNvPicPr>
            <a:picLocks noChangeAspect="1"/>
          </p:cNvPicPr>
          <p:nvPr/>
        </p:nvPicPr>
        <p:blipFill>
          <a:blip r:embed="rId4"/>
          <a:stretch>
            <a:fillRect/>
          </a:stretch>
        </p:blipFill>
        <p:spPr>
          <a:xfrm>
            <a:off x="8348593" y="4886677"/>
            <a:ext cx="380390" cy="380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Why waking up needs a smarter alarm</a:t>
            </a:r>
            <a:endParaRPr lang="en-US" sz="3600" dirty="0"/>
          </a:p>
        </p:txBody>
      </p:sp>
      <p:sp>
        <p:nvSpPr>
          <p:cNvPr id="4" name="Alarms only make noise-circle-15"/>
          <p:cNvSpPr/>
          <p:nvPr/>
        </p:nvSpPr>
        <p:spPr>
          <a:xfrm>
            <a:off x="548640" y="1600200"/>
            <a:ext cx="731520" cy="731520"/>
          </a:xfrm>
          <a:prstGeom prst="ellipse">
            <a:avLst/>
          </a:prstGeom>
          <a:solidFill>
            <a:schemeClr val="accent4"/>
          </a:solidFill>
          <a:ln/>
        </p:spPr>
      </p:sp>
      <p:pic>
        <p:nvPicPr>
          <p:cNvPr id="5" name="Alarms only make noise-glyph-16" descr="Alarms only make noise icon">    </p:cNvPr>
          <p:cNvPicPr>
            <a:picLocks noChangeAspect="1"/>
          </p:cNvPicPr>
          <p:nvPr/>
        </p:nvPicPr>
        <p:blipFill>
          <a:blip r:embed="rId1"/>
          <a:stretch>
            <a:fillRect/>
          </a:stretch>
        </p:blipFill>
        <p:spPr>
          <a:xfrm>
            <a:off x="724205" y="1775765"/>
            <a:ext cx="380390" cy="380390"/>
          </a:xfrm>
          <a:prstGeom prst="rect">
            <a:avLst/>
          </a:prstGeom>
        </p:spPr>
      </p:pic>
      <p:sp>
        <p:nvSpPr>
          <p:cNvPr id="6" name="text-17"/>
          <p:cNvSpPr txBox="1"/>
          <p:nvPr/>
        </p:nvSpPr>
        <p:spPr>
          <a:xfrm>
            <a:off x="1554480" y="1554480"/>
            <a:ext cx="4663440" cy="1005840"/>
          </a:xfrm>
          <a:prstGeom prst="rect">
            <a:avLst/>
          </a:prstGeom>
          <a:noFill/>
          <a:ln/>
        </p:spPr>
        <p:txBody>
          <a:bodyPr wrap="square" lIns="0" tIns="0" rIns="0" bIns="0" rtlCol="0" anchor="ctr"/>
          <a:lstStyle/>
          <a:p>
            <a:pPr indent="0" marL="0">
              <a:buNone/>
            </a:pPr>
            <a:r>
              <a:rPr lang="en-US" sz="1800" b="1" dirty="0">
                <a:solidFill>
                  <a:schemeClr val="tx2"/>
                </a:solidFill>
              </a:rPr>
              <a:t>Alarms only make noise</a:t>
            </a:r>
            <a:endParaRPr lang="en-US" sz="1400" dirty="0"/>
          </a:p>
          <a:p>
            <a:pPr indent="0" marL="0">
              <a:buNone/>
            </a:pPr>
            <a:r>
              <a:rPr lang="en-US" sz="1400" dirty="0">
                <a:solidFill>
                  <a:schemeClr val="tx1"/>
                </a:solidFill>
              </a:rPr>
              <a:t>They ring at a chosen time but never check whether you are actually alert.</a:t>
            </a:r>
            <a:endParaRPr lang="en-US" sz="1400" dirty="0"/>
          </a:p>
        </p:txBody>
      </p:sp>
      <p:sp>
        <p:nvSpPr>
          <p:cNvPr id="7" name="Snoozing becomes a habit-circle-18"/>
          <p:cNvSpPr/>
          <p:nvPr/>
        </p:nvSpPr>
        <p:spPr>
          <a:xfrm>
            <a:off x="548640" y="2971800"/>
            <a:ext cx="731520" cy="731520"/>
          </a:xfrm>
          <a:prstGeom prst="ellipse">
            <a:avLst/>
          </a:prstGeom>
          <a:solidFill>
            <a:schemeClr val="accent4"/>
          </a:solidFill>
          <a:ln/>
        </p:spPr>
      </p:sp>
      <p:pic>
        <p:nvPicPr>
          <p:cNvPr id="8" name="Snoozing becomes a habit-glyph-19" descr="Snoozing becomes a habit icon">    </p:cNvPr>
          <p:cNvPicPr>
            <a:picLocks noChangeAspect="1"/>
          </p:cNvPicPr>
          <p:nvPr/>
        </p:nvPicPr>
        <p:blipFill>
          <a:blip r:embed="rId2"/>
          <a:stretch>
            <a:fillRect/>
          </a:stretch>
        </p:blipFill>
        <p:spPr>
          <a:xfrm>
            <a:off x="724205" y="3147365"/>
            <a:ext cx="380390" cy="380390"/>
          </a:xfrm>
          <a:prstGeom prst="rect">
            <a:avLst/>
          </a:prstGeom>
        </p:spPr>
      </p:pic>
      <p:sp>
        <p:nvSpPr>
          <p:cNvPr id="9" name="text-20"/>
          <p:cNvSpPr txBox="1"/>
          <p:nvPr/>
        </p:nvSpPr>
        <p:spPr>
          <a:xfrm>
            <a:off x="1554480" y="2926080"/>
            <a:ext cx="4663440" cy="1005840"/>
          </a:xfrm>
          <a:prstGeom prst="rect">
            <a:avLst/>
          </a:prstGeom>
          <a:noFill/>
          <a:ln/>
        </p:spPr>
        <p:txBody>
          <a:bodyPr wrap="square" lIns="0" tIns="0" rIns="0" bIns="0" rtlCol="0" anchor="ctr"/>
          <a:lstStyle/>
          <a:p>
            <a:pPr indent="0" marL="0">
              <a:buNone/>
            </a:pPr>
            <a:r>
              <a:rPr lang="en-US" sz="1800" b="1" dirty="0">
                <a:solidFill>
                  <a:schemeClr val="tx2"/>
                </a:solidFill>
              </a:rPr>
              <a:t>Snoozing becomes a habit</a:t>
            </a:r>
            <a:endParaRPr lang="en-US" sz="1400" dirty="0"/>
          </a:p>
          <a:p>
            <a:pPr indent="0" marL="0">
              <a:buNone/>
            </a:pPr>
            <a:r>
              <a:rPr lang="en-US" sz="1400" dirty="0">
                <a:solidFill>
                  <a:schemeClr val="tx1"/>
                </a:solidFill>
              </a:rPr>
              <a:t>Repeated snoozes, or an automatic dismiss, leave you not fully awake.</a:t>
            </a:r>
            <a:endParaRPr lang="en-US" sz="1400" dirty="0"/>
          </a:p>
        </p:txBody>
      </p:sp>
      <p:sp>
        <p:nvSpPr>
          <p:cNvPr id="10" name="No feedback loop-circle-21"/>
          <p:cNvSpPr/>
          <p:nvPr/>
        </p:nvSpPr>
        <p:spPr>
          <a:xfrm>
            <a:off x="548640" y="4343400"/>
            <a:ext cx="731520" cy="731520"/>
          </a:xfrm>
          <a:prstGeom prst="ellipse">
            <a:avLst/>
          </a:prstGeom>
          <a:solidFill>
            <a:schemeClr val="accent4"/>
          </a:solidFill>
          <a:ln/>
        </p:spPr>
      </p:sp>
      <p:pic>
        <p:nvPicPr>
          <p:cNvPr id="11" name="No feedback loop-glyph-22" descr="No feedback loop icon">    </p:cNvPr>
          <p:cNvPicPr>
            <a:picLocks noChangeAspect="1"/>
          </p:cNvPicPr>
          <p:nvPr/>
        </p:nvPicPr>
        <p:blipFill>
          <a:blip r:embed="rId3"/>
          <a:stretch>
            <a:fillRect/>
          </a:stretch>
        </p:blipFill>
        <p:spPr>
          <a:xfrm>
            <a:off x="724205" y="4518965"/>
            <a:ext cx="380390" cy="380390"/>
          </a:xfrm>
          <a:prstGeom prst="rect">
            <a:avLst/>
          </a:prstGeom>
        </p:spPr>
      </p:pic>
      <p:sp>
        <p:nvSpPr>
          <p:cNvPr id="12" name="text-23"/>
          <p:cNvSpPr txBox="1"/>
          <p:nvPr/>
        </p:nvSpPr>
        <p:spPr>
          <a:xfrm>
            <a:off x="1554480" y="4297680"/>
            <a:ext cx="4663440" cy="1005840"/>
          </a:xfrm>
          <a:prstGeom prst="rect">
            <a:avLst/>
          </a:prstGeom>
          <a:noFill/>
          <a:ln/>
        </p:spPr>
        <p:txBody>
          <a:bodyPr wrap="square" lIns="0" tIns="0" rIns="0" bIns="0" rtlCol="0" anchor="ctr"/>
          <a:lstStyle/>
          <a:p>
            <a:pPr indent="0" marL="0">
              <a:buNone/>
            </a:pPr>
            <a:r>
              <a:rPr lang="en-US" sz="1800" b="1" dirty="0">
                <a:solidFill>
                  <a:schemeClr val="tx2"/>
                </a:solidFill>
              </a:rPr>
              <a:t>No feedback loop</a:t>
            </a:r>
            <a:endParaRPr lang="en-US" sz="1400" dirty="0"/>
          </a:p>
          <a:p>
            <a:pPr indent="0" marL="0">
              <a:buNone/>
            </a:pPr>
            <a:r>
              <a:rPr lang="en-US" sz="1400" dirty="0">
                <a:solidFill>
                  <a:schemeClr val="tx1"/>
                </a:solidFill>
              </a:rPr>
              <a:t>Little measurable insight into waking habits or progress over time.</a:t>
            </a:r>
            <a:endParaRPr lang="en-US" sz="1400" dirty="0"/>
          </a:p>
        </p:txBody>
      </p:sp>
      <p:sp>
        <p:nvSpPr>
          <p:cNvPr id="13" name="approach-panel-24"/>
          <p:cNvSpPr/>
          <p:nvPr/>
        </p:nvSpPr>
        <p:spPr>
          <a:xfrm>
            <a:off x="6766560" y="1508760"/>
            <a:ext cx="4873752" cy="4343400"/>
          </a:xfrm>
          <a:prstGeom prst="roundRect">
            <a:avLst>
              <a:gd name="adj" fmla="val 2526"/>
            </a:avLst>
          </a:prstGeom>
          <a:solidFill>
            <a:schemeClr val="tx2"/>
          </a:solidFill>
          <a:ln/>
        </p:spPr>
      </p:sp>
      <p:sp>
        <p:nvSpPr>
          <p:cNvPr id="14" name="text-25"/>
          <p:cNvSpPr txBox="1"/>
          <p:nvPr/>
        </p:nvSpPr>
        <p:spPr>
          <a:xfrm>
            <a:off x="7178040" y="1783080"/>
            <a:ext cx="4114800" cy="411480"/>
          </a:xfrm>
          <a:prstGeom prst="rect">
            <a:avLst/>
          </a:prstGeom>
          <a:noFill/>
          <a:ln/>
        </p:spPr>
        <p:txBody>
          <a:bodyPr wrap="square" lIns="0" tIns="0" rIns="0" bIns="0" rtlCol="0" anchor="t"/>
          <a:lstStyle/>
          <a:p>
            <a:pPr indent="0" marL="0">
              <a:buNone/>
            </a:pPr>
            <a:r>
              <a:rPr lang="en-US" sz="2000" b="1" dirty="0">
                <a:solidFill>
                  <a:schemeClr val="accent1"/>
                </a:solidFill>
              </a:rPr>
              <a:t>Our approach</a:t>
            </a:r>
            <a:endParaRPr lang="en-US" sz="2000" dirty="0"/>
          </a:p>
        </p:txBody>
      </p:sp>
      <p:sp>
        <p:nvSpPr>
          <p:cNvPr id="15" name="step-number-26"/>
          <p:cNvSpPr txBox="1"/>
          <p:nvPr/>
        </p:nvSpPr>
        <p:spPr>
          <a:xfrm>
            <a:off x="7178040" y="251460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16" name="text-27"/>
          <p:cNvSpPr txBox="1"/>
          <p:nvPr/>
        </p:nvSpPr>
        <p:spPr>
          <a:xfrm>
            <a:off x="7955280" y="2468880"/>
            <a:ext cx="3383280" cy="914400"/>
          </a:xfrm>
          <a:prstGeom prst="rect">
            <a:avLst/>
          </a:prstGeom>
          <a:noFill/>
          <a:ln/>
        </p:spPr>
        <p:txBody>
          <a:bodyPr wrap="square" lIns="0" tIns="0" rIns="0" bIns="0" rtlCol="0" anchor="ctr"/>
          <a:lstStyle/>
          <a:p>
            <a:pPr indent="0" marL="0">
              <a:buNone/>
            </a:pPr>
            <a:r>
              <a:rPr lang="en-US" sz="1600" b="1" dirty="0">
                <a:solidFill>
                  <a:schemeClr val="bg1"/>
                </a:solidFill>
              </a:rPr>
              <a:t>Schedule a smart alarm</a:t>
            </a:r>
            <a:endParaRPr lang="en-US" sz="1400" dirty="0"/>
          </a:p>
          <a:p>
            <a:pPr indent="0" marL="0">
              <a:buNone/>
            </a:pPr>
            <a:r>
              <a:rPr lang="en-US" sz="1400" dirty="0">
                <a:solidFill>
                  <a:schemeClr val="bg2"/>
                </a:solidFill>
              </a:rPr>
              <a:t>Time, recurrence and challenge settings</a:t>
            </a:r>
            <a:endParaRPr lang="en-US" sz="1400" dirty="0"/>
          </a:p>
        </p:txBody>
      </p:sp>
      <p:sp>
        <p:nvSpPr>
          <p:cNvPr id="17" name="step-number-28"/>
          <p:cNvSpPr txBox="1"/>
          <p:nvPr/>
        </p:nvSpPr>
        <p:spPr>
          <a:xfrm>
            <a:off x="7178040" y="361188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8" name="text-29"/>
          <p:cNvSpPr txBox="1"/>
          <p:nvPr/>
        </p:nvSpPr>
        <p:spPr>
          <a:xfrm>
            <a:off x="7955280" y="3566160"/>
            <a:ext cx="3383280" cy="914400"/>
          </a:xfrm>
          <a:prstGeom prst="rect">
            <a:avLst/>
          </a:prstGeom>
          <a:noFill/>
          <a:ln/>
        </p:spPr>
        <p:txBody>
          <a:bodyPr wrap="square" lIns="0" tIns="0" rIns="0" bIns="0" rtlCol="0" anchor="ctr"/>
          <a:lstStyle/>
          <a:p>
            <a:pPr indent="0" marL="0">
              <a:buNone/>
            </a:pPr>
            <a:r>
              <a:rPr lang="en-US" sz="1600" b="1" dirty="0">
                <a:solidFill>
                  <a:schemeClr val="bg1"/>
                </a:solidFill>
              </a:rPr>
              <a:t>Solve a cognitive challenge</a:t>
            </a:r>
            <a:endParaRPr lang="en-US" sz="1400" dirty="0"/>
          </a:p>
          <a:p>
            <a:pPr indent="0" marL="0">
              <a:buNone/>
            </a:pPr>
            <a:r>
              <a:rPr lang="en-US" sz="1400" dirty="0">
                <a:solidFill>
                  <a:schemeClr val="bg2"/>
                </a:solidFill>
              </a:rPr>
              <a:t>Math, memory, riddles and more before you can finish</a:t>
            </a:r>
            <a:endParaRPr lang="en-US" sz="1400" dirty="0"/>
          </a:p>
        </p:txBody>
      </p:sp>
      <p:sp>
        <p:nvSpPr>
          <p:cNvPr id="19" name="step-number-30"/>
          <p:cNvSpPr txBox="1"/>
          <p:nvPr/>
        </p:nvSpPr>
        <p:spPr>
          <a:xfrm>
            <a:off x="7178040" y="47091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0" name="text-31"/>
          <p:cNvSpPr txBox="1"/>
          <p:nvPr/>
        </p:nvSpPr>
        <p:spPr>
          <a:xfrm>
            <a:off x="7955280" y="4663440"/>
            <a:ext cx="3383280" cy="914400"/>
          </a:xfrm>
          <a:prstGeom prst="rect">
            <a:avLst/>
          </a:prstGeom>
          <a:noFill/>
          <a:ln/>
        </p:spPr>
        <p:txBody>
          <a:bodyPr wrap="square" lIns="0" tIns="0" rIns="0" bIns="0" rtlCol="0" anchor="ctr"/>
          <a:lstStyle/>
          <a:p>
            <a:pPr indent="0" marL="0">
              <a:buNone/>
            </a:pPr>
            <a:r>
              <a:rPr lang="en-US" sz="1600" b="1" dirty="0">
                <a:solidFill>
                  <a:schemeClr val="bg1"/>
                </a:solidFill>
              </a:rPr>
              <a:t>Measure and improve</a:t>
            </a:r>
            <a:endParaRPr lang="en-US" sz="1400" dirty="0"/>
          </a:p>
          <a:p>
            <a:pPr indent="0" marL="0">
              <a:buNone/>
            </a:pPr>
            <a:r>
              <a:rPr lang="en-US" sz="1400" dirty="0">
                <a:solidFill>
                  <a:schemeClr val="bg2"/>
                </a:solidFill>
              </a:rPr>
              <a:t>Track completions, snoozes and accuracy; get recommendations</a:t>
            </a:r>
            <a:endParaRPr lang="en-US" sz="1400" dirty="0"/>
          </a:p>
        </p:txBody>
      </p:sp>
      <p:sp>
        <p:nvSpPr>
          <p:cNvPr id="21" name="text-32"/>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Supports habit tracking only: it does not diagnose sleep conditions or claim to improve productivity.</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Project objectives</a:t>
            </a:r>
            <a:endParaRPr lang="en-US" sz="3600" dirty="0"/>
          </a:p>
        </p:txBody>
      </p:sp>
      <p:sp>
        <p:nvSpPr>
          <p:cNvPr id="4" name="Create and manage alarms-circle-33"/>
          <p:cNvSpPr/>
          <p:nvPr/>
        </p:nvSpPr>
        <p:spPr>
          <a:xfrm>
            <a:off x="548640" y="1600200"/>
            <a:ext cx="621792" cy="621792"/>
          </a:xfrm>
          <a:prstGeom prst="ellipse">
            <a:avLst/>
          </a:prstGeom>
          <a:solidFill>
            <a:schemeClr val="accent2"/>
          </a:solidFill>
          <a:ln/>
        </p:spPr>
      </p:sp>
      <p:pic>
        <p:nvPicPr>
          <p:cNvPr id="5" name="Create and manage alarms-glyph-34" descr="Create and manage alarms icon">    </p:cNvPr>
          <p:cNvPicPr>
            <a:picLocks noChangeAspect="1"/>
          </p:cNvPicPr>
          <p:nvPr/>
        </p:nvPicPr>
        <p:blipFill>
          <a:blip r:embed="rId1"/>
          <a:stretch>
            <a:fillRect/>
          </a:stretch>
        </p:blipFill>
        <p:spPr>
          <a:xfrm>
            <a:off x="697870" y="1749430"/>
            <a:ext cx="323332" cy="323332"/>
          </a:xfrm>
          <a:prstGeom prst="rect">
            <a:avLst/>
          </a:prstGeom>
        </p:spPr>
      </p:pic>
      <p:sp>
        <p:nvSpPr>
          <p:cNvPr id="6" name="text-35"/>
          <p:cNvSpPr txBox="1"/>
          <p:nvPr/>
        </p:nvSpPr>
        <p:spPr>
          <a:xfrm>
            <a:off x="1417320" y="1508760"/>
            <a:ext cx="6309360" cy="804672"/>
          </a:xfrm>
          <a:prstGeom prst="rect">
            <a:avLst/>
          </a:prstGeom>
          <a:noFill/>
          <a:ln/>
        </p:spPr>
        <p:txBody>
          <a:bodyPr wrap="square" lIns="0" tIns="0" rIns="0" bIns="0" rtlCol="0" anchor="ctr"/>
          <a:lstStyle/>
          <a:p>
            <a:pPr indent="0" marL="0">
              <a:buNone/>
            </a:pPr>
            <a:r>
              <a:rPr lang="en-US" sz="1800" b="1" dirty="0">
                <a:solidFill>
                  <a:schemeClr val="tx2"/>
                </a:solidFill>
              </a:rPr>
              <a:t>Create and manage alarms</a:t>
            </a:r>
            <a:endParaRPr lang="en-US" sz="1400" dirty="0"/>
          </a:p>
          <a:p>
            <a:pPr indent="0" marL="0">
              <a:buNone/>
            </a:pPr>
            <a:r>
              <a:rPr lang="en-US" sz="1400" dirty="0">
                <a:solidFill>
                  <a:schemeClr val="tx1"/>
                </a:solidFill>
              </a:rPr>
              <a:t>Set alarms with recurrence and challenge settings</a:t>
            </a:r>
            <a:endParaRPr lang="en-US" sz="1400" dirty="0"/>
          </a:p>
        </p:txBody>
      </p:sp>
      <p:sp>
        <p:nvSpPr>
          <p:cNvPr id="7" name="Solve a wake-up challenge-circle-36"/>
          <p:cNvSpPr/>
          <p:nvPr/>
        </p:nvSpPr>
        <p:spPr>
          <a:xfrm>
            <a:off x="548640" y="2505456"/>
            <a:ext cx="621792" cy="621792"/>
          </a:xfrm>
          <a:prstGeom prst="ellipse">
            <a:avLst/>
          </a:prstGeom>
          <a:solidFill>
            <a:schemeClr val="accent2"/>
          </a:solidFill>
          <a:ln/>
        </p:spPr>
      </p:sp>
      <p:pic>
        <p:nvPicPr>
          <p:cNvPr id="8" name="Solve a wake-up challenge-glyph-37" descr="Solve a wake-up challenge icon">    </p:cNvPr>
          <p:cNvPicPr>
            <a:picLocks noChangeAspect="1"/>
          </p:cNvPicPr>
          <p:nvPr/>
        </p:nvPicPr>
        <p:blipFill>
          <a:blip r:embed="rId2"/>
          <a:stretch>
            <a:fillRect/>
          </a:stretch>
        </p:blipFill>
        <p:spPr>
          <a:xfrm>
            <a:off x="697870" y="2654686"/>
            <a:ext cx="323332" cy="323332"/>
          </a:xfrm>
          <a:prstGeom prst="rect">
            <a:avLst/>
          </a:prstGeom>
        </p:spPr>
      </p:pic>
      <p:sp>
        <p:nvSpPr>
          <p:cNvPr id="9" name="text-38"/>
          <p:cNvSpPr txBox="1"/>
          <p:nvPr/>
        </p:nvSpPr>
        <p:spPr>
          <a:xfrm>
            <a:off x="1417320" y="2414016"/>
            <a:ext cx="6309360" cy="804672"/>
          </a:xfrm>
          <a:prstGeom prst="rect">
            <a:avLst/>
          </a:prstGeom>
          <a:noFill/>
          <a:ln/>
        </p:spPr>
        <p:txBody>
          <a:bodyPr wrap="square" lIns="0" tIns="0" rIns="0" bIns="0" rtlCol="0" anchor="ctr"/>
          <a:lstStyle/>
          <a:p>
            <a:pPr indent="0" marL="0">
              <a:buNone/>
            </a:pPr>
            <a:r>
              <a:rPr lang="en-US" sz="1800" b="1" dirty="0">
                <a:solidFill>
                  <a:schemeClr val="tx2"/>
                </a:solidFill>
              </a:rPr>
              <a:t>Solve a wake-up challenge</a:t>
            </a:r>
            <a:endParaRPr lang="en-US" sz="1400" dirty="0"/>
          </a:p>
          <a:p>
            <a:pPr indent="0" marL="0">
              <a:buNone/>
            </a:pPr>
            <a:r>
              <a:rPr lang="en-US" sz="1400" dirty="0">
                <a:solidFill>
                  <a:schemeClr val="tx1"/>
                </a:solidFill>
              </a:rPr>
              <a:t>Complete a cognitive task inside the alarm workflow</a:t>
            </a:r>
            <a:endParaRPr lang="en-US" sz="1400" dirty="0"/>
          </a:p>
        </p:txBody>
      </p:sp>
      <p:sp>
        <p:nvSpPr>
          <p:cNvPr id="10" name="Track performance-circle-39"/>
          <p:cNvSpPr/>
          <p:nvPr/>
        </p:nvSpPr>
        <p:spPr>
          <a:xfrm>
            <a:off x="548640" y="3410712"/>
            <a:ext cx="621792" cy="621792"/>
          </a:xfrm>
          <a:prstGeom prst="ellipse">
            <a:avLst/>
          </a:prstGeom>
          <a:solidFill>
            <a:schemeClr val="accent2"/>
          </a:solidFill>
          <a:ln/>
        </p:spPr>
      </p:sp>
      <p:pic>
        <p:nvPicPr>
          <p:cNvPr id="11" name="Track performance-glyph-40" descr="Track performance icon">    </p:cNvPr>
          <p:cNvPicPr>
            <a:picLocks noChangeAspect="1"/>
          </p:cNvPicPr>
          <p:nvPr/>
        </p:nvPicPr>
        <p:blipFill>
          <a:blip r:embed="rId3"/>
          <a:stretch>
            <a:fillRect/>
          </a:stretch>
        </p:blipFill>
        <p:spPr>
          <a:xfrm>
            <a:off x="697870" y="3559942"/>
            <a:ext cx="323332" cy="323332"/>
          </a:xfrm>
          <a:prstGeom prst="rect">
            <a:avLst/>
          </a:prstGeom>
        </p:spPr>
      </p:pic>
      <p:sp>
        <p:nvSpPr>
          <p:cNvPr id="12" name="text-41"/>
          <p:cNvSpPr txBox="1"/>
          <p:nvPr/>
        </p:nvSpPr>
        <p:spPr>
          <a:xfrm>
            <a:off x="1417320" y="3319272"/>
            <a:ext cx="6309360" cy="804672"/>
          </a:xfrm>
          <a:prstGeom prst="rect">
            <a:avLst/>
          </a:prstGeom>
          <a:noFill/>
          <a:ln/>
        </p:spPr>
        <p:txBody>
          <a:bodyPr wrap="square" lIns="0" tIns="0" rIns="0" bIns="0" rtlCol="0" anchor="ctr"/>
          <a:lstStyle/>
          <a:p>
            <a:pPr indent="0" marL="0">
              <a:buNone/>
            </a:pPr>
            <a:r>
              <a:rPr lang="en-US" sz="1800" b="1" dirty="0">
                <a:solidFill>
                  <a:schemeClr val="tx2"/>
                </a:solidFill>
              </a:rPr>
              <a:t>Track performance</a:t>
            </a:r>
            <a:endParaRPr lang="en-US" sz="1400" dirty="0"/>
          </a:p>
          <a:p>
            <a:pPr indent="0" marL="0">
              <a:buNone/>
            </a:pPr>
            <a:r>
              <a:rPr lang="en-US" sz="1400" dirty="0">
                <a:solidFill>
                  <a:schemeClr val="tx1"/>
                </a:solidFill>
              </a:rPr>
              <a:t>Alarm completions, snoozes and challenge results</a:t>
            </a:r>
            <a:endParaRPr lang="en-US" sz="1400" dirty="0"/>
          </a:p>
        </p:txBody>
      </p:sp>
      <p:sp>
        <p:nvSpPr>
          <p:cNvPr id="13" name="Review insights-circle-42"/>
          <p:cNvSpPr/>
          <p:nvPr/>
        </p:nvSpPr>
        <p:spPr>
          <a:xfrm>
            <a:off x="548640" y="4315968"/>
            <a:ext cx="621792" cy="621792"/>
          </a:xfrm>
          <a:prstGeom prst="ellipse">
            <a:avLst/>
          </a:prstGeom>
          <a:solidFill>
            <a:schemeClr val="accent2"/>
          </a:solidFill>
          <a:ln/>
        </p:spPr>
      </p:sp>
      <p:pic>
        <p:nvPicPr>
          <p:cNvPr id="14" name="Review insights-glyph-43" descr="Review insights icon">    </p:cNvPr>
          <p:cNvPicPr>
            <a:picLocks noChangeAspect="1"/>
          </p:cNvPicPr>
          <p:nvPr/>
        </p:nvPicPr>
        <p:blipFill>
          <a:blip r:embed="rId4"/>
          <a:stretch>
            <a:fillRect/>
          </a:stretch>
        </p:blipFill>
        <p:spPr>
          <a:xfrm>
            <a:off x="697870" y="4465198"/>
            <a:ext cx="323332" cy="323332"/>
          </a:xfrm>
          <a:prstGeom prst="rect">
            <a:avLst/>
          </a:prstGeom>
        </p:spPr>
      </p:pic>
      <p:sp>
        <p:nvSpPr>
          <p:cNvPr id="15" name="text-44"/>
          <p:cNvSpPr txBox="1"/>
          <p:nvPr/>
        </p:nvSpPr>
        <p:spPr>
          <a:xfrm>
            <a:off x="1417320" y="4224528"/>
            <a:ext cx="6309360" cy="804672"/>
          </a:xfrm>
          <a:prstGeom prst="rect">
            <a:avLst/>
          </a:prstGeom>
          <a:noFill/>
          <a:ln/>
        </p:spPr>
        <p:txBody>
          <a:bodyPr wrap="square" lIns="0" tIns="0" rIns="0" bIns="0" rtlCol="0" anchor="ctr"/>
          <a:lstStyle/>
          <a:p>
            <a:pPr indent="0" marL="0">
              <a:buNone/>
            </a:pPr>
            <a:r>
              <a:rPr lang="en-US" sz="1800" b="1" dirty="0">
                <a:solidFill>
                  <a:schemeClr val="tx2"/>
                </a:solidFill>
              </a:rPr>
              <a:t>Review insights</a:t>
            </a:r>
            <a:endParaRPr lang="en-US" sz="1400" dirty="0"/>
          </a:p>
          <a:p>
            <a:pPr indent="0" marL="0">
              <a:buNone/>
            </a:pPr>
            <a:r>
              <a:rPr lang="en-US" sz="1400" dirty="0">
                <a:solidFill>
                  <a:schemeClr val="tx1"/>
                </a:solidFill>
              </a:rPr>
              <a:t>Dashboard analytics and personalized recommendations</a:t>
            </a:r>
            <a:endParaRPr lang="en-US" sz="1400" dirty="0"/>
          </a:p>
        </p:txBody>
      </p:sp>
      <p:sp>
        <p:nvSpPr>
          <p:cNvPr id="16" name="Support multiple roles-circle-45"/>
          <p:cNvSpPr/>
          <p:nvPr/>
        </p:nvSpPr>
        <p:spPr>
          <a:xfrm>
            <a:off x="548640" y="5221224"/>
            <a:ext cx="621792" cy="621792"/>
          </a:xfrm>
          <a:prstGeom prst="ellipse">
            <a:avLst/>
          </a:prstGeom>
          <a:solidFill>
            <a:schemeClr val="accent2"/>
          </a:solidFill>
          <a:ln/>
        </p:spPr>
      </p:sp>
      <p:pic>
        <p:nvPicPr>
          <p:cNvPr id="17" name="Support multiple roles-glyph-46" descr="Support multiple roles icon">    </p:cNvPr>
          <p:cNvPicPr>
            <a:picLocks noChangeAspect="1"/>
          </p:cNvPicPr>
          <p:nvPr/>
        </p:nvPicPr>
        <p:blipFill>
          <a:blip r:embed="rId5"/>
          <a:stretch>
            <a:fillRect/>
          </a:stretch>
        </p:blipFill>
        <p:spPr>
          <a:xfrm>
            <a:off x="697870" y="5370454"/>
            <a:ext cx="323332" cy="323332"/>
          </a:xfrm>
          <a:prstGeom prst="rect">
            <a:avLst/>
          </a:prstGeom>
        </p:spPr>
      </p:pic>
      <p:sp>
        <p:nvSpPr>
          <p:cNvPr id="18" name="text-47"/>
          <p:cNvSpPr txBox="1"/>
          <p:nvPr/>
        </p:nvSpPr>
        <p:spPr>
          <a:xfrm>
            <a:off x="1417320" y="5129784"/>
            <a:ext cx="6309360" cy="804672"/>
          </a:xfrm>
          <a:prstGeom prst="rect">
            <a:avLst/>
          </a:prstGeom>
          <a:noFill/>
          <a:ln/>
        </p:spPr>
        <p:txBody>
          <a:bodyPr wrap="square" lIns="0" tIns="0" rIns="0" bIns="0" rtlCol="0" anchor="ctr"/>
          <a:lstStyle/>
          <a:p>
            <a:pPr indent="0" marL="0">
              <a:buNone/>
            </a:pPr>
            <a:r>
              <a:rPr lang="en-US" sz="1800" b="1" dirty="0">
                <a:solidFill>
                  <a:schemeClr val="tx2"/>
                </a:solidFill>
              </a:rPr>
              <a:t>Support multiple roles</a:t>
            </a:r>
            <a:endParaRPr lang="en-US" sz="1400" dirty="0"/>
          </a:p>
          <a:p>
            <a:pPr indent="0" marL="0">
              <a:buNone/>
            </a:pPr>
            <a:r>
              <a:rPr lang="en-US" sz="1400" dirty="0">
                <a:solidFill>
                  <a:schemeClr val="tx1"/>
                </a:solidFill>
              </a:rPr>
              <a:t>User, wellness coach and administrator accounts</a:t>
            </a:r>
            <a:endParaRPr lang="en-US" sz="1400" dirty="0"/>
          </a:p>
        </p:txBody>
      </p:sp>
      <p:sp>
        <p:nvSpPr>
          <p:cNvPr id="19" name="cycle-panel-48"/>
          <p:cNvSpPr/>
          <p:nvPr/>
        </p:nvSpPr>
        <p:spPr>
          <a:xfrm>
            <a:off x="8229600" y="1508760"/>
            <a:ext cx="3410712" cy="4434840"/>
          </a:xfrm>
          <a:prstGeom prst="roundRect">
            <a:avLst>
              <a:gd name="adj" fmla="val 3217"/>
            </a:avLst>
          </a:prstGeom>
          <a:solidFill>
            <a:schemeClr val="tx2"/>
          </a:solidFill>
          <a:ln/>
        </p:spPr>
      </p:sp>
      <p:sp>
        <p:nvSpPr>
          <p:cNvPr id="20" name="text-49"/>
          <p:cNvSpPr txBox="1"/>
          <p:nvPr/>
        </p:nvSpPr>
        <p:spPr>
          <a:xfrm>
            <a:off x="8503920" y="1783080"/>
            <a:ext cx="2862072" cy="640080"/>
          </a:xfrm>
          <a:prstGeom prst="rect">
            <a:avLst/>
          </a:prstGeom>
          <a:noFill/>
          <a:ln/>
        </p:spPr>
        <p:txBody>
          <a:bodyPr wrap="square" lIns="0" tIns="0" rIns="0" bIns="0" rtlCol="0" anchor="t"/>
          <a:lstStyle/>
          <a:p>
            <a:pPr algn="ctr" indent="0" marL="0">
              <a:buNone/>
            </a:pPr>
            <a:r>
              <a:rPr lang="en-US" sz="1600" dirty="0">
                <a:solidFill>
                  <a:schemeClr val="bg2"/>
                </a:solidFill>
              </a:rPr>
              <a:t>Waking up becomes a cycle of</a:t>
            </a:r>
            <a:endParaRPr lang="en-US" sz="1600" dirty="0"/>
          </a:p>
        </p:txBody>
      </p:sp>
      <p:sp>
        <p:nvSpPr>
          <p:cNvPr id="21" name="text-50"/>
          <p:cNvSpPr txBox="1"/>
          <p:nvPr/>
        </p:nvSpPr>
        <p:spPr>
          <a:xfrm>
            <a:off x="8503920" y="2606040"/>
            <a:ext cx="286207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Challenge</a:t>
            </a:r>
            <a:endParaRPr lang="en-US" sz="3000" dirty="0"/>
          </a:p>
        </p:txBody>
      </p:sp>
      <p:pic>
        <p:nvPicPr>
          <p:cNvPr id="22" name="cycle-arrow-51" descr="Down arrow">    </p:cNvPr>
          <p:cNvPicPr>
            <a:picLocks noChangeAspect="1"/>
          </p:cNvPicPr>
          <p:nvPr/>
        </p:nvPicPr>
        <p:blipFill>
          <a:blip r:embed="rId6"/>
          <a:stretch>
            <a:fillRect/>
          </a:stretch>
        </p:blipFill>
        <p:spPr>
          <a:xfrm>
            <a:off x="9875520" y="3227832"/>
            <a:ext cx="256032" cy="256032"/>
          </a:xfrm>
          <a:prstGeom prst="rect">
            <a:avLst/>
          </a:prstGeom>
        </p:spPr>
      </p:pic>
      <p:sp>
        <p:nvSpPr>
          <p:cNvPr id="23" name="text-52"/>
          <p:cNvSpPr txBox="1"/>
          <p:nvPr/>
        </p:nvSpPr>
        <p:spPr>
          <a:xfrm>
            <a:off x="8503920" y="3703320"/>
            <a:ext cx="286207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Measure</a:t>
            </a:r>
            <a:endParaRPr lang="en-US" sz="3000" dirty="0"/>
          </a:p>
        </p:txBody>
      </p:sp>
      <p:pic>
        <p:nvPicPr>
          <p:cNvPr id="24" name="cycle-arrow-53" descr="Down arrow">    </p:cNvPr>
          <p:cNvPicPr>
            <a:picLocks noChangeAspect="1"/>
          </p:cNvPicPr>
          <p:nvPr/>
        </p:nvPicPr>
        <p:blipFill>
          <a:blip r:embed="rId7"/>
          <a:stretch>
            <a:fillRect/>
          </a:stretch>
        </p:blipFill>
        <p:spPr>
          <a:xfrm>
            <a:off x="9875520" y="4325112"/>
            <a:ext cx="256032" cy="256032"/>
          </a:xfrm>
          <a:prstGeom prst="rect">
            <a:avLst/>
          </a:prstGeom>
        </p:spPr>
      </p:pic>
      <p:sp>
        <p:nvSpPr>
          <p:cNvPr id="25" name="text-54"/>
          <p:cNvSpPr txBox="1"/>
          <p:nvPr/>
        </p:nvSpPr>
        <p:spPr>
          <a:xfrm>
            <a:off x="8503920" y="4800600"/>
            <a:ext cx="286207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Feedback</a:t>
            </a:r>
            <a:endParaRPr lang="en-US" sz="3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End-to-end user workflow</a:t>
            </a:r>
            <a:endParaRPr lang="en-US" sz="3600" dirty="0"/>
          </a:p>
        </p:txBody>
      </p:sp>
      <p:sp>
        <p:nvSpPr>
          <p:cNvPr id="4" name="flow-card-55"/>
          <p:cNvSpPr/>
          <p:nvPr/>
        </p:nvSpPr>
        <p:spPr>
          <a:xfrm>
            <a:off x="548640" y="1508760"/>
            <a:ext cx="2606040" cy="2057400"/>
          </a:xfrm>
          <a:prstGeom prst="roundRect">
            <a:avLst>
              <a:gd name="adj" fmla="val 5333"/>
            </a:avLst>
          </a:prstGeom>
          <a:solidFill>
            <a:schemeClr val="bg2"/>
          </a:solidFill>
          <a:ln/>
        </p:spPr>
      </p:sp>
      <p:sp>
        <p:nvSpPr>
          <p:cNvPr id="5" name="step-number-56"/>
          <p:cNvSpPr txBox="1"/>
          <p:nvPr/>
        </p:nvSpPr>
        <p:spPr>
          <a:xfrm>
            <a:off x="749808"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57"/>
          <p:cNvSpPr txBox="1"/>
          <p:nvPr/>
        </p:nvSpPr>
        <p:spPr>
          <a:xfrm>
            <a:off x="1417320" y="1709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Register</a:t>
            </a:r>
            <a:endParaRPr lang="en-US" sz="1600" dirty="0"/>
          </a:p>
        </p:txBody>
      </p:sp>
      <p:sp>
        <p:nvSpPr>
          <p:cNvPr id="7" name="text-58"/>
          <p:cNvSpPr txBox="1"/>
          <p:nvPr/>
        </p:nvSpPr>
        <p:spPr>
          <a:xfrm>
            <a:off x="749808" y="2423160"/>
            <a:ext cx="2203704" cy="1005840"/>
          </a:xfrm>
          <a:prstGeom prst="rect">
            <a:avLst/>
          </a:prstGeom>
          <a:noFill/>
          <a:ln/>
        </p:spPr>
        <p:txBody>
          <a:bodyPr wrap="square" lIns="0" tIns="0" rIns="0" bIns="0" rtlCol="0" anchor="t"/>
          <a:lstStyle/>
          <a:p>
            <a:pPr indent="0" marL="0">
              <a:buNone/>
            </a:pPr>
            <a:r>
              <a:rPr lang="en-US" sz="1400" dirty="0">
                <a:solidFill>
                  <a:schemeClr val="tx1"/>
                </a:solidFill>
              </a:rPr>
              <a:t>Create an account and sign in; a JWT session keeps data personal</a:t>
            </a:r>
            <a:endParaRPr lang="en-US" sz="1400" dirty="0"/>
          </a:p>
        </p:txBody>
      </p:sp>
      <p:sp>
        <p:nvSpPr>
          <p:cNvPr id="8" name="flow-card-59"/>
          <p:cNvSpPr/>
          <p:nvPr/>
        </p:nvSpPr>
        <p:spPr>
          <a:xfrm>
            <a:off x="3377184" y="1508760"/>
            <a:ext cx="2606040" cy="2057400"/>
          </a:xfrm>
          <a:prstGeom prst="roundRect">
            <a:avLst>
              <a:gd name="adj" fmla="val 5333"/>
            </a:avLst>
          </a:prstGeom>
          <a:solidFill>
            <a:schemeClr val="bg2"/>
          </a:solidFill>
          <a:ln/>
        </p:spPr>
      </p:sp>
      <p:sp>
        <p:nvSpPr>
          <p:cNvPr id="9" name="step-number-60"/>
          <p:cNvSpPr txBox="1"/>
          <p:nvPr/>
        </p:nvSpPr>
        <p:spPr>
          <a:xfrm>
            <a:off x="3578352"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61"/>
          <p:cNvSpPr txBox="1"/>
          <p:nvPr/>
        </p:nvSpPr>
        <p:spPr>
          <a:xfrm>
            <a:off x="4245864" y="1709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Set preferences</a:t>
            </a:r>
            <a:endParaRPr lang="en-US" sz="1600" dirty="0"/>
          </a:p>
        </p:txBody>
      </p:sp>
      <p:sp>
        <p:nvSpPr>
          <p:cNvPr id="11" name="text-62"/>
          <p:cNvSpPr txBox="1"/>
          <p:nvPr/>
        </p:nvSpPr>
        <p:spPr>
          <a:xfrm>
            <a:off x="3578352" y="2423160"/>
            <a:ext cx="2203704" cy="1005840"/>
          </a:xfrm>
          <a:prstGeom prst="rect">
            <a:avLst/>
          </a:prstGeom>
          <a:noFill/>
          <a:ln/>
        </p:spPr>
        <p:txBody>
          <a:bodyPr wrap="square" lIns="0" tIns="0" rIns="0" bIns="0" rtlCol="0" anchor="t"/>
          <a:lstStyle/>
          <a:p>
            <a:pPr indent="0" marL="0">
              <a:buNone/>
            </a:pPr>
            <a:r>
              <a:rPr lang="en-US" sz="1400" dirty="0">
                <a:solidFill>
                  <a:schemeClr val="tx1"/>
                </a:solidFill>
              </a:rPr>
              <a:t>Wake time, time zone and challenge difficulty</a:t>
            </a:r>
            <a:endParaRPr lang="en-US" sz="1400" dirty="0"/>
          </a:p>
        </p:txBody>
      </p:sp>
      <p:sp>
        <p:nvSpPr>
          <p:cNvPr id="12" name="flow-card-63"/>
          <p:cNvSpPr/>
          <p:nvPr/>
        </p:nvSpPr>
        <p:spPr>
          <a:xfrm>
            <a:off x="6205728" y="1508760"/>
            <a:ext cx="2606040" cy="2057400"/>
          </a:xfrm>
          <a:prstGeom prst="roundRect">
            <a:avLst>
              <a:gd name="adj" fmla="val 5333"/>
            </a:avLst>
          </a:prstGeom>
          <a:solidFill>
            <a:schemeClr val="bg2"/>
          </a:solidFill>
          <a:ln/>
        </p:spPr>
      </p:sp>
      <p:sp>
        <p:nvSpPr>
          <p:cNvPr id="13" name="step-number-64"/>
          <p:cNvSpPr txBox="1"/>
          <p:nvPr/>
        </p:nvSpPr>
        <p:spPr>
          <a:xfrm>
            <a:off x="6406896"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text-65"/>
          <p:cNvSpPr txBox="1"/>
          <p:nvPr/>
        </p:nvSpPr>
        <p:spPr>
          <a:xfrm>
            <a:off x="7074408" y="1709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Create an alarm</a:t>
            </a:r>
            <a:endParaRPr lang="en-US" sz="1600" dirty="0"/>
          </a:p>
        </p:txBody>
      </p:sp>
      <p:sp>
        <p:nvSpPr>
          <p:cNvPr id="15" name="text-66"/>
          <p:cNvSpPr txBox="1"/>
          <p:nvPr/>
        </p:nvSpPr>
        <p:spPr>
          <a:xfrm>
            <a:off x="6406896" y="2423160"/>
            <a:ext cx="2203704" cy="1005840"/>
          </a:xfrm>
          <a:prstGeom prst="rect">
            <a:avLst/>
          </a:prstGeom>
          <a:noFill/>
          <a:ln/>
        </p:spPr>
        <p:txBody>
          <a:bodyPr wrap="square" lIns="0" tIns="0" rIns="0" bIns="0" rtlCol="0" anchor="t"/>
          <a:lstStyle/>
          <a:p>
            <a:pPr indent="0" marL="0">
              <a:buNone/>
            </a:pPr>
            <a:r>
              <a:rPr lang="en-US" sz="1400" dirty="0">
                <a:solidFill>
                  <a:schemeClr val="tx1"/>
                </a:solidFill>
              </a:rPr>
              <a:t>Time, recurrence, challenge type and question count</a:t>
            </a:r>
            <a:endParaRPr lang="en-US" sz="1400" dirty="0"/>
          </a:p>
        </p:txBody>
      </p:sp>
      <p:sp>
        <p:nvSpPr>
          <p:cNvPr id="16" name="flow-card-67"/>
          <p:cNvSpPr/>
          <p:nvPr/>
        </p:nvSpPr>
        <p:spPr>
          <a:xfrm>
            <a:off x="9034272" y="1508760"/>
            <a:ext cx="2606040" cy="2057400"/>
          </a:xfrm>
          <a:prstGeom prst="roundRect">
            <a:avLst>
              <a:gd name="adj" fmla="val 5333"/>
            </a:avLst>
          </a:prstGeom>
          <a:solidFill>
            <a:schemeClr val="bg2"/>
          </a:solidFill>
          <a:ln/>
        </p:spPr>
      </p:sp>
      <p:sp>
        <p:nvSpPr>
          <p:cNvPr id="17" name="step-number-68"/>
          <p:cNvSpPr txBox="1"/>
          <p:nvPr/>
        </p:nvSpPr>
        <p:spPr>
          <a:xfrm>
            <a:off x="9235440"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8" name="text-69"/>
          <p:cNvSpPr txBox="1"/>
          <p:nvPr/>
        </p:nvSpPr>
        <p:spPr>
          <a:xfrm>
            <a:off x="9902952" y="1709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Alarm rings</a:t>
            </a:r>
            <a:endParaRPr lang="en-US" sz="1600" dirty="0"/>
          </a:p>
        </p:txBody>
      </p:sp>
      <p:sp>
        <p:nvSpPr>
          <p:cNvPr id="19" name="text-70"/>
          <p:cNvSpPr txBox="1"/>
          <p:nvPr/>
        </p:nvSpPr>
        <p:spPr>
          <a:xfrm>
            <a:off x="9235440" y="2423160"/>
            <a:ext cx="2203704" cy="1005840"/>
          </a:xfrm>
          <a:prstGeom prst="rect">
            <a:avLst/>
          </a:prstGeom>
          <a:noFill/>
          <a:ln/>
        </p:spPr>
        <p:txBody>
          <a:bodyPr wrap="square" lIns="0" tIns="0" rIns="0" bIns="0" rtlCol="0" anchor="t"/>
          <a:lstStyle/>
          <a:p>
            <a:pPr indent="0" marL="0">
              <a:buNone/>
            </a:pPr>
            <a:r>
              <a:rPr lang="en-US" sz="1400" dirty="0">
                <a:solidFill>
                  <a:schemeClr val="tx1"/>
                </a:solidFill>
              </a:rPr>
              <a:t>Triggered inside the web app</a:t>
            </a:r>
            <a:endParaRPr lang="en-US" sz="1400" dirty="0"/>
          </a:p>
        </p:txBody>
      </p:sp>
      <p:sp>
        <p:nvSpPr>
          <p:cNvPr id="20" name="flow-card-71"/>
          <p:cNvSpPr/>
          <p:nvPr/>
        </p:nvSpPr>
        <p:spPr>
          <a:xfrm>
            <a:off x="548640" y="3794760"/>
            <a:ext cx="2606040" cy="2057400"/>
          </a:xfrm>
          <a:prstGeom prst="roundRect">
            <a:avLst>
              <a:gd name="adj" fmla="val 5333"/>
            </a:avLst>
          </a:prstGeom>
          <a:solidFill>
            <a:schemeClr val="bg2"/>
          </a:solidFill>
          <a:ln/>
        </p:spPr>
      </p:sp>
      <p:sp>
        <p:nvSpPr>
          <p:cNvPr id="21" name="step-number-72"/>
          <p:cNvSpPr txBox="1"/>
          <p:nvPr/>
        </p:nvSpPr>
        <p:spPr>
          <a:xfrm>
            <a:off x="749808" y="3995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2" name="text-73"/>
          <p:cNvSpPr txBox="1"/>
          <p:nvPr/>
        </p:nvSpPr>
        <p:spPr>
          <a:xfrm>
            <a:off x="1417320" y="3995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Solve the challenge</a:t>
            </a:r>
            <a:endParaRPr lang="en-US" sz="1600" dirty="0"/>
          </a:p>
        </p:txBody>
      </p:sp>
      <p:sp>
        <p:nvSpPr>
          <p:cNvPr id="23" name="text-74"/>
          <p:cNvSpPr txBox="1"/>
          <p:nvPr/>
        </p:nvSpPr>
        <p:spPr>
          <a:xfrm>
            <a:off x="749808" y="4709160"/>
            <a:ext cx="2203704" cy="1005840"/>
          </a:xfrm>
          <a:prstGeom prst="rect">
            <a:avLst/>
          </a:prstGeom>
          <a:noFill/>
          <a:ln/>
        </p:spPr>
        <p:txBody>
          <a:bodyPr wrap="square" lIns="0" tIns="0" rIns="0" bIns="0" rtlCol="0" anchor="t"/>
          <a:lstStyle/>
          <a:p>
            <a:pPr indent="0" marL="0">
              <a:buNone/>
            </a:pPr>
            <a:r>
              <a:rPr lang="en-US" sz="1400" dirty="0">
                <a:solidFill>
                  <a:schemeClr val="tx1"/>
                </a:solidFill>
              </a:rPr>
              <a:t>Answers and response times are recorded</a:t>
            </a:r>
            <a:endParaRPr lang="en-US" sz="1400" dirty="0"/>
          </a:p>
        </p:txBody>
      </p:sp>
      <p:sp>
        <p:nvSpPr>
          <p:cNvPr id="24" name="flow-card-75"/>
          <p:cNvSpPr/>
          <p:nvPr/>
        </p:nvSpPr>
        <p:spPr>
          <a:xfrm>
            <a:off x="3377184" y="3794760"/>
            <a:ext cx="2606040" cy="2057400"/>
          </a:xfrm>
          <a:prstGeom prst="roundRect">
            <a:avLst>
              <a:gd name="adj" fmla="val 5333"/>
            </a:avLst>
          </a:prstGeom>
          <a:solidFill>
            <a:schemeClr val="bg2"/>
          </a:solidFill>
          <a:ln/>
        </p:spPr>
      </p:sp>
      <p:sp>
        <p:nvSpPr>
          <p:cNvPr id="25" name="step-number-76"/>
          <p:cNvSpPr txBox="1"/>
          <p:nvPr/>
        </p:nvSpPr>
        <p:spPr>
          <a:xfrm>
            <a:off x="3578352" y="3995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26" name="text-77"/>
          <p:cNvSpPr txBox="1"/>
          <p:nvPr/>
        </p:nvSpPr>
        <p:spPr>
          <a:xfrm>
            <a:off x="4245864" y="3995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Complete the alarm</a:t>
            </a:r>
            <a:endParaRPr lang="en-US" sz="1600" dirty="0"/>
          </a:p>
        </p:txBody>
      </p:sp>
      <p:sp>
        <p:nvSpPr>
          <p:cNvPr id="27" name="text-78"/>
          <p:cNvSpPr txBox="1"/>
          <p:nvPr/>
        </p:nvSpPr>
        <p:spPr>
          <a:xfrm>
            <a:off x="3578352" y="4709160"/>
            <a:ext cx="2203704" cy="1005840"/>
          </a:xfrm>
          <a:prstGeom prst="rect">
            <a:avLst/>
          </a:prstGeom>
          <a:noFill/>
          <a:ln/>
        </p:spPr>
        <p:txBody>
          <a:bodyPr wrap="square" lIns="0" tIns="0" rIns="0" bIns="0" rtlCol="0" anchor="t"/>
          <a:lstStyle/>
          <a:p>
            <a:pPr indent="0" marL="0">
              <a:buNone/>
            </a:pPr>
            <a:r>
              <a:rPr lang="en-US" sz="1400" dirty="0">
                <a:solidFill>
                  <a:schemeClr val="tx1"/>
                </a:solidFill>
              </a:rPr>
              <a:t>Backend verifies the challenge session first</a:t>
            </a:r>
            <a:endParaRPr lang="en-US" sz="1400" dirty="0"/>
          </a:p>
        </p:txBody>
      </p:sp>
      <p:sp>
        <p:nvSpPr>
          <p:cNvPr id="28" name="flow-card-79"/>
          <p:cNvSpPr/>
          <p:nvPr/>
        </p:nvSpPr>
        <p:spPr>
          <a:xfrm>
            <a:off x="6205728" y="3794760"/>
            <a:ext cx="2606040" cy="2057400"/>
          </a:xfrm>
          <a:prstGeom prst="roundRect">
            <a:avLst>
              <a:gd name="adj" fmla="val 5333"/>
            </a:avLst>
          </a:prstGeom>
          <a:solidFill>
            <a:schemeClr val="bg2"/>
          </a:solidFill>
          <a:ln/>
        </p:spPr>
      </p:sp>
      <p:sp>
        <p:nvSpPr>
          <p:cNvPr id="29" name="step-number-80"/>
          <p:cNvSpPr txBox="1"/>
          <p:nvPr/>
        </p:nvSpPr>
        <p:spPr>
          <a:xfrm>
            <a:off x="6406896" y="3995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7</a:t>
            </a:r>
            <a:endParaRPr lang="en-US" sz="1600" dirty="0"/>
          </a:p>
        </p:txBody>
      </p:sp>
      <p:sp>
        <p:nvSpPr>
          <p:cNvPr id="30" name="text-81"/>
          <p:cNvSpPr txBox="1"/>
          <p:nvPr/>
        </p:nvSpPr>
        <p:spPr>
          <a:xfrm>
            <a:off x="7074408" y="3995928"/>
            <a:ext cx="1600200" cy="502920"/>
          </a:xfrm>
          <a:prstGeom prst="rect">
            <a:avLst/>
          </a:prstGeom>
          <a:noFill/>
          <a:ln/>
        </p:spPr>
        <p:txBody>
          <a:bodyPr wrap="square" lIns="0" tIns="0" rIns="0" bIns="0" rtlCol="0" anchor="ctr"/>
          <a:lstStyle/>
          <a:p>
            <a:pPr indent="0" marL="0">
              <a:buNone/>
            </a:pPr>
            <a:r>
              <a:rPr lang="en-US" sz="1600" b="1" dirty="0">
                <a:solidFill>
                  <a:schemeClr val="tx2"/>
                </a:solidFill>
              </a:rPr>
              <a:t>Review progress</a:t>
            </a:r>
            <a:endParaRPr lang="en-US" sz="1600" dirty="0"/>
          </a:p>
        </p:txBody>
      </p:sp>
      <p:sp>
        <p:nvSpPr>
          <p:cNvPr id="31" name="text-82"/>
          <p:cNvSpPr txBox="1"/>
          <p:nvPr/>
        </p:nvSpPr>
        <p:spPr>
          <a:xfrm>
            <a:off x="6406896" y="4709160"/>
            <a:ext cx="2203704" cy="1005840"/>
          </a:xfrm>
          <a:prstGeom prst="rect">
            <a:avLst/>
          </a:prstGeom>
          <a:noFill/>
          <a:ln/>
        </p:spPr>
        <p:txBody>
          <a:bodyPr wrap="square" lIns="0" tIns="0" rIns="0" bIns="0" rtlCol="0" anchor="t"/>
          <a:lstStyle/>
          <a:p>
            <a:pPr indent="0" marL="0">
              <a:buNone/>
            </a:pPr>
            <a:r>
              <a:rPr lang="en-US" sz="1400" dirty="0">
                <a:solidFill>
                  <a:schemeClr val="tx1"/>
                </a:solidFill>
              </a:rPr>
              <a:t>Dashboard, analytics and recommendations</a:t>
            </a:r>
            <a:endParaRPr lang="en-US" sz="1400" dirty="0"/>
          </a:p>
        </p:txBody>
      </p:sp>
      <p:sp>
        <p:nvSpPr>
          <p:cNvPr id="32" name="loop-card-83"/>
          <p:cNvSpPr/>
          <p:nvPr/>
        </p:nvSpPr>
        <p:spPr>
          <a:xfrm>
            <a:off x="9034272" y="3794760"/>
            <a:ext cx="2606040" cy="2057400"/>
          </a:xfrm>
          <a:prstGeom prst="roundRect">
            <a:avLst>
              <a:gd name="adj" fmla="val 5333"/>
            </a:avLst>
          </a:prstGeom>
          <a:solidFill>
            <a:schemeClr val="tx2"/>
          </a:solidFill>
          <a:ln/>
        </p:spPr>
      </p:sp>
      <p:sp>
        <p:nvSpPr>
          <p:cNvPr id="33" name="loop-circle-84"/>
          <p:cNvSpPr/>
          <p:nvPr/>
        </p:nvSpPr>
        <p:spPr>
          <a:xfrm>
            <a:off x="9235440" y="3995928"/>
            <a:ext cx="502920" cy="502920"/>
          </a:xfrm>
          <a:prstGeom prst="ellipse">
            <a:avLst/>
          </a:prstGeom>
          <a:solidFill>
            <a:schemeClr val="accent1"/>
          </a:solidFill>
          <a:ln/>
        </p:spPr>
      </p:sp>
      <p:pic>
        <p:nvPicPr>
          <p:cNvPr id="34" name="loop-glyph-85" descr="loop icon">    </p:cNvPr>
          <p:cNvPicPr>
            <a:picLocks noChangeAspect="1"/>
          </p:cNvPicPr>
          <p:nvPr/>
        </p:nvPicPr>
        <p:blipFill>
          <a:blip r:embed="rId1"/>
          <a:stretch>
            <a:fillRect/>
          </a:stretch>
        </p:blipFill>
        <p:spPr>
          <a:xfrm>
            <a:off x="9356141" y="4116629"/>
            <a:ext cx="261518" cy="261518"/>
          </a:xfrm>
          <a:prstGeom prst="rect">
            <a:avLst/>
          </a:prstGeom>
        </p:spPr>
      </p:pic>
      <p:sp>
        <p:nvSpPr>
          <p:cNvPr id="35" name="text-86"/>
          <p:cNvSpPr txBox="1"/>
          <p:nvPr/>
        </p:nvSpPr>
        <p:spPr>
          <a:xfrm>
            <a:off x="9902952" y="3995928"/>
            <a:ext cx="1600200" cy="502920"/>
          </a:xfrm>
          <a:prstGeom prst="rect">
            <a:avLst/>
          </a:prstGeom>
          <a:noFill/>
          <a:ln/>
        </p:spPr>
        <p:txBody>
          <a:bodyPr wrap="square" lIns="0" tIns="0" rIns="0" bIns="0" rtlCol="0" anchor="ctr"/>
          <a:lstStyle/>
          <a:p>
            <a:pPr indent="0" marL="0">
              <a:buNone/>
            </a:pPr>
            <a:r>
              <a:rPr lang="en-US" sz="1600" b="1" dirty="0">
                <a:solidFill>
                  <a:schemeClr val="accent1"/>
                </a:solidFill>
              </a:rPr>
              <a:t>Feedback loop</a:t>
            </a:r>
            <a:endParaRPr lang="en-US" sz="1600" dirty="0"/>
          </a:p>
        </p:txBody>
      </p:sp>
      <p:sp>
        <p:nvSpPr>
          <p:cNvPr id="36" name="text-87"/>
          <p:cNvSpPr txBox="1"/>
          <p:nvPr/>
        </p:nvSpPr>
        <p:spPr>
          <a:xfrm>
            <a:off x="9235440" y="4709160"/>
            <a:ext cx="2203704" cy="1005840"/>
          </a:xfrm>
          <a:prstGeom prst="rect">
            <a:avLst/>
          </a:prstGeom>
          <a:noFill/>
          <a:ln/>
        </p:spPr>
        <p:txBody>
          <a:bodyPr wrap="square" lIns="0" tIns="0" rIns="0" bIns="0" rtlCol="0" anchor="t"/>
          <a:lstStyle/>
          <a:p>
            <a:pPr indent="0" marL="0">
              <a:buNone/>
            </a:pPr>
            <a:r>
              <a:rPr lang="en-US" sz="1400" dirty="0">
                <a:solidFill>
                  <a:schemeClr val="bg1"/>
                </a:solidFill>
              </a:rPr>
              <a:t>Recorded history informs later difficulty recommendations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Main features</a:t>
            </a:r>
            <a:endParaRPr lang="en-US" sz="3600" dirty="0"/>
          </a:p>
        </p:txBody>
      </p:sp>
      <p:sp>
        <p:nvSpPr>
          <p:cNvPr id="4" name="feature-card-88"/>
          <p:cNvSpPr/>
          <p:nvPr/>
        </p:nvSpPr>
        <p:spPr>
          <a:xfrm>
            <a:off x="548640" y="1508760"/>
            <a:ext cx="2606040" cy="2148840"/>
          </a:xfrm>
          <a:prstGeom prst="roundRect">
            <a:avLst>
              <a:gd name="adj" fmla="val 5106"/>
            </a:avLst>
          </a:prstGeom>
          <a:solidFill>
            <a:schemeClr val="bg2"/>
          </a:solidFill>
          <a:ln/>
        </p:spPr>
      </p:sp>
      <p:sp>
        <p:nvSpPr>
          <p:cNvPr id="5" name="Auth and profiles-circle-89"/>
          <p:cNvSpPr/>
          <p:nvPr/>
        </p:nvSpPr>
        <p:spPr>
          <a:xfrm>
            <a:off x="749808" y="1691640"/>
            <a:ext cx="566928" cy="566928"/>
          </a:xfrm>
          <a:prstGeom prst="ellipse">
            <a:avLst/>
          </a:prstGeom>
          <a:solidFill>
            <a:schemeClr val="accent2"/>
          </a:solidFill>
          <a:ln/>
        </p:spPr>
      </p:sp>
      <p:pic>
        <p:nvPicPr>
          <p:cNvPr id="6" name="Auth and profiles-glyph-90" descr="Auth and profiles icon">    </p:cNvPr>
          <p:cNvPicPr>
            <a:picLocks noChangeAspect="1"/>
          </p:cNvPicPr>
          <p:nvPr/>
        </p:nvPicPr>
        <p:blipFill>
          <a:blip r:embed="rId1"/>
          <a:stretch>
            <a:fillRect/>
          </a:stretch>
        </p:blipFill>
        <p:spPr>
          <a:xfrm>
            <a:off x="885871" y="1827703"/>
            <a:ext cx="294803" cy="294803"/>
          </a:xfrm>
          <a:prstGeom prst="rect">
            <a:avLst/>
          </a:prstGeom>
        </p:spPr>
      </p:pic>
      <p:sp>
        <p:nvSpPr>
          <p:cNvPr id="7" name="text-91"/>
          <p:cNvSpPr txBox="1"/>
          <p:nvPr/>
        </p:nvSpPr>
        <p:spPr>
          <a:xfrm>
            <a:off x="749808" y="2404872"/>
            <a:ext cx="2203704" cy="365760"/>
          </a:xfrm>
          <a:prstGeom prst="rect">
            <a:avLst/>
          </a:prstGeom>
          <a:noFill/>
          <a:ln/>
        </p:spPr>
        <p:txBody>
          <a:bodyPr wrap="square" lIns="0" tIns="0" rIns="0" bIns="0" rtlCol="0" anchor="t"/>
          <a:lstStyle/>
          <a:p>
            <a:pPr indent="0" marL="0">
              <a:buNone/>
            </a:pPr>
            <a:r>
              <a:rPr lang="en-US" sz="1600" b="1" dirty="0">
                <a:solidFill>
                  <a:schemeClr val="tx2"/>
                </a:solidFill>
              </a:rPr>
              <a:t>Auth and profiles</a:t>
            </a:r>
            <a:endParaRPr lang="en-US" sz="1600" dirty="0"/>
          </a:p>
        </p:txBody>
      </p:sp>
      <p:sp>
        <p:nvSpPr>
          <p:cNvPr id="8" name="text-92"/>
          <p:cNvSpPr txBox="1"/>
          <p:nvPr/>
        </p:nvSpPr>
        <p:spPr>
          <a:xfrm>
            <a:off x="749808" y="2788920"/>
            <a:ext cx="2203704" cy="777240"/>
          </a:xfrm>
          <a:prstGeom prst="rect">
            <a:avLst/>
          </a:prstGeom>
          <a:noFill/>
          <a:ln/>
        </p:spPr>
        <p:txBody>
          <a:bodyPr wrap="square" lIns="0" tIns="0" rIns="0" bIns="0" rtlCol="0" anchor="t"/>
          <a:lstStyle/>
          <a:p>
            <a:pPr indent="0" marL="0">
              <a:buNone/>
            </a:pPr>
            <a:r>
              <a:rPr lang="en-US" sz="1400" dirty="0">
                <a:solidFill>
                  <a:schemeClr val="tx1"/>
                </a:solidFill>
              </a:rPr>
              <a:t>Registration, sign-in and personal preferences</a:t>
            </a:r>
            <a:endParaRPr lang="en-US" sz="1400" dirty="0"/>
          </a:p>
        </p:txBody>
      </p:sp>
      <p:sp>
        <p:nvSpPr>
          <p:cNvPr id="9" name="feature-card-93"/>
          <p:cNvSpPr/>
          <p:nvPr/>
        </p:nvSpPr>
        <p:spPr>
          <a:xfrm>
            <a:off x="3377184" y="1508760"/>
            <a:ext cx="2606040" cy="2148840"/>
          </a:xfrm>
          <a:prstGeom prst="roundRect">
            <a:avLst>
              <a:gd name="adj" fmla="val 5106"/>
            </a:avLst>
          </a:prstGeom>
          <a:solidFill>
            <a:schemeClr val="bg2"/>
          </a:solidFill>
          <a:ln/>
        </p:spPr>
      </p:sp>
      <p:sp>
        <p:nvSpPr>
          <p:cNvPr id="10" name="Alarm management-circle-94"/>
          <p:cNvSpPr/>
          <p:nvPr/>
        </p:nvSpPr>
        <p:spPr>
          <a:xfrm>
            <a:off x="3578352" y="1691640"/>
            <a:ext cx="566928" cy="566928"/>
          </a:xfrm>
          <a:prstGeom prst="ellipse">
            <a:avLst/>
          </a:prstGeom>
          <a:solidFill>
            <a:schemeClr val="accent2"/>
          </a:solidFill>
          <a:ln/>
        </p:spPr>
      </p:sp>
      <p:pic>
        <p:nvPicPr>
          <p:cNvPr id="11" name="Alarm management-glyph-95" descr="Alarm management icon">    </p:cNvPr>
          <p:cNvPicPr>
            <a:picLocks noChangeAspect="1"/>
          </p:cNvPicPr>
          <p:nvPr/>
        </p:nvPicPr>
        <p:blipFill>
          <a:blip r:embed="rId2"/>
          <a:stretch>
            <a:fillRect/>
          </a:stretch>
        </p:blipFill>
        <p:spPr>
          <a:xfrm>
            <a:off x="3714415" y="1827703"/>
            <a:ext cx="294803" cy="294803"/>
          </a:xfrm>
          <a:prstGeom prst="rect">
            <a:avLst/>
          </a:prstGeom>
        </p:spPr>
      </p:pic>
      <p:sp>
        <p:nvSpPr>
          <p:cNvPr id="12" name="text-96"/>
          <p:cNvSpPr txBox="1"/>
          <p:nvPr/>
        </p:nvSpPr>
        <p:spPr>
          <a:xfrm>
            <a:off x="3578352" y="2404872"/>
            <a:ext cx="2203704" cy="365760"/>
          </a:xfrm>
          <a:prstGeom prst="rect">
            <a:avLst/>
          </a:prstGeom>
          <a:noFill/>
          <a:ln/>
        </p:spPr>
        <p:txBody>
          <a:bodyPr wrap="square" lIns="0" tIns="0" rIns="0" bIns="0" rtlCol="0" anchor="t"/>
          <a:lstStyle/>
          <a:p>
            <a:pPr indent="0" marL="0">
              <a:buNone/>
            </a:pPr>
            <a:r>
              <a:rPr lang="en-US" sz="1600" b="1" dirty="0">
                <a:solidFill>
                  <a:schemeClr val="tx2"/>
                </a:solidFill>
              </a:rPr>
              <a:t>Alarm management</a:t>
            </a:r>
            <a:endParaRPr lang="en-US" sz="1600" dirty="0"/>
          </a:p>
        </p:txBody>
      </p:sp>
      <p:sp>
        <p:nvSpPr>
          <p:cNvPr id="13" name="text-97"/>
          <p:cNvSpPr txBox="1"/>
          <p:nvPr/>
        </p:nvSpPr>
        <p:spPr>
          <a:xfrm>
            <a:off x="3578352" y="2788920"/>
            <a:ext cx="2203704" cy="777240"/>
          </a:xfrm>
          <a:prstGeom prst="rect">
            <a:avLst/>
          </a:prstGeom>
          <a:noFill/>
          <a:ln/>
        </p:spPr>
        <p:txBody>
          <a:bodyPr wrap="square" lIns="0" tIns="0" rIns="0" bIns="0" rtlCol="0" anchor="t"/>
          <a:lstStyle/>
          <a:p>
            <a:pPr indent="0" marL="0">
              <a:buNone/>
            </a:pPr>
            <a:r>
              <a:rPr lang="en-US" sz="1400" dirty="0">
                <a:solidFill>
                  <a:schemeClr val="tx1"/>
                </a:solidFill>
              </a:rPr>
              <a:t>Create, edit and delete alarms with recurrence</a:t>
            </a:r>
            <a:endParaRPr lang="en-US" sz="1400" dirty="0"/>
          </a:p>
        </p:txBody>
      </p:sp>
      <p:sp>
        <p:nvSpPr>
          <p:cNvPr id="14" name="feature-card-98"/>
          <p:cNvSpPr/>
          <p:nvPr/>
        </p:nvSpPr>
        <p:spPr>
          <a:xfrm>
            <a:off x="6205728" y="1508760"/>
            <a:ext cx="2606040" cy="2148840"/>
          </a:xfrm>
          <a:prstGeom prst="roundRect">
            <a:avLst>
              <a:gd name="adj" fmla="val 5106"/>
            </a:avLst>
          </a:prstGeom>
          <a:solidFill>
            <a:schemeClr val="bg2"/>
          </a:solidFill>
          <a:ln/>
        </p:spPr>
      </p:sp>
      <p:sp>
        <p:nvSpPr>
          <p:cNvPr id="15" name="Cognitive challenges-circle-99"/>
          <p:cNvSpPr/>
          <p:nvPr/>
        </p:nvSpPr>
        <p:spPr>
          <a:xfrm>
            <a:off x="6406896" y="1691640"/>
            <a:ext cx="566928" cy="566928"/>
          </a:xfrm>
          <a:prstGeom prst="ellipse">
            <a:avLst/>
          </a:prstGeom>
          <a:solidFill>
            <a:schemeClr val="accent2"/>
          </a:solidFill>
          <a:ln/>
        </p:spPr>
      </p:sp>
      <p:pic>
        <p:nvPicPr>
          <p:cNvPr id="16" name="Cognitive challenges-glyph-100" descr="Cognitive challenges icon">    </p:cNvPr>
          <p:cNvPicPr>
            <a:picLocks noChangeAspect="1"/>
          </p:cNvPicPr>
          <p:nvPr/>
        </p:nvPicPr>
        <p:blipFill>
          <a:blip r:embed="rId3"/>
          <a:stretch>
            <a:fillRect/>
          </a:stretch>
        </p:blipFill>
        <p:spPr>
          <a:xfrm>
            <a:off x="6542959" y="1827703"/>
            <a:ext cx="294803" cy="294803"/>
          </a:xfrm>
          <a:prstGeom prst="rect">
            <a:avLst/>
          </a:prstGeom>
        </p:spPr>
      </p:pic>
      <p:sp>
        <p:nvSpPr>
          <p:cNvPr id="17" name="text-101"/>
          <p:cNvSpPr txBox="1"/>
          <p:nvPr/>
        </p:nvSpPr>
        <p:spPr>
          <a:xfrm>
            <a:off x="6406896" y="2404872"/>
            <a:ext cx="2203704" cy="365760"/>
          </a:xfrm>
          <a:prstGeom prst="rect">
            <a:avLst/>
          </a:prstGeom>
          <a:noFill/>
          <a:ln/>
        </p:spPr>
        <p:txBody>
          <a:bodyPr wrap="square" lIns="0" tIns="0" rIns="0" bIns="0" rtlCol="0" anchor="t"/>
          <a:lstStyle/>
          <a:p>
            <a:pPr indent="0" marL="0">
              <a:buNone/>
            </a:pPr>
            <a:r>
              <a:rPr lang="en-US" sz="1600" b="1" dirty="0">
                <a:solidFill>
                  <a:schemeClr val="tx2"/>
                </a:solidFill>
              </a:rPr>
              <a:t>Cognitive challenges</a:t>
            </a:r>
            <a:endParaRPr lang="en-US" sz="1600" dirty="0"/>
          </a:p>
        </p:txBody>
      </p:sp>
      <p:sp>
        <p:nvSpPr>
          <p:cNvPr id="18" name="text-102"/>
          <p:cNvSpPr txBox="1"/>
          <p:nvPr/>
        </p:nvSpPr>
        <p:spPr>
          <a:xfrm>
            <a:off x="6406896" y="2788920"/>
            <a:ext cx="2203704" cy="777240"/>
          </a:xfrm>
          <a:prstGeom prst="rect">
            <a:avLst/>
          </a:prstGeom>
          <a:noFill/>
          <a:ln/>
        </p:spPr>
        <p:txBody>
          <a:bodyPr wrap="square" lIns="0" tIns="0" rIns="0" bIns="0" rtlCol="0" anchor="t"/>
          <a:lstStyle/>
          <a:p>
            <a:pPr indent="0" marL="0">
              <a:buNone/>
            </a:pPr>
            <a:r>
              <a:rPr lang="en-US" sz="1400" dirty="0">
                <a:solidFill>
                  <a:schemeClr val="tx1"/>
                </a:solidFill>
              </a:rPr>
              <a:t>Generate and validate question sessions</a:t>
            </a:r>
            <a:endParaRPr lang="en-US" sz="1400" dirty="0"/>
          </a:p>
        </p:txBody>
      </p:sp>
      <p:sp>
        <p:nvSpPr>
          <p:cNvPr id="19" name="feature-card-103"/>
          <p:cNvSpPr/>
          <p:nvPr/>
        </p:nvSpPr>
        <p:spPr>
          <a:xfrm>
            <a:off x="9034272" y="1508760"/>
            <a:ext cx="2606040" cy="2148840"/>
          </a:xfrm>
          <a:prstGeom prst="roundRect">
            <a:avLst>
              <a:gd name="adj" fmla="val 5106"/>
            </a:avLst>
          </a:prstGeom>
          <a:solidFill>
            <a:schemeClr val="bg2"/>
          </a:solidFill>
          <a:ln/>
        </p:spPr>
      </p:sp>
      <p:sp>
        <p:nvSpPr>
          <p:cNvPr id="20" name="Performance tracking-circle-104"/>
          <p:cNvSpPr/>
          <p:nvPr/>
        </p:nvSpPr>
        <p:spPr>
          <a:xfrm>
            <a:off x="9235440" y="1691640"/>
            <a:ext cx="566928" cy="566928"/>
          </a:xfrm>
          <a:prstGeom prst="ellipse">
            <a:avLst/>
          </a:prstGeom>
          <a:solidFill>
            <a:schemeClr val="accent2"/>
          </a:solidFill>
          <a:ln/>
        </p:spPr>
      </p:sp>
      <p:pic>
        <p:nvPicPr>
          <p:cNvPr id="21" name="Performance tracking-glyph-105" descr="Performance tracking icon">    </p:cNvPr>
          <p:cNvPicPr>
            <a:picLocks noChangeAspect="1"/>
          </p:cNvPicPr>
          <p:nvPr/>
        </p:nvPicPr>
        <p:blipFill>
          <a:blip r:embed="rId4"/>
          <a:stretch>
            <a:fillRect/>
          </a:stretch>
        </p:blipFill>
        <p:spPr>
          <a:xfrm>
            <a:off x="9371503" y="1827703"/>
            <a:ext cx="294803" cy="294803"/>
          </a:xfrm>
          <a:prstGeom prst="rect">
            <a:avLst/>
          </a:prstGeom>
        </p:spPr>
      </p:pic>
      <p:sp>
        <p:nvSpPr>
          <p:cNvPr id="22" name="text-106"/>
          <p:cNvSpPr txBox="1"/>
          <p:nvPr/>
        </p:nvSpPr>
        <p:spPr>
          <a:xfrm>
            <a:off x="9235440" y="2404872"/>
            <a:ext cx="2203704" cy="365760"/>
          </a:xfrm>
          <a:prstGeom prst="rect">
            <a:avLst/>
          </a:prstGeom>
          <a:noFill/>
          <a:ln/>
        </p:spPr>
        <p:txBody>
          <a:bodyPr wrap="square" lIns="0" tIns="0" rIns="0" bIns="0" rtlCol="0" anchor="t"/>
          <a:lstStyle/>
          <a:p>
            <a:pPr indent="0" marL="0">
              <a:buNone/>
            </a:pPr>
            <a:r>
              <a:rPr lang="en-US" sz="1600" b="1" dirty="0">
                <a:solidFill>
                  <a:schemeClr val="tx2"/>
                </a:solidFill>
              </a:rPr>
              <a:t>Performance tracking</a:t>
            </a:r>
            <a:endParaRPr lang="en-US" sz="1600" dirty="0"/>
          </a:p>
        </p:txBody>
      </p:sp>
      <p:sp>
        <p:nvSpPr>
          <p:cNvPr id="23" name="text-107"/>
          <p:cNvSpPr txBox="1"/>
          <p:nvPr/>
        </p:nvSpPr>
        <p:spPr>
          <a:xfrm>
            <a:off x="9235440" y="2788920"/>
            <a:ext cx="2203704" cy="777240"/>
          </a:xfrm>
          <a:prstGeom prst="rect">
            <a:avLst/>
          </a:prstGeom>
          <a:noFill/>
          <a:ln/>
        </p:spPr>
        <p:txBody>
          <a:bodyPr wrap="square" lIns="0" tIns="0" rIns="0" bIns="0" rtlCol="0" anchor="t"/>
          <a:lstStyle/>
          <a:p>
            <a:pPr indent="0" marL="0">
              <a:buNone/>
            </a:pPr>
            <a:r>
              <a:rPr lang="en-US" sz="1400" dirty="0">
                <a:solidFill>
                  <a:schemeClr val="tx1"/>
                </a:solidFill>
              </a:rPr>
              <a:t>Accuracy, response time, snoozes, completions</a:t>
            </a:r>
            <a:endParaRPr lang="en-US" sz="1400" dirty="0"/>
          </a:p>
        </p:txBody>
      </p:sp>
      <p:sp>
        <p:nvSpPr>
          <p:cNvPr id="24" name="feature-card-108"/>
          <p:cNvSpPr/>
          <p:nvPr/>
        </p:nvSpPr>
        <p:spPr>
          <a:xfrm>
            <a:off x="548640" y="3886200"/>
            <a:ext cx="2606040" cy="2148840"/>
          </a:xfrm>
          <a:prstGeom prst="roundRect">
            <a:avLst>
              <a:gd name="adj" fmla="val 5106"/>
            </a:avLst>
          </a:prstGeom>
          <a:solidFill>
            <a:schemeClr val="bg2"/>
          </a:solidFill>
          <a:ln/>
        </p:spPr>
      </p:sp>
      <p:sp>
        <p:nvSpPr>
          <p:cNvPr id="25" name="Dashboards and reports-circle-109"/>
          <p:cNvSpPr/>
          <p:nvPr/>
        </p:nvSpPr>
        <p:spPr>
          <a:xfrm>
            <a:off x="749808" y="4069080"/>
            <a:ext cx="566928" cy="566928"/>
          </a:xfrm>
          <a:prstGeom prst="ellipse">
            <a:avLst/>
          </a:prstGeom>
          <a:solidFill>
            <a:schemeClr val="accent2"/>
          </a:solidFill>
          <a:ln/>
        </p:spPr>
      </p:sp>
      <p:pic>
        <p:nvPicPr>
          <p:cNvPr id="26" name="Dashboards and reports-glyph-110" descr="Dashboards and reports icon">    </p:cNvPr>
          <p:cNvPicPr>
            <a:picLocks noChangeAspect="1"/>
          </p:cNvPicPr>
          <p:nvPr/>
        </p:nvPicPr>
        <p:blipFill>
          <a:blip r:embed="rId5"/>
          <a:stretch>
            <a:fillRect/>
          </a:stretch>
        </p:blipFill>
        <p:spPr>
          <a:xfrm>
            <a:off x="885871" y="4205143"/>
            <a:ext cx="294803" cy="294803"/>
          </a:xfrm>
          <a:prstGeom prst="rect">
            <a:avLst/>
          </a:prstGeom>
        </p:spPr>
      </p:pic>
      <p:sp>
        <p:nvSpPr>
          <p:cNvPr id="27" name="text-111"/>
          <p:cNvSpPr txBox="1"/>
          <p:nvPr/>
        </p:nvSpPr>
        <p:spPr>
          <a:xfrm>
            <a:off x="749808" y="4782312"/>
            <a:ext cx="2203704" cy="365760"/>
          </a:xfrm>
          <a:prstGeom prst="rect">
            <a:avLst/>
          </a:prstGeom>
          <a:noFill/>
          <a:ln/>
        </p:spPr>
        <p:txBody>
          <a:bodyPr wrap="square" lIns="0" tIns="0" rIns="0" bIns="0" rtlCol="0" anchor="t"/>
          <a:lstStyle/>
          <a:p>
            <a:pPr indent="0" marL="0">
              <a:buNone/>
            </a:pPr>
            <a:r>
              <a:rPr lang="en-US" sz="1600" b="1" dirty="0">
                <a:solidFill>
                  <a:schemeClr val="tx2"/>
                </a:solidFill>
              </a:rPr>
              <a:t>Dashboards and reports</a:t>
            </a:r>
            <a:endParaRPr lang="en-US" sz="1600" dirty="0"/>
          </a:p>
        </p:txBody>
      </p:sp>
      <p:sp>
        <p:nvSpPr>
          <p:cNvPr id="28" name="text-112"/>
          <p:cNvSpPr txBox="1"/>
          <p:nvPr/>
        </p:nvSpPr>
        <p:spPr>
          <a:xfrm>
            <a:off x="749808" y="5166360"/>
            <a:ext cx="2203704" cy="777240"/>
          </a:xfrm>
          <a:prstGeom prst="rect">
            <a:avLst/>
          </a:prstGeom>
          <a:noFill/>
          <a:ln/>
        </p:spPr>
        <p:txBody>
          <a:bodyPr wrap="square" lIns="0" tIns="0" rIns="0" bIns="0" rtlCol="0" anchor="t"/>
          <a:lstStyle/>
          <a:p>
            <a:pPr indent="0" marL="0">
              <a:buNone/>
            </a:pPr>
            <a:r>
              <a:rPr lang="en-US" sz="1400" dirty="0">
                <a:solidFill>
                  <a:schemeClr val="tx1"/>
                </a:solidFill>
              </a:rPr>
              <a:t>User statistics with PDF and Excel export</a:t>
            </a:r>
            <a:endParaRPr lang="en-US" sz="1400" dirty="0"/>
          </a:p>
        </p:txBody>
      </p:sp>
      <p:sp>
        <p:nvSpPr>
          <p:cNvPr id="29" name="feature-card-113"/>
          <p:cNvSpPr/>
          <p:nvPr/>
        </p:nvSpPr>
        <p:spPr>
          <a:xfrm>
            <a:off x="3377184" y="3886200"/>
            <a:ext cx="2606040" cy="2148840"/>
          </a:xfrm>
          <a:prstGeom prst="roundRect">
            <a:avLst>
              <a:gd name="adj" fmla="val 5106"/>
            </a:avLst>
          </a:prstGeom>
          <a:solidFill>
            <a:schemeClr val="bg2"/>
          </a:solidFill>
          <a:ln/>
        </p:spPr>
      </p:sp>
      <p:sp>
        <p:nvSpPr>
          <p:cNvPr id="30" name="Notifications-circle-114"/>
          <p:cNvSpPr/>
          <p:nvPr/>
        </p:nvSpPr>
        <p:spPr>
          <a:xfrm>
            <a:off x="3578352" y="4069080"/>
            <a:ext cx="566928" cy="566928"/>
          </a:xfrm>
          <a:prstGeom prst="ellipse">
            <a:avLst/>
          </a:prstGeom>
          <a:solidFill>
            <a:schemeClr val="accent2"/>
          </a:solidFill>
          <a:ln/>
        </p:spPr>
      </p:sp>
      <p:pic>
        <p:nvPicPr>
          <p:cNvPr id="31" name="Notifications-glyph-115" descr="Notifications icon">    </p:cNvPr>
          <p:cNvPicPr>
            <a:picLocks noChangeAspect="1"/>
          </p:cNvPicPr>
          <p:nvPr/>
        </p:nvPicPr>
        <p:blipFill>
          <a:blip r:embed="rId6"/>
          <a:stretch>
            <a:fillRect/>
          </a:stretch>
        </p:blipFill>
        <p:spPr>
          <a:xfrm>
            <a:off x="3714415" y="4205143"/>
            <a:ext cx="294803" cy="294803"/>
          </a:xfrm>
          <a:prstGeom prst="rect">
            <a:avLst/>
          </a:prstGeom>
        </p:spPr>
      </p:pic>
      <p:sp>
        <p:nvSpPr>
          <p:cNvPr id="32" name="text-116"/>
          <p:cNvSpPr txBox="1"/>
          <p:nvPr/>
        </p:nvSpPr>
        <p:spPr>
          <a:xfrm>
            <a:off x="3578352" y="4782312"/>
            <a:ext cx="2203704" cy="365760"/>
          </a:xfrm>
          <a:prstGeom prst="rect">
            <a:avLst/>
          </a:prstGeom>
          <a:noFill/>
          <a:ln/>
        </p:spPr>
        <p:txBody>
          <a:bodyPr wrap="square" lIns="0" tIns="0" rIns="0" bIns="0" rtlCol="0" anchor="t"/>
          <a:lstStyle/>
          <a:p>
            <a:pPr indent="0" marL="0">
              <a:buNone/>
            </a:pPr>
            <a:r>
              <a:rPr lang="en-US" sz="1600" b="1" dirty="0">
                <a:solidFill>
                  <a:schemeClr val="tx2"/>
                </a:solidFill>
              </a:rPr>
              <a:t>Notifications</a:t>
            </a:r>
            <a:endParaRPr lang="en-US" sz="1600" dirty="0"/>
          </a:p>
        </p:txBody>
      </p:sp>
      <p:sp>
        <p:nvSpPr>
          <p:cNvPr id="33" name="text-117"/>
          <p:cNvSpPr txBox="1"/>
          <p:nvPr/>
        </p:nvSpPr>
        <p:spPr>
          <a:xfrm>
            <a:off x="3578352" y="5166360"/>
            <a:ext cx="2203704" cy="777240"/>
          </a:xfrm>
          <a:prstGeom prst="rect">
            <a:avLst/>
          </a:prstGeom>
          <a:noFill/>
          <a:ln/>
        </p:spPr>
        <p:txBody>
          <a:bodyPr wrap="square" lIns="0" tIns="0" rIns="0" bIns="0" rtlCol="0" anchor="t"/>
          <a:lstStyle/>
          <a:p>
            <a:pPr indent="0" marL="0">
              <a:buNone/>
            </a:pPr>
            <a:r>
              <a:rPr lang="en-US" sz="1400" dirty="0">
                <a:solidFill>
                  <a:schemeClr val="tx1"/>
                </a:solidFill>
              </a:rPr>
              <a:t>In-app alerts and recommendations from activity</a:t>
            </a:r>
            <a:endParaRPr lang="en-US" sz="1400" dirty="0"/>
          </a:p>
        </p:txBody>
      </p:sp>
      <p:sp>
        <p:nvSpPr>
          <p:cNvPr id="34" name="feature-card-118"/>
          <p:cNvSpPr/>
          <p:nvPr/>
        </p:nvSpPr>
        <p:spPr>
          <a:xfrm>
            <a:off x="6205728" y="3886200"/>
            <a:ext cx="2606040" cy="2148840"/>
          </a:xfrm>
          <a:prstGeom prst="roundRect">
            <a:avLst>
              <a:gd name="adj" fmla="val 5106"/>
            </a:avLst>
          </a:prstGeom>
          <a:solidFill>
            <a:schemeClr val="bg2"/>
          </a:solidFill>
          <a:ln/>
        </p:spPr>
      </p:sp>
      <p:sp>
        <p:nvSpPr>
          <p:cNvPr id="35" name="Role-based views-circle-119"/>
          <p:cNvSpPr/>
          <p:nvPr/>
        </p:nvSpPr>
        <p:spPr>
          <a:xfrm>
            <a:off x="6406896" y="4069080"/>
            <a:ext cx="566928" cy="566928"/>
          </a:xfrm>
          <a:prstGeom prst="ellipse">
            <a:avLst/>
          </a:prstGeom>
          <a:solidFill>
            <a:schemeClr val="accent2"/>
          </a:solidFill>
          <a:ln/>
        </p:spPr>
      </p:sp>
      <p:pic>
        <p:nvPicPr>
          <p:cNvPr id="36" name="Role-based views-glyph-120" descr="Role-based views icon">    </p:cNvPr>
          <p:cNvPicPr>
            <a:picLocks noChangeAspect="1"/>
          </p:cNvPicPr>
          <p:nvPr/>
        </p:nvPicPr>
        <p:blipFill>
          <a:blip r:embed="rId7"/>
          <a:stretch>
            <a:fillRect/>
          </a:stretch>
        </p:blipFill>
        <p:spPr>
          <a:xfrm>
            <a:off x="6542959" y="4205143"/>
            <a:ext cx="294803" cy="294803"/>
          </a:xfrm>
          <a:prstGeom prst="rect">
            <a:avLst/>
          </a:prstGeom>
        </p:spPr>
      </p:pic>
      <p:sp>
        <p:nvSpPr>
          <p:cNvPr id="37" name="text-121"/>
          <p:cNvSpPr txBox="1"/>
          <p:nvPr/>
        </p:nvSpPr>
        <p:spPr>
          <a:xfrm>
            <a:off x="6406896" y="4782312"/>
            <a:ext cx="2203704" cy="365760"/>
          </a:xfrm>
          <a:prstGeom prst="rect">
            <a:avLst/>
          </a:prstGeom>
          <a:noFill/>
          <a:ln/>
        </p:spPr>
        <p:txBody>
          <a:bodyPr wrap="square" lIns="0" tIns="0" rIns="0" bIns="0" rtlCol="0" anchor="t"/>
          <a:lstStyle/>
          <a:p>
            <a:pPr indent="0" marL="0">
              <a:buNone/>
            </a:pPr>
            <a:r>
              <a:rPr lang="en-US" sz="1600" b="1" dirty="0">
                <a:solidFill>
                  <a:schemeClr val="tx2"/>
                </a:solidFill>
              </a:rPr>
              <a:t>Role-based views</a:t>
            </a:r>
            <a:endParaRPr lang="en-US" sz="1600" dirty="0"/>
          </a:p>
        </p:txBody>
      </p:sp>
      <p:sp>
        <p:nvSpPr>
          <p:cNvPr id="38" name="text-122"/>
          <p:cNvSpPr txBox="1"/>
          <p:nvPr/>
        </p:nvSpPr>
        <p:spPr>
          <a:xfrm>
            <a:off x="6406896" y="5166360"/>
            <a:ext cx="2203704" cy="777240"/>
          </a:xfrm>
          <a:prstGeom prst="rect">
            <a:avLst/>
          </a:prstGeom>
          <a:noFill/>
          <a:ln/>
        </p:spPr>
        <p:txBody>
          <a:bodyPr wrap="square" lIns="0" tIns="0" rIns="0" bIns="0" rtlCol="0" anchor="t"/>
          <a:lstStyle/>
          <a:p>
            <a:pPr indent="0" marL="0">
              <a:buNone/>
            </a:pPr>
            <a:r>
              <a:rPr lang="en-US" sz="1400" dirty="0">
                <a:solidFill>
                  <a:schemeClr val="tx1"/>
                </a:solidFill>
              </a:rPr>
              <a:t>Extra coaching and administration tools</a:t>
            </a:r>
            <a:endParaRPr lang="en-US" sz="1400" dirty="0"/>
          </a:p>
        </p:txBody>
      </p:sp>
      <p:sp>
        <p:nvSpPr>
          <p:cNvPr id="39" name="connected-card-123"/>
          <p:cNvSpPr/>
          <p:nvPr/>
        </p:nvSpPr>
        <p:spPr>
          <a:xfrm>
            <a:off x="9034272" y="3886200"/>
            <a:ext cx="2606040" cy="2148840"/>
          </a:xfrm>
          <a:prstGeom prst="roundRect">
            <a:avLst>
              <a:gd name="adj" fmla="val 5106"/>
            </a:avLst>
          </a:prstGeom>
          <a:solidFill>
            <a:schemeClr val="tx2"/>
          </a:solidFill>
          <a:ln/>
        </p:spPr>
      </p:sp>
      <p:sp>
        <p:nvSpPr>
          <p:cNvPr id="40" name="connected-circle-124"/>
          <p:cNvSpPr/>
          <p:nvPr/>
        </p:nvSpPr>
        <p:spPr>
          <a:xfrm>
            <a:off x="9235440" y="4069080"/>
            <a:ext cx="566928" cy="566928"/>
          </a:xfrm>
          <a:prstGeom prst="ellipse">
            <a:avLst/>
          </a:prstGeom>
          <a:solidFill>
            <a:schemeClr val="accent1"/>
          </a:solidFill>
          <a:ln/>
        </p:spPr>
      </p:sp>
      <p:pic>
        <p:nvPicPr>
          <p:cNvPr id="41" name="connected-glyph-125" descr="connected icon">    </p:cNvPr>
          <p:cNvPicPr>
            <a:picLocks noChangeAspect="1"/>
          </p:cNvPicPr>
          <p:nvPr/>
        </p:nvPicPr>
        <p:blipFill>
          <a:blip r:embed="rId8"/>
          <a:stretch>
            <a:fillRect/>
          </a:stretch>
        </p:blipFill>
        <p:spPr>
          <a:xfrm>
            <a:off x="9371503" y="4205143"/>
            <a:ext cx="294803" cy="294803"/>
          </a:xfrm>
          <a:prstGeom prst="rect">
            <a:avLst/>
          </a:prstGeom>
        </p:spPr>
      </p:pic>
      <p:sp>
        <p:nvSpPr>
          <p:cNvPr id="42" name="text-126"/>
          <p:cNvSpPr txBox="1"/>
          <p:nvPr/>
        </p:nvSpPr>
        <p:spPr>
          <a:xfrm>
            <a:off x="9235440" y="4782312"/>
            <a:ext cx="2203704" cy="365760"/>
          </a:xfrm>
          <a:prstGeom prst="rect">
            <a:avLst/>
          </a:prstGeom>
          <a:noFill/>
          <a:ln/>
        </p:spPr>
        <p:txBody>
          <a:bodyPr wrap="square" lIns="0" tIns="0" rIns="0" bIns="0" rtlCol="0" anchor="t"/>
          <a:lstStyle/>
          <a:p>
            <a:pPr indent="0" marL="0">
              <a:buNone/>
            </a:pPr>
            <a:r>
              <a:rPr lang="en-US" sz="1600" b="1" dirty="0">
                <a:solidFill>
                  <a:schemeClr val="accent1"/>
                </a:solidFill>
              </a:rPr>
              <a:t>Connected, not isolated</a:t>
            </a:r>
            <a:endParaRPr lang="en-US" sz="1600" dirty="0"/>
          </a:p>
        </p:txBody>
      </p:sp>
      <p:sp>
        <p:nvSpPr>
          <p:cNvPr id="43" name="text-127"/>
          <p:cNvSpPr txBox="1"/>
          <p:nvPr/>
        </p:nvSpPr>
        <p:spPr>
          <a:xfrm>
            <a:off x="9235440" y="5166360"/>
            <a:ext cx="2203704" cy="777240"/>
          </a:xfrm>
          <a:prstGeom prst="rect">
            <a:avLst/>
          </a:prstGeom>
          <a:noFill/>
          <a:ln/>
        </p:spPr>
        <p:txBody>
          <a:bodyPr wrap="square" lIns="0" tIns="0" rIns="0" bIns="0" rtlCol="0" anchor="t"/>
          <a:lstStyle/>
          <a:p>
            <a:pPr indent="0" marL="0">
              <a:buNone/>
            </a:pPr>
            <a:r>
              <a:rPr lang="en-US" sz="1400" dirty="0">
                <a:solidFill>
                  <a:schemeClr val="bg1"/>
                </a:solidFill>
              </a:rPr>
              <a:t>Alarm, challenge, validation, analytics and advice flow end to end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Cognitive challenge and verification</a:t>
            </a:r>
            <a:endParaRPr lang="en-US" sz="3600" dirty="0"/>
          </a:p>
        </p:txBody>
      </p:sp>
      <p:sp>
        <p:nvSpPr>
          <p:cNvPr id="4" name="text-128"/>
          <p:cNvSpPr txBox="1"/>
          <p:nvPr/>
        </p:nvSpPr>
        <p:spPr>
          <a:xfrm>
            <a:off x="548640" y="1463040"/>
            <a:ext cx="5669280" cy="411480"/>
          </a:xfrm>
          <a:prstGeom prst="rect">
            <a:avLst/>
          </a:prstGeom>
          <a:noFill/>
          <a:ln/>
        </p:spPr>
        <p:txBody>
          <a:bodyPr wrap="square" lIns="0" tIns="0" rIns="0" bIns="0" rtlCol="0" anchor="t"/>
          <a:lstStyle/>
          <a:p>
            <a:pPr indent="0" marL="0">
              <a:buNone/>
            </a:pPr>
            <a:r>
              <a:rPr lang="en-US" sz="2000" b="1" dirty="0">
                <a:solidFill>
                  <a:schemeClr val="tx2"/>
                </a:solidFill>
              </a:rPr>
              <a:t>7 challenge categories</a:t>
            </a:r>
            <a:endParaRPr lang="en-US" sz="2000" dirty="0"/>
          </a:p>
        </p:txBody>
      </p:sp>
      <p:sp>
        <p:nvSpPr>
          <p:cNvPr id="5" name="category-chip-129"/>
          <p:cNvSpPr txBox="1"/>
          <p:nvPr/>
        </p:nvSpPr>
        <p:spPr>
          <a:xfrm>
            <a:off x="548640" y="201168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Math</a:t>
            </a:r>
            <a:endParaRPr lang="en-US" sz="1600" dirty="0"/>
          </a:p>
        </p:txBody>
      </p:sp>
      <p:sp>
        <p:nvSpPr>
          <p:cNvPr id="6" name="category-chip-130"/>
          <p:cNvSpPr txBox="1"/>
          <p:nvPr/>
        </p:nvSpPr>
        <p:spPr>
          <a:xfrm>
            <a:off x="1947672" y="201168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Logic</a:t>
            </a:r>
            <a:endParaRPr lang="en-US" sz="1600" dirty="0"/>
          </a:p>
        </p:txBody>
      </p:sp>
      <p:sp>
        <p:nvSpPr>
          <p:cNvPr id="7" name="category-chip-131"/>
          <p:cNvSpPr txBox="1"/>
          <p:nvPr/>
        </p:nvSpPr>
        <p:spPr>
          <a:xfrm>
            <a:off x="3346704" y="201168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Memory</a:t>
            </a:r>
            <a:endParaRPr lang="en-US" sz="1600" dirty="0"/>
          </a:p>
        </p:txBody>
      </p:sp>
      <p:sp>
        <p:nvSpPr>
          <p:cNvPr id="8" name="category-chip-132"/>
          <p:cNvSpPr txBox="1"/>
          <p:nvPr/>
        </p:nvSpPr>
        <p:spPr>
          <a:xfrm>
            <a:off x="4745736" y="201168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Word</a:t>
            </a:r>
            <a:endParaRPr lang="en-US" sz="1600" dirty="0"/>
          </a:p>
        </p:txBody>
      </p:sp>
      <p:sp>
        <p:nvSpPr>
          <p:cNvPr id="9" name="category-chip-133"/>
          <p:cNvSpPr txBox="1"/>
          <p:nvPr/>
        </p:nvSpPr>
        <p:spPr>
          <a:xfrm>
            <a:off x="548640" y="283464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Pattern</a:t>
            </a:r>
            <a:endParaRPr lang="en-US" sz="1600" dirty="0"/>
          </a:p>
        </p:txBody>
      </p:sp>
      <p:sp>
        <p:nvSpPr>
          <p:cNvPr id="10" name="category-chip-134"/>
          <p:cNvSpPr txBox="1"/>
          <p:nvPr/>
        </p:nvSpPr>
        <p:spPr>
          <a:xfrm>
            <a:off x="1947672" y="283464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Riddle</a:t>
            </a:r>
            <a:endParaRPr lang="en-US" sz="1600" dirty="0"/>
          </a:p>
        </p:txBody>
      </p:sp>
      <p:sp>
        <p:nvSpPr>
          <p:cNvPr id="11" name="category-chip-135"/>
          <p:cNvSpPr txBox="1"/>
          <p:nvPr/>
        </p:nvSpPr>
        <p:spPr>
          <a:xfrm>
            <a:off x="3346704" y="2834640"/>
            <a:ext cx="1280160" cy="640080"/>
          </a:xfrm>
          <a:prstGeom prst="roundRect">
            <a:avLst>
              <a:gd name="adj" fmla="val 17143"/>
            </a:avLst>
          </a:prstGeom>
          <a:solidFill>
            <a:schemeClr val="accent5"/>
          </a:solidFill>
          <a:ln/>
        </p:spPr>
        <p:txBody>
          <a:bodyPr wrap="square" lIns="0" tIns="0" rIns="0" bIns="0" rtlCol="0" anchor="ctr"/>
          <a:lstStyle/>
          <a:p>
            <a:pPr algn="ctr" indent="0" marL="0">
              <a:buNone/>
            </a:pPr>
            <a:r>
              <a:rPr lang="en-US" sz="1600" b="1" dirty="0">
                <a:solidFill>
                  <a:schemeClr val="bg1"/>
                </a:solidFill>
              </a:rPr>
              <a:t>Quiz</a:t>
            </a:r>
            <a:endParaRPr lang="en-US" sz="1600" dirty="0"/>
          </a:p>
        </p:txBody>
      </p:sp>
      <p:sp>
        <p:nvSpPr>
          <p:cNvPr id="12" name="text-136"/>
          <p:cNvSpPr txBox="1"/>
          <p:nvPr/>
        </p:nvSpPr>
        <p:spPr>
          <a:xfrm>
            <a:off x="548640" y="3749040"/>
            <a:ext cx="5394960" cy="731520"/>
          </a:xfrm>
          <a:prstGeom prst="rect">
            <a:avLst/>
          </a:prstGeom>
          <a:noFill/>
          <a:ln/>
        </p:spPr>
        <p:txBody>
          <a:bodyPr wrap="square" lIns="0" tIns="0" rIns="0" bIns="0" rtlCol="0" anchor="t"/>
          <a:lstStyle/>
          <a:p>
            <a:pPr indent="0" marL="0">
              <a:buNone/>
            </a:pPr>
            <a:r>
              <a:rPr lang="en-US" sz="1400" dirty="0">
                <a:solidFill>
                  <a:schemeClr val="tx1"/>
                </a:solidFill>
              </a:rPr>
              <a:t>Questions are generated by the application’s own challenge logic, then checked by the backend.</a:t>
            </a:r>
            <a:endParaRPr lang="en-US" sz="1400" dirty="0"/>
          </a:p>
        </p:txBody>
      </p:sp>
      <p:sp>
        <p:nvSpPr>
          <p:cNvPr id="13" name="text-137"/>
          <p:cNvSpPr txBox="1"/>
          <p:nvPr/>
        </p:nvSpPr>
        <p:spPr>
          <a:xfrm>
            <a:off x="6583680" y="1463040"/>
            <a:ext cx="5029200" cy="411480"/>
          </a:xfrm>
          <a:prstGeom prst="rect">
            <a:avLst/>
          </a:prstGeom>
          <a:noFill/>
          <a:ln/>
        </p:spPr>
        <p:txBody>
          <a:bodyPr wrap="square" lIns="0" tIns="0" rIns="0" bIns="0" rtlCol="0" anchor="t"/>
          <a:lstStyle/>
          <a:p>
            <a:pPr indent="0" marL="0">
              <a:buNone/>
            </a:pPr>
            <a:r>
              <a:rPr lang="en-US" sz="2000" b="1" dirty="0">
                <a:solidFill>
                  <a:schemeClr val="tx2"/>
                </a:solidFill>
              </a:rPr>
              <a:t>5 difficulty levels</a:t>
            </a:r>
            <a:endParaRPr lang="en-US" sz="2000" dirty="0"/>
          </a:p>
        </p:txBody>
      </p:sp>
      <p:sp>
        <p:nvSpPr>
          <p:cNvPr id="14" name="level-bar-138"/>
          <p:cNvSpPr/>
          <p:nvPr/>
        </p:nvSpPr>
        <p:spPr>
          <a:xfrm>
            <a:off x="6583680" y="3474720"/>
            <a:ext cx="804672" cy="640080"/>
          </a:xfrm>
          <a:prstGeom prst="rect">
            <a:avLst/>
          </a:prstGeom>
          <a:solidFill>
            <a:schemeClr val="accent3"/>
          </a:solidFill>
          <a:ln/>
        </p:spPr>
      </p:sp>
      <p:sp>
        <p:nvSpPr>
          <p:cNvPr id="15" name="text-139"/>
          <p:cNvSpPr txBox="1"/>
          <p:nvPr/>
        </p:nvSpPr>
        <p:spPr>
          <a:xfrm>
            <a:off x="6483096" y="4187952"/>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Beginner</a:t>
            </a:r>
            <a:endParaRPr lang="en-US" sz="1200" dirty="0"/>
          </a:p>
        </p:txBody>
      </p:sp>
      <p:sp>
        <p:nvSpPr>
          <p:cNvPr id="16" name="level-bar-140"/>
          <p:cNvSpPr/>
          <p:nvPr/>
        </p:nvSpPr>
        <p:spPr>
          <a:xfrm>
            <a:off x="7589520" y="3108960"/>
            <a:ext cx="804672" cy="1005840"/>
          </a:xfrm>
          <a:prstGeom prst="rect">
            <a:avLst/>
          </a:prstGeom>
          <a:solidFill>
            <a:schemeClr val="accent5"/>
          </a:solidFill>
          <a:ln/>
        </p:spPr>
      </p:sp>
      <p:sp>
        <p:nvSpPr>
          <p:cNvPr id="17" name="text-141"/>
          <p:cNvSpPr txBox="1"/>
          <p:nvPr/>
        </p:nvSpPr>
        <p:spPr>
          <a:xfrm>
            <a:off x="7488936" y="4187952"/>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Easy</a:t>
            </a:r>
            <a:endParaRPr lang="en-US" sz="1200" dirty="0"/>
          </a:p>
        </p:txBody>
      </p:sp>
      <p:sp>
        <p:nvSpPr>
          <p:cNvPr id="18" name="level-bar-142"/>
          <p:cNvSpPr/>
          <p:nvPr/>
        </p:nvSpPr>
        <p:spPr>
          <a:xfrm>
            <a:off x="8595360" y="2743200"/>
            <a:ext cx="804672" cy="1371600"/>
          </a:xfrm>
          <a:prstGeom prst="rect">
            <a:avLst/>
          </a:prstGeom>
          <a:solidFill>
            <a:schemeClr val="accent2"/>
          </a:solidFill>
          <a:ln/>
        </p:spPr>
      </p:sp>
      <p:sp>
        <p:nvSpPr>
          <p:cNvPr id="19" name="text-143"/>
          <p:cNvSpPr txBox="1"/>
          <p:nvPr/>
        </p:nvSpPr>
        <p:spPr>
          <a:xfrm>
            <a:off x="8494776" y="4187952"/>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Medium</a:t>
            </a:r>
            <a:endParaRPr lang="en-US" sz="1200" dirty="0"/>
          </a:p>
        </p:txBody>
      </p:sp>
      <p:sp>
        <p:nvSpPr>
          <p:cNvPr id="20" name="level-bar-144"/>
          <p:cNvSpPr/>
          <p:nvPr/>
        </p:nvSpPr>
        <p:spPr>
          <a:xfrm>
            <a:off x="9601200" y="2377440"/>
            <a:ext cx="804672" cy="1737360"/>
          </a:xfrm>
          <a:prstGeom prst="rect">
            <a:avLst/>
          </a:prstGeom>
          <a:solidFill>
            <a:schemeClr val="accent1"/>
          </a:solidFill>
          <a:ln/>
        </p:spPr>
      </p:sp>
      <p:sp>
        <p:nvSpPr>
          <p:cNvPr id="21" name="text-145"/>
          <p:cNvSpPr txBox="1"/>
          <p:nvPr/>
        </p:nvSpPr>
        <p:spPr>
          <a:xfrm>
            <a:off x="9500616" y="4187952"/>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Hard</a:t>
            </a:r>
            <a:endParaRPr lang="en-US" sz="1200" dirty="0"/>
          </a:p>
        </p:txBody>
      </p:sp>
      <p:sp>
        <p:nvSpPr>
          <p:cNvPr id="22" name="level-bar-146"/>
          <p:cNvSpPr/>
          <p:nvPr/>
        </p:nvSpPr>
        <p:spPr>
          <a:xfrm>
            <a:off x="10607040" y="2011680"/>
            <a:ext cx="804672" cy="2103120"/>
          </a:xfrm>
          <a:prstGeom prst="rect">
            <a:avLst/>
          </a:prstGeom>
          <a:solidFill>
            <a:schemeClr val="accent4"/>
          </a:solidFill>
          <a:ln/>
        </p:spPr>
      </p:sp>
      <p:sp>
        <p:nvSpPr>
          <p:cNvPr id="23" name="text-147"/>
          <p:cNvSpPr txBox="1"/>
          <p:nvPr/>
        </p:nvSpPr>
        <p:spPr>
          <a:xfrm>
            <a:off x="10506456" y="4187952"/>
            <a:ext cx="1005840" cy="274320"/>
          </a:xfrm>
          <a:prstGeom prst="rect">
            <a:avLst/>
          </a:prstGeom>
          <a:noFill/>
          <a:ln/>
        </p:spPr>
        <p:txBody>
          <a:bodyPr wrap="square" lIns="0" tIns="0" rIns="0" bIns="0" rtlCol="0" anchor="t"/>
          <a:lstStyle/>
          <a:p>
            <a:pPr algn="ctr" indent="0" marL="0">
              <a:buNone/>
            </a:pPr>
            <a:r>
              <a:rPr lang="en-US" sz="1200" dirty="0">
                <a:solidFill>
                  <a:schemeClr val="tx1"/>
                </a:solidFill>
              </a:rPr>
              <a:t>Expert</a:t>
            </a:r>
            <a:endParaRPr lang="en-US" sz="1200" dirty="0"/>
          </a:p>
        </p:txBody>
      </p:sp>
      <p:sp>
        <p:nvSpPr>
          <p:cNvPr id="24" name="verify-panel-148"/>
          <p:cNvSpPr/>
          <p:nvPr/>
        </p:nvSpPr>
        <p:spPr>
          <a:xfrm>
            <a:off x="548640" y="4754880"/>
            <a:ext cx="11091672" cy="1280160"/>
          </a:xfrm>
          <a:prstGeom prst="roundRect">
            <a:avLst>
              <a:gd name="adj" fmla="val 8571"/>
            </a:avLst>
          </a:prstGeom>
          <a:solidFill>
            <a:schemeClr val="tx2"/>
          </a:solidFill>
          <a:ln/>
        </p:spPr>
      </p:sp>
      <p:sp>
        <p:nvSpPr>
          <p:cNvPr id="25" name="verify-circle-149"/>
          <p:cNvSpPr/>
          <p:nvPr/>
        </p:nvSpPr>
        <p:spPr>
          <a:xfrm>
            <a:off x="868680" y="5029200"/>
            <a:ext cx="731520" cy="731520"/>
          </a:xfrm>
          <a:prstGeom prst="ellipse">
            <a:avLst/>
          </a:prstGeom>
          <a:solidFill>
            <a:schemeClr val="accent1"/>
          </a:solidFill>
          <a:ln/>
        </p:spPr>
      </p:sp>
      <p:pic>
        <p:nvPicPr>
          <p:cNvPr id="26" name="verify-glyph-150" descr="verify icon">    </p:cNvPr>
          <p:cNvPicPr>
            <a:picLocks noChangeAspect="1"/>
          </p:cNvPicPr>
          <p:nvPr/>
        </p:nvPicPr>
        <p:blipFill>
          <a:blip r:embed="rId1"/>
          <a:stretch>
            <a:fillRect/>
          </a:stretch>
        </p:blipFill>
        <p:spPr>
          <a:xfrm>
            <a:off x="1044245" y="5204765"/>
            <a:ext cx="380390" cy="380390"/>
          </a:xfrm>
          <a:prstGeom prst="rect">
            <a:avLst/>
          </a:prstGeom>
        </p:spPr>
      </p:pic>
      <p:sp>
        <p:nvSpPr>
          <p:cNvPr id="27" name="text-151"/>
          <p:cNvSpPr txBox="1"/>
          <p:nvPr/>
        </p:nvSpPr>
        <p:spPr>
          <a:xfrm>
            <a:off x="1874520" y="4846320"/>
            <a:ext cx="9509760" cy="1097280"/>
          </a:xfrm>
          <a:prstGeom prst="rect">
            <a:avLst/>
          </a:prstGeom>
          <a:noFill/>
          <a:ln/>
        </p:spPr>
        <p:txBody>
          <a:bodyPr wrap="square" lIns="0" tIns="0" rIns="0" bIns="0" rtlCol="0" anchor="ctr"/>
          <a:lstStyle/>
          <a:p>
            <a:pPr indent="0" marL="0">
              <a:buNone/>
            </a:pPr>
            <a:r>
              <a:rPr lang="en-US" sz="1800" b="1" dirty="0">
                <a:solidFill>
                  <a:schemeClr val="accent1"/>
                </a:solidFill>
              </a:rPr>
              <a:t>Verified by the backend</a:t>
            </a:r>
            <a:endParaRPr lang="en-US" sz="1400" dirty="0"/>
          </a:p>
          <a:p>
            <a:pPr indent="0" marL="0">
              <a:buNone/>
            </a:pPr>
            <a:r>
              <a:rPr lang="en-US" sz="1400" dirty="0">
                <a:solidFill>
                  <a:schemeClr val="bg1"/>
                </a:solidFill>
              </a:rPr>
              <a:t>Answers are normalized and checked; correctness, response time and attempts are recorded. A smart alarm can only be completed after its challenge session succeeds.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Adaptive difficulty and habit score</a:t>
            </a:r>
            <a:endParaRPr lang="en-US" sz="3600" dirty="0"/>
          </a:p>
        </p:txBody>
      </p:sp>
      <p:sp>
        <p:nvSpPr>
          <p:cNvPr id="4" name="text-152"/>
          <p:cNvSpPr txBox="1"/>
          <p:nvPr/>
        </p:nvSpPr>
        <p:spPr>
          <a:xfrm>
            <a:off x="548640" y="1463040"/>
            <a:ext cx="5943600" cy="411480"/>
          </a:xfrm>
          <a:prstGeom prst="rect">
            <a:avLst/>
          </a:prstGeom>
          <a:noFill/>
          <a:ln/>
        </p:spPr>
        <p:txBody>
          <a:bodyPr wrap="square" lIns="0" tIns="0" rIns="0" bIns="0" rtlCol="0" anchor="t"/>
          <a:lstStyle/>
          <a:p>
            <a:pPr indent="0" marL="0">
              <a:buNone/>
            </a:pPr>
            <a:r>
              <a:rPr lang="en-US" sz="2000" b="1" dirty="0">
                <a:solidFill>
                  <a:schemeClr val="tx2"/>
                </a:solidFill>
              </a:rPr>
              <a:t>Habit score weights</a:t>
            </a:r>
            <a:endParaRPr lang="en-US" sz="2000" dirty="0"/>
          </a:p>
        </p:txBody>
      </p:sp>
      <p:graphicFrame>
        <p:nvGraphicFramePr>
          <p:cNvPr id="5" name="Chart 0" descr=""/>
          <p:cNvGraphicFramePr/>
          <p:nvPr/>
        </p:nvGraphicFramePr>
        <p:xfrm>
          <a:off x="548640" y="1920240"/>
          <a:ext cx="3108960" cy="3017520"/>
        </p:xfrm>
        <a:graphic xmlns:a="http://schemas.openxmlformats.org/drawingml/2006/main">
          <a:graphicData uri="http://schemas.openxmlformats.org/drawingml/2006/chart">
            <c:chart xmlns:c="http://schemas.openxmlformats.org/drawingml/2006/chart" r:id="rId1"/>
          </a:graphicData>
        </a:graphic>
      </p:graphicFrame>
      <p:sp>
        <p:nvSpPr>
          <p:cNvPr id="6" name="legend-dot-153"/>
          <p:cNvSpPr/>
          <p:nvPr/>
        </p:nvSpPr>
        <p:spPr>
          <a:xfrm>
            <a:off x="3931920" y="2395728"/>
            <a:ext cx="237744" cy="237744"/>
          </a:xfrm>
          <a:prstGeom prst="ellipse">
            <a:avLst/>
          </a:prstGeom>
          <a:solidFill>
            <a:schemeClr val="tx2"/>
          </a:solidFill>
          <a:ln/>
        </p:spPr>
      </p:sp>
      <p:sp>
        <p:nvSpPr>
          <p:cNvPr id="7" name="text-154"/>
          <p:cNvSpPr txBox="1"/>
          <p:nvPr/>
        </p:nvSpPr>
        <p:spPr>
          <a:xfrm>
            <a:off x="4343400" y="2331720"/>
            <a:ext cx="2743200" cy="365760"/>
          </a:xfrm>
          <a:prstGeom prst="rect">
            <a:avLst/>
          </a:prstGeom>
          <a:noFill/>
          <a:ln/>
        </p:spPr>
        <p:txBody>
          <a:bodyPr wrap="square" lIns="0" tIns="0" rIns="0" bIns="0" rtlCol="0" anchor="ctr"/>
          <a:lstStyle/>
          <a:p>
            <a:pPr indent="0" marL="0">
              <a:buNone/>
            </a:pPr>
            <a:r>
              <a:rPr lang="en-US" sz="1400" dirty="0">
                <a:solidFill>
                  <a:schemeClr val="tx1"/>
                </a:solidFill>
              </a:rPr>
              <a:t>Wake-up consistency  </a:t>
            </a:r>
            <a:pPr indent="0" marL="0">
              <a:buNone/>
            </a:pPr>
            <a:r>
              <a:rPr lang="en-US" sz="1400" b="1" dirty="0">
                <a:solidFill>
                  <a:schemeClr val="tx2"/>
                </a:solidFill>
              </a:rPr>
              <a:t>35%</a:t>
            </a:r>
            <a:endParaRPr lang="en-US" sz="1400" dirty="0"/>
          </a:p>
        </p:txBody>
      </p:sp>
      <p:sp>
        <p:nvSpPr>
          <p:cNvPr id="8" name="legend-dot-155"/>
          <p:cNvSpPr/>
          <p:nvPr/>
        </p:nvSpPr>
        <p:spPr>
          <a:xfrm>
            <a:off x="3931920" y="3035808"/>
            <a:ext cx="237744" cy="237744"/>
          </a:xfrm>
          <a:prstGeom prst="ellipse">
            <a:avLst/>
          </a:prstGeom>
          <a:solidFill>
            <a:schemeClr val="accent2"/>
          </a:solidFill>
          <a:ln/>
        </p:spPr>
      </p:sp>
      <p:sp>
        <p:nvSpPr>
          <p:cNvPr id="9" name="text-156"/>
          <p:cNvSpPr txBox="1"/>
          <p:nvPr/>
        </p:nvSpPr>
        <p:spPr>
          <a:xfrm>
            <a:off x="4343400" y="2971800"/>
            <a:ext cx="2743200" cy="365760"/>
          </a:xfrm>
          <a:prstGeom prst="rect">
            <a:avLst/>
          </a:prstGeom>
          <a:noFill/>
          <a:ln/>
        </p:spPr>
        <p:txBody>
          <a:bodyPr wrap="square" lIns="0" tIns="0" rIns="0" bIns="0" rtlCol="0" anchor="ctr"/>
          <a:lstStyle/>
          <a:p>
            <a:pPr indent="0" marL="0">
              <a:buNone/>
            </a:pPr>
            <a:r>
              <a:rPr lang="en-US" sz="1400" dirty="0">
                <a:solidFill>
                  <a:schemeClr val="tx1"/>
                </a:solidFill>
              </a:rPr>
              <a:t>Challenge completion  </a:t>
            </a:r>
            <a:pPr indent="0" marL="0">
              <a:buNone/>
            </a:pPr>
            <a:r>
              <a:rPr lang="en-US" sz="1400" b="1" dirty="0">
                <a:solidFill>
                  <a:schemeClr val="tx2"/>
                </a:solidFill>
              </a:rPr>
              <a:t>25%</a:t>
            </a:r>
            <a:endParaRPr lang="en-US" sz="1400" dirty="0"/>
          </a:p>
        </p:txBody>
      </p:sp>
      <p:sp>
        <p:nvSpPr>
          <p:cNvPr id="10" name="legend-dot-157"/>
          <p:cNvSpPr/>
          <p:nvPr/>
        </p:nvSpPr>
        <p:spPr>
          <a:xfrm>
            <a:off x="3931920" y="3675888"/>
            <a:ext cx="237744" cy="237744"/>
          </a:xfrm>
          <a:prstGeom prst="ellipse">
            <a:avLst/>
          </a:prstGeom>
          <a:solidFill>
            <a:schemeClr val="accent3"/>
          </a:solidFill>
          <a:ln/>
        </p:spPr>
      </p:sp>
      <p:sp>
        <p:nvSpPr>
          <p:cNvPr id="11" name="text-158"/>
          <p:cNvSpPr txBox="1"/>
          <p:nvPr/>
        </p:nvSpPr>
        <p:spPr>
          <a:xfrm>
            <a:off x="4343400" y="3611880"/>
            <a:ext cx="2743200" cy="365760"/>
          </a:xfrm>
          <a:prstGeom prst="rect">
            <a:avLst/>
          </a:prstGeom>
          <a:noFill/>
          <a:ln/>
        </p:spPr>
        <p:txBody>
          <a:bodyPr wrap="square" lIns="0" tIns="0" rIns="0" bIns="0" rtlCol="0" anchor="ctr"/>
          <a:lstStyle/>
          <a:p>
            <a:pPr indent="0" marL="0">
              <a:buNone/>
            </a:pPr>
            <a:r>
              <a:rPr lang="en-US" sz="1400" dirty="0">
                <a:solidFill>
                  <a:schemeClr val="tx1"/>
                </a:solidFill>
              </a:rPr>
              <a:t>Snooze reduction  </a:t>
            </a:r>
            <a:pPr indent="0" marL="0">
              <a:buNone/>
            </a:pPr>
            <a:r>
              <a:rPr lang="en-US" sz="1400" b="1" dirty="0">
                <a:solidFill>
                  <a:schemeClr val="tx2"/>
                </a:solidFill>
              </a:rPr>
              <a:t>20%</a:t>
            </a:r>
            <a:endParaRPr lang="en-US" sz="1400" dirty="0"/>
          </a:p>
        </p:txBody>
      </p:sp>
      <p:sp>
        <p:nvSpPr>
          <p:cNvPr id="12" name="legend-dot-159"/>
          <p:cNvSpPr/>
          <p:nvPr/>
        </p:nvSpPr>
        <p:spPr>
          <a:xfrm>
            <a:off x="3931920" y="4315968"/>
            <a:ext cx="237744" cy="237744"/>
          </a:xfrm>
          <a:prstGeom prst="ellipse">
            <a:avLst/>
          </a:prstGeom>
          <a:solidFill>
            <a:schemeClr val="accent4"/>
          </a:solidFill>
          <a:ln/>
        </p:spPr>
      </p:sp>
      <p:sp>
        <p:nvSpPr>
          <p:cNvPr id="13" name="text-160"/>
          <p:cNvSpPr txBox="1"/>
          <p:nvPr/>
        </p:nvSpPr>
        <p:spPr>
          <a:xfrm>
            <a:off x="4343400" y="4251960"/>
            <a:ext cx="2743200" cy="365760"/>
          </a:xfrm>
          <a:prstGeom prst="rect">
            <a:avLst/>
          </a:prstGeom>
          <a:noFill/>
          <a:ln/>
        </p:spPr>
        <p:txBody>
          <a:bodyPr wrap="square" lIns="0" tIns="0" rIns="0" bIns="0" rtlCol="0" anchor="ctr"/>
          <a:lstStyle/>
          <a:p>
            <a:pPr indent="0" marL="0">
              <a:buNone/>
            </a:pPr>
            <a:r>
              <a:rPr lang="en-US" sz="1400" dirty="0">
                <a:solidFill>
                  <a:schemeClr val="tx1"/>
                </a:solidFill>
              </a:rPr>
              <a:t>Sleep adherence  </a:t>
            </a:r>
            <a:pPr indent="0" marL="0">
              <a:buNone/>
            </a:pPr>
            <a:r>
              <a:rPr lang="en-US" sz="1400" b="1" dirty="0">
                <a:solidFill>
                  <a:schemeClr val="tx2"/>
                </a:solidFill>
              </a:rPr>
              <a:t>20%</a:t>
            </a:r>
            <a:endParaRPr lang="en-US" sz="1400" dirty="0"/>
          </a:p>
        </p:txBody>
      </p:sp>
      <p:sp>
        <p:nvSpPr>
          <p:cNvPr id="14" name="text-161"/>
          <p:cNvSpPr txBox="1"/>
          <p:nvPr/>
        </p:nvSpPr>
        <p:spPr>
          <a:xfrm>
            <a:off x="7406640" y="1463040"/>
            <a:ext cx="4233672" cy="411480"/>
          </a:xfrm>
          <a:prstGeom prst="rect">
            <a:avLst/>
          </a:prstGeom>
          <a:noFill/>
          <a:ln/>
        </p:spPr>
        <p:txBody>
          <a:bodyPr wrap="square" lIns="0" tIns="0" rIns="0" bIns="0" rtlCol="0" anchor="t"/>
          <a:lstStyle/>
          <a:p>
            <a:pPr indent="0" marL="0">
              <a:buNone/>
            </a:pPr>
            <a:r>
              <a:rPr lang="en-US" sz="2000" b="1" dirty="0">
                <a:solidFill>
                  <a:schemeClr val="tx2"/>
                </a:solidFill>
              </a:rPr>
              <a:t>Rules-based difficulty engine</a:t>
            </a:r>
            <a:endParaRPr lang="en-US" sz="2000" dirty="0"/>
          </a:p>
        </p:txBody>
      </p:sp>
      <p:sp>
        <p:nvSpPr>
          <p:cNvPr id="15" name="engine-FaSlidersH-circle-162"/>
          <p:cNvSpPr/>
          <p:nvPr/>
        </p:nvSpPr>
        <p:spPr>
          <a:xfrm>
            <a:off x="7406640" y="2103120"/>
            <a:ext cx="566928" cy="566928"/>
          </a:xfrm>
          <a:prstGeom prst="ellipse">
            <a:avLst/>
          </a:prstGeom>
          <a:solidFill>
            <a:schemeClr val="accent2"/>
          </a:solidFill>
          <a:ln/>
        </p:spPr>
      </p:sp>
      <p:pic>
        <p:nvPicPr>
          <p:cNvPr id="16" name="engine-FaSlidersH-glyph-163" descr="engine-SlidersH icon">    </p:cNvPr>
          <p:cNvPicPr>
            <a:picLocks noChangeAspect="1"/>
          </p:cNvPicPr>
          <p:nvPr/>
        </p:nvPicPr>
        <p:blipFill>
          <a:blip r:embed="rId2"/>
          <a:stretch>
            <a:fillRect/>
          </a:stretch>
        </p:blipFill>
        <p:spPr>
          <a:xfrm>
            <a:off x="7542703" y="2239183"/>
            <a:ext cx="294803" cy="294803"/>
          </a:xfrm>
          <a:prstGeom prst="rect">
            <a:avLst/>
          </a:prstGeom>
        </p:spPr>
      </p:pic>
      <p:sp>
        <p:nvSpPr>
          <p:cNvPr id="17" name="text-164"/>
          <p:cNvSpPr txBox="1"/>
          <p:nvPr/>
        </p:nvSpPr>
        <p:spPr>
          <a:xfrm>
            <a:off x="8183880" y="2057400"/>
            <a:ext cx="3456432" cy="731520"/>
          </a:xfrm>
          <a:prstGeom prst="rect">
            <a:avLst/>
          </a:prstGeom>
          <a:noFill/>
          <a:ln/>
        </p:spPr>
        <p:txBody>
          <a:bodyPr wrap="square" lIns="0" tIns="0" rIns="0" bIns="0" rtlCol="0" anchor="ctr"/>
          <a:lstStyle/>
          <a:p>
            <a:pPr indent="0" marL="0">
              <a:buNone/>
            </a:pPr>
            <a:r>
              <a:rPr lang="en-US" sz="1400" dirty="0">
                <a:solidFill>
                  <a:schemeClr val="tx1"/>
                </a:solidFill>
              </a:rPr>
              <a:t>Reads accuracy, response time and correct or incorrect streaks</a:t>
            </a:r>
            <a:endParaRPr lang="en-US" sz="1400" dirty="0"/>
          </a:p>
        </p:txBody>
      </p:sp>
      <p:sp>
        <p:nvSpPr>
          <p:cNvPr id="18" name="engine-FaClock-circle-165"/>
          <p:cNvSpPr/>
          <p:nvPr/>
        </p:nvSpPr>
        <p:spPr>
          <a:xfrm>
            <a:off x="7406640" y="3063240"/>
            <a:ext cx="566928" cy="566928"/>
          </a:xfrm>
          <a:prstGeom prst="ellipse">
            <a:avLst/>
          </a:prstGeom>
          <a:solidFill>
            <a:schemeClr val="accent2"/>
          </a:solidFill>
          <a:ln/>
        </p:spPr>
      </p:sp>
      <p:pic>
        <p:nvPicPr>
          <p:cNvPr id="19" name="engine-FaClock-glyph-166" descr="engine-Clock icon">    </p:cNvPr>
          <p:cNvPicPr>
            <a:picLocks noChangeAspect="1"/>
          </p:cNvPicPr>
          <p:nvPr/>
        </p:nvPicPr>
        <p:blipFill>
          <a:blip r:embed="rId3"/>
          <a:stretch>
            <a:fillRect/>
          </a:stretch>
        </p:blipFill>
        <p:spPr>
          <a:xfrm>
            <a:off x="7542703" y="3199303"/>
            <a:ext cx="294803" cy="294803"/>
          </a:xfrm>
          <a:prstGeom prst="rect">
            <a:avLst/>
          </a:prstGeom>
        </p:spPr>
      </p:pic>
      <p:sp>
        <p:nvSpPr>
          <p:cNvPr id="20" name="text-167"/>
          <p:cNvSpPr txBox="1"/>
          <p:nvPr/>
        </p:nvSpPr>
        <p:spPr>
          <a:xfrm>
            <a:off x="8183880" y="3017520"/>
            <a:ext cx="3456432" cy="731520"/>
          </a:xfrm>
          <a:prstGeom prst="rect">
            <a:avLst/>
          </a:prstGeom>
          <a:noFill/>
          <a:ln/>
        </p:spPr>
        <p:txBody>
          <a:bodyPr wrap="square" lIns="0" tIns="0" rIns="0" bIns="0" rtlCol="0" anchor="ctr"/>
          <a:lstStyle/>
          <a:p>
            <a:pPr indent="0" marL="0">
              <a:buNone/>
            </a:pPr>
            <a:r>
              <a:rPr lang="en-US" sz="1400" dirty="0">
                <a:solidFill>
                  <a:schemeClr val="tx1"/>
                </a:solidFill>
              </a:rPr>
              <a:t>Waits for enough answered questions before adjusting</a:t>
            </a:r>
            <a:endParaRPr lang="en-US" sz="1400" dirty="0"/>
          </a:p>
        </p:txBody>
      </p:sp>
      <p:sp>
        <p:nvSpPr>
          <p:cNvPr id="21" name="engine-FaTrophy-circle-168"/>
          <p:cNvSpPr/>
          <p:nvPr/>
        </p:nvSpPr>
        <p:spPr>
          <a:xfrm>
            <a:off x="7406640" y="4023360"/>
            <a:ext cx="566928" cy="566928"/>
          </a:xfrm>
          <a:prstGeom prst="ellipse">
            <a:avLst/>
          </a:prstGeom>
          <a:solidFill>
            <a:schemeClr val="accent2"/>
          </a:solidFill>
          <a:ln/>
        </p:spPr>
      </p:sp>
      <p:pic>
        <p:nvPicPr>
          <p:cNvPr id="22" name="engine-FaTrophy-glyph-169" descr="engine-Trophy icon">    </p:cNvPr>
          <p:cNvPicPr>
            <a:picLocks noChangeAspect="1"/>
          </p:cNvPicPr>
          <p:nvPr/>
        </p:nvPicPr>
        <p:blipFill>
          <a:blip r:embed="rId4"/>
          <a:stretch>
            <a:fillRect/>
          </a:stretch>
        </p:blipFill>
        <p:spPr>
          <a:xfrm>
            <a:off x="7542703" y="4159423"/>
            <a:ext cx="294803" cy="294803"/>
          </a:xfrm>
          <a:prstGeom prst="rect">
            <a:avLst/>
          </a:prstGeom>
        </p:spPr>
      </p:pic>
      <p:sp>
        <p:nvSpPr>
          <p:cNvPr id="23" name="text-170"/>
          <p:cNvSpPr txBox="1"/>
          <p:nvPr/>
        </p:nvSpPr>
        <p:spPr>
          <a:xfrm>
            <a:off x="8183880" y="3977640"/>
            <a:ext cx="3456432" cy="731520"/>
          </a:xfrm>
          <a:prstGeom prst="rect">
            <a:avLst/>
          </a:prstGeom>
          <a:noFill/>
          <a:ln/>
        </p:spPr>
        <p:txBody>
          <a:bodyPr wrap="square" lIns="0" tIns="0" rIns="0" bIns="0" rtlCol="0" anchor="ctr"/>
          <a:lstStyle/>
          <a:p>
            <a:pPr indent="0" marL="0">
              <a:buNone/>
            </a:pPr>
            <a:r>
              <a:rPr lang="en-US" sz="1400" dirty="0">
                <a:solidFill>
                  <a:schemeClr val="tx1"/>
                </a:solidFill>
              </a:rPr>
              <a:t>Maintains, raises or lowers the level across 5 tiers</a:t>
            </a:r>
            <a:endParaRPr lang="en-US" sz="1400" dirty="0"/>
          </a:p>
        </p:txBody>
      </p:sp>
      <p:sp>
        <p:nvSpPr>
          <p:cNvPr id="24" name="caveat-panel-171"/>
          <p:cNvSpPr/>
          <p:nvPr/>
        </p:nvSpPr>
        <p:spPr>
          <a:xfrm>
            <a:off x="548640" y="5212080"/>
            <a:ext cx="11091672" cy="868680"/>
          </a:xfrm>
          <a:prstGeom prst="roundRect">
            <a:avLst>
              <a:gd name="adj" fmla="val 12632"/>
            </a:avLst>
          </a:prstGeom>
          <a:solidFill>
            <a:schemeClr val="bg2"/>
          </a:solidFill>
          <a:ln/>
        </p:spPr>
      </p:sp>
      <p:sp>
        <p:nvSpPr>
          <p:cNvPr id="25" name="caveat-circle-172"/>
          <p:cNvSpPr/>
          <p:nvPr/>
        </p:nvSpPr>
        <p:spPr>
          <a:xfrm>
            <a:off x="777240" y="5394960"/>
            <a:ext cx="502920" cy="502920"/>
          </a:xfrm>
          <a:prstGeom prst="ellipse">
            <a:avLst/>
          </a:prstGeom>
          <a:solidFill>
            <a:schemeClr val="accent1"/>
          </a:solidFill>
          <a:ln/>
        </p:spPr>
      </p:sp>
      <p:pic>
        <p:nvPicPr>
          <p:cNvPr id="26" name="caveat-glyph-173" descr="caveat icon">    </p:cNvPr>
          <p:cNvPicPr>
            <a:picLocks noChangeAspect="1"/>
          </p:cNvPicPr>
          <p:nvPr/>
        </p:nvPicPr>
        <p:blipFill>
          <a:blip r:embed="rId5"/>
          <a:stretch>
            <a:fillRect/>
          </a:stretch>
        </p:blipFill>
        <p:spPr>
          <a:xfrm>
            <a:off x="897941" y="5515661"/>
            <a:ext cx="261518" cy="261518"/>
          </a:xfrm>
          <a:prstGeom prst="rect">
            <a:avLst/>
          </a:prstGeom>
        </p:spPr>
      </p:pic>
      <p:sp>
        <p:nvSpPr>
          <p:cNvPr id="27" name="text-174"/>
          <p:cNvSpPr txBox="1"/>
          <p:nvPr/>
        </p:nvSpPr>
        <p:spPr>
          <a:xfrm>
            <a:off x="1463040" y="5257800"/>
            <a:ext cx="9966960" cy="777240"/>
          </a:xfrm>
          <a:prstGeom prst="rect">
            <a:avLst/>
          </a:prstGeom>
          <a:noFill/>
          <a:ln/>
        </p:spPr>
        <p:txBody>
          <a:bodyPr wrap="square" lIns="0" tIns="0" rIns="0" bIns="0" rtlCol="0" anchor="ctr"/>
          <a:lstStyle/>
          <a:p>
            <a:pPr indent="0" marL="0">
              <a:buNone/>
            </a:pPr>
            <a:r>
              <a:rPr lang="en-US" sz="1400" b="1" dirty="0">
                <a:solidFill>
                  <a:schemeClr val="tx2"/>
                </a:solidFill>
              </a:rPr>
              <a:t>Sleep adherence is not measured yet. </a:t>
            </a:r>
            <a:pPr indent="0" marL="0">
              <a:buNone/>
            </a:pPr>
            <a:r>
              <a:rPr lang="en-US" sz="1400" dirty="0">
                <a:solidFill>
                  <a:schemeClr val="tx1"/>
                </a:solidFill>
              </a:rPr>
              <a:t>Nightly sleep duration is not recorded, so that component, and any score that depends on it, may show as unavailable rather than a made-up value.</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AI and machine-learning components</a:t>
            </a:r>
            <a:endParaRPr lang="en-US" sz="3600" dirty="0"/>
          </a:p>
        </p:txBody>
      </p:sp>
      <p:sp>
        <p:nvSpPr>
          <p:cNvPr id="4" name="ml-card-175"/>
          <p:cNvSpPr/>
          <p:nvPr/>
        </p:nvSpPr>
        <p:spPr>
          <a:xfrm>
            <a:off x="548640" y="1463040"/>
            <a:ext cx="5394960" cy="1874520"/>
          </a:xfrm>
          <a:prstGeom prst="roundRect">
            <a:avLst>
              <a:gd name="adj" fmla="val 5854"/>
            </a:avLst>
          </a:prstGeom>
          <a:solidFill>
            <a:schemeClr val="bg2"/>
          </a:solidFill>
          <a:ln/>
        </p:spPr>
      </p:sp>
      <p:sp>
        <p:nvSpPr>
          <p:cNvPr id="5" name="Adaptive engine-circle-176"/>
          <p:cNvSpPr/>
          <p:nvPr/>
        </p:nvSpPr>
        <p:spPr>
          <a:xfrm>
            <a:off x="777240" y="1664208"/>
            <a:ext cx="640080" cy="640080"/>
          </a:xfrm>
          <a:prstGeom prst="ellipse">
            <a:avLst/>
          </a:prstGeom>
          <a:solidFill>
            <a:schemeClr val="accent2"/>
          </a:solidFill>
          <a:ln/>
        </p:spPr>
      </p:sp>
      <p:pic>
        <p:nvPicPr>
          <p:cNvPr id="6" name="Adaptive engine-glyph-177" descr="Adaptive engine icon">    </p:cNvPr>
          <p:cNvPicPr>
            <a:picLocks noChangeAspect="1"/>
          </p:cNvPicPr>
          <p:nvPr/>
        </p:nvPicPr>
        <p:blipFill>
          <a:blip r:embed="rId1"/>
          <a:stretch>
            <a:fillRect/>
          </a:stretch>
        </p:blipFill>
        <p:spPr>
          <a:xfrm>
            <a:off x="930859" y="1817827"/>
            <a:ext cx="332842" cy="332842"/>
          </a:xfrm>
          <a:prstGeom prst="rect">
            <a:avLst/>
          </a:prstGeom>
        </p:spPr>
      </p:pic>
      <p:sp>
        <p:nvSpPr>
          <p:cNvPr id="7" name="text-178"/>
          <p:cNvSpPr txBox="1"/>
          <p:nvPr/>
        </p:nvSpPr>
        <p:spPr>
          <a:xfrm>
            <a:off x="1600200" y="1645920"/>
            <a:ext cx="4114800" cy="365760"/>
          </a:xfrm>
          <a:prstGeom prst="rect">
            <a:avLst/>
          </a:prstGeom>
          <a:noFill/>
          <a:ln/>
        </p:spPr>
        <p:txBody>
          <a:bodyPr wrap="square" lIns="0" tIns="0" rIns="0" bIns="0" rtlCol="0" anchor="t"/>
          <a:lstStyle/>
          <a:p>
            <a:pPr indent="0" marL="0">
              <a:buNone/>
            </a:pPr>
            <a:r>
              <a:rPr lang="en-US" sz="1800" b="1" dirty="0">
                <a:solidFill>
                  <a:schemeClr val="tx2"/>
                </a:solidFill>
              </a:rPr>
              <a:t>Adaptive engine</a:t>
            </a:r>
            <a:endParaRPr lang="en-US" sz="1800" dirty="0"/>
          </a:p>
        </p:txBody>
      </p:sp>
      <p:sp>
        <p:nvSpPr>
          <p:cNvPr id="8" name="text-179"/>
          <p:cNvSpPr txBox="1"/>
          <p:nvPr/>
        </p:nvSpPr>
        <p:spPr>
          <a:xfrm>
            <a:off x="1600200" y="2029968"/>
            <a:ext cx="41148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RULES-BASED</a:t>
            </a:r>
            <a:endParaRPr lang="en-US" sz="1200" dirty="0"/>
          </a:p>
        </p:txBody>
      </p:sp>
      <p:sp>
        <p:nvSpPr>
          <p:cNvPr id="9" name="text-180"/>
          <p:cNvSpPr txBox="1"/>
          <p:nvPr/>
        </p:nvSpPr>
        <p:spPr>
          <a:xfrm>
            <a:off x="804672" y="2468880"/>
            <a:ext cx="4892040" cy="777240"/>
          </a:xfrm>
          <a:prstGeom prst="rect">
            <a:avLst/>
          </a:prstGeom>
          <a:noFill/>
          <a:ln/>
        </p:spPr>
        <p:txBody>
          <a:bodyPr wrap="square" lIns="0" tIns="0" rIns="0" bIns="0" rtlCol="0" anchor="t"/>
          <a:lstStyle/>
          <a:p>
            <a:pPr indent="0" marL="0">
              <a:buNone/>
            </a:pPr>
            <a:r>
              <a:rPr lang="en-US" sz="1400" dirty="0">
                <a:solidFill>
                  <a:schemeClr val="tx1"/>
                </a:solidFill>
              </a:rPr>
              <a:t>Adjusts challenge difficulty from accuracy, response time and consecutive correct or incorrect answers.</a:t>
            </a:r>
            <a:endParaRPr lang="en-US" sz="1400" dirty="0"/>
          </a:p>
        </p:txBody>
      </p:sp>
      <p:sp>
        <p:nvSpPr>
          <p:cNvPr id="10" name="ml-card-181"/>
          <p:cNvSpPr/>
          <p:nvPr/>
        </p:nvSpPr>
        <p:spPr>
          <a:xfrm>
            <a:off x="6245352" y="1463040"/>
            <a:ext cx="5394960" cy="1874520"/>
          </a:xfrm>
          <a:prstGeom prst="roundRect">
            <a:avLst>
              <a:gd name="adj" fmla="val 5854"/>
            </a:avLst>
          </a:prstGeom>
          <a:solidFill>
            <a:schemeClr val="bg2"/>
          </a:solidFill>
          <a:ln/>
        </p:spPr>
      </p:sp>
      <p:sp>
        <p:nvSpPr>
          <p:cNvPr id="11" name="XGBoost readiness-circle-182"/>
          <p:cNvSpPr/>
          <p:nvPr/>
        </p:nvSpPr>
        <p:spPr>
          <a:xfrm>
            <a:off x="6473952" y="1664208"/>
            <a:ext cx="640080" cy="640080"/>
          </a:xfrm>
          <a:prstGeom prst="ellipse">
            <a:avLst/>
          </a:prstGeom>
          <a:solidFill>
            <a:schemeClr val="accent3"/>
          </a:solidFill>
          <a:ln/>
        </p:spPr>
      </p:sp>
      <p:pic>
        <p:nvPicPr>
          <p:cNvPr id="12" name="XGBoost readiness-glyph-183" descr="XGBoost readiness icon">    </p:cNvPr>
          <p:cNvPicPr>
            <a:picLocks noChangeAspect="1"/>
          </p:cNvPicPr>
          <p:nvPr/>
        </p:nvPicPr>
        <p:blipFill>
          <a:blip r:embed="rId2"/>
          <a:stretch>
            <a:fillRect/>
          </a:stretch>
        </p:blipFill>
        <p:spPr>
          <a:xfrm>
            <a:off x="6627571" y="1817827"/>
            <a:ext cx="332842" cy="332842"/>
          </a:xfrm>
          <a:prstGeom prst="rect">
            <a:avLst/>
          </a:prstGeom>
        </p:spPr>
      </p:pic>
      <p:sp>
        <p:nvSpPr>
          <p:cNvPr id="13" name="text-184"/>
          <p:cNvSpPr txBox="1"/>
          <p:nvPr/>
        </p:nvSpPr>
        <p:spPr>
          <a:xfrm>
            <a:off x="7296912" y="1645920"/>
            <a:ext cx="4114800" cy="365760"/>
          </a:xfrm>
          <a:prstGeom prst="rect">
            <a:avLst/>
          </a:prstGeom>
          <a:noFill/>
          <a:ln/>
        </p:spPr>
        <p:txBody>
          <a:bodyPr wrap="square" lIns="0" tIns="0" rIns="0" bIns="0" rtlCol="0" anchor="t"/>
          <a:lstStyle/>
          <a:p>
            <a:pPr indent="0" marL="0">
              <a:buNone/>
            </a:pPr>
            <a:r>
              <a:rPr lang="en-US" sz="1800" b="1" dirty="0">
                <a:solidFill>
                  <a:schemeClr val="tx2"/>
                </a:solidFill>
              </a:rPr>
              <a:t>XGBoost readiness</a:t>
            </a:r>
            <a:endParaRPr lang="en-US" sz="1800" dirty="0"/>
          </a:p>
        </p:txBody>
      </p:sp>
      <p:sp>
        <p:nvSpPr>
          <p:cNvPr id="14" name="text-185"/>
          <p:cNvSpPr txBox="1"/>
          <p:nvPr/>
        </p:nvSpPr>
        <p:spPr>
          <a:xfrm>
            <a:off x="7296912" y="2029968"/>
            <a:ext cx="4114800" cy="274320"/>
          </a:xfrm>
          <a:prstGeom prst="rect">
            <a:avLst/>
          </a:prstGeom>
          <a:noFill/>
          <a:ln/>
        </p:spPr>
        <p:txBody>
          <a:bodyPr wrap="square" lIns="0" tIns="0" rIns="0" bIns="0" rtlCol="0" anchor="t"/>
          <a:lstStyle/>
          <a:p>
            <a:pPr indent="0" marL="0">
              <a:buNone/>
            </a:pPr>
            <a:r>
              <a:rPr lang="en-US" sz="1200" b="1" spc="150" kern="0" dirty="0">
                <a:solidFill>
                  <a:schemeClr val="accent3"/>
                </a:solidFill>
              </a:rPr>
              <a:t>GRADIENT BOOSTING</a:t>
            </a:r>
            <a:endParaRPr lang="en-US" sz="1200" dirty="0"/>
          </a:p>
        </p:txBody>
      </p:sp>
      <p:sp>
        <p:nvSpPr>
          <p:cNvPr id="15" name="text-186"/>
          <p:cNvSpPr txBox="1"/>
          <p:nvPr/>
        </p:nvSpPr>
        <p:spPr>
          <a:xfrm>
            <a:off x="6501384" y="2468880"/>
            <a:ext cx="4892040" cy="777240"/>
          </a:xfrm>
          <a:prstGeom prst="rect">
            <a:avLst/>
          </a:prstGeom>
          <a:noFill/>
          <a:ln/>
        </p:spPr>
        <p:txBody>
          <a:bodyPr wrap="square" lIns="0" tIns="0" rIns="0" bIns="0" rtlCol="0" anchor="t"/>
          <a:lstStyle/>
          <a:p>
            <a:pPr indent="0" marL="0">
              <a:buNone/>
            </a:pPr>
            <a:r>
              <a:rPr lang="en-US" sz="1400" dirty="0">
                <a:solidFill>
                  <a:schemeClr val="tx1"/>
                </a:solidFill>
              </a:rPr>
              <a:t>Estimates wake-up readiness from accuracy, response time, snoozes, consistency, sleep adherence, streak and difficulty.</a:t>
            </a:r>
            <a:endParaRPr lang="en-US" sz="1400" dirty="0"/>
          </a:p>
        </p:txBody>
      </p:sp>
      <p:sp>
        <p:nvSpPr>
          <p:cNvPr id="16" name="ml-card-187"/>
          <p:cNvSpPr/>
          <p:nvPr/>
        </p:nvSpPr>
        <p:spPr>
          <a:xfrm>
            <a:off x="548640" y="3520440"/>
            <a:ext cx="5394960" cy="1874520"/>
          </a:xfrm>
          <a:prstGeom prst="roundRect">
            <a:avLst>
              <a:gd name="adj" fmla="val 5854"/>
            </a:avLst>
          </a:prstGeom>
          <a:solidFill>
            <a:schemeClr val="bg2"/>
          </a:solidFill>
          <a:ln/>
        </p:spPr>
      </p:sp>
      <p:sp>
        <p:nvSpPr>
          <p:cNvPr id="17" name="Q-learning policy-circle-188"/>
          <p:cNvSpPr/>
          <p:nvPr/>
        </p:nvSpPr>
        <p:spPr>
          <a:xfrm>
            <a:off x="777240" y="3721608"/>
            <a:ext cx="640080" cy="640080"/>
          </a:xfrm>
          <a:prstGeom prst="ellipse">
            <a:avLst/>
          </a:prstGeom>
          <a:solidFill>
            <a:schemeClr val="accent5"/>
          </a:solidFill>
          <a:ln/>
        </p:spPr>
      </p:sp>
      <p:pic>
        <p:nvPicPr>
          <p:cNvPr id="18" name="Q-learning policy-glyph-189" descr="Q-learning policy icon">    </p:cNvPr>
          <p:cNvPicPr>
            <a:picLocks noChangeAspect="1"/>
          </p:cNvPicPr>
          <p:nvPr/>
        </p:nvPicPr>
        <p:blipFill>
          <a:blip r:embed="rId3"/>
          <a:stretch>
            <a:fillRect/>
          </a:stretch>
        </p:blipFill>
        <p:spPr>
          <a:xfrm>
            <a:off x="930859" y="3875227"/>
            <a:ext cx="332842" cy="332842"/>
          </a:xfrm>
          <a:prstGeom prst="rect">
            <a:avLst/>
          </a:prstGeom>
        </p:spPr>
      </p:pic>
      <p:sp>
        <p:nvSpPr>
          <p:cNvPr id="19" name="text-190"/>
          <p:cNvSpPr txBox="1"/>
          <p:nvPr/>
        </p:nvSpPr>
        <p:spPr>
          <a:xfrm>
            <a:off x="1600200" y="3703320"/>
            <a:ext cx="4114800" cy="365760"/>
          </a:xfrm>
          <a:prstGeom prst="rect">
            <a:avLst/>
          </a:prstGeom>
          <a:noFill/>
          <a:ln/>
        </p:spPr>
        <p:txBody>
          <a:bodyPr wrap="square" lIns="0" tIns="0" rIns="0" bIns="0" rtlCol="0" anchor="t"/>
          <a:lstStyle/>
          <a:p>
            <a:pPr indent="0" marL="0">
              <a:buNone/>
            </a:pPr>
            <a:r>
              <a:rPr lang="en-US" sz="1800" b="1" dirty="0">
                <a:solidFill>
                  <a:schemeClr val="tx2"/>
                </a:solidFill>
              </a:rPr>
              <a:t>Q-learning policy</a:t>
            </a:r>
            <a:endParaRPr lang="en-US" sz="1800" dirty="0"/>
          </a:p>
        </p:txBody>
      </p:sp>
      <p:sp>
        <p:nvSpPr>
          <p:cNvPr id="20" name="text-191"/>
          <p:cNvSpPr txBox="1"/>
          <p:nvPr/>
        </p:nvSpPr>
        <p:spPr>
          <a:xfrm>
            <a:off x="1600200" y="4087368"/>
            <a:ext cx="411480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REINFORCEMENT LEARNING</a:t>
            </a:r>
            <a:endParaRPr lang="en-US" sz="1200" dirty="0"/>
          </a:p>
        </p:txBody>
      </p:sp>
      <p:sp>
        <p:nvSpPr>
          <p:cNvPr id="21" name="text-192"/>
          <p:cNvSpPr txBox="1"/>
          <p:nvPr/>
        </p:nvSpPr>
        <p:spPr>
          <a:xfrm>
            <a:off x="804672" y="4526280"/>
            <a:ext cx="4892040" cy="777240"/>
          </a:xfrm>
          <a:prstGeom prst="rect">
            <a:avLst/>
          </a:prstGeom>
          <a:noFill/>
          <a:ln/>
        </p:spPr>
        <p:txBody>
          <a:bodyPr wrap="square" lIns="0" tIns="0" rIns="0" bIns="0" rtlCol="0" anchor="t"/>
          <a:lstStyle/>
          <a:p>
            <a:pPr indent="0" marL="0">
              <a:buNone/>
            </a:pPr>
            <a:r>
              <a:rPr lang="en-US" sz="1400" dirty="0">
                <a:solidFill>
                  <a:schemeClr val="tx1"/>
                </a:solidFill>
              </a:rPr>
              <a:t>Represents user context as a state and recommends actions such as changing difficulty or choosing a category.</a:t>
            </a:r>
            <a:endParaRPr lang="en-US" sz="1400" dirty="0"/>
          </a:p>
        </p:txBody>
      </p:sp>
      <p:sp>
        <p:nvSpPr>
          <p:cNvPr id="22" name="ml-card-193"/>
          <p:cNvSpPr/>
          <p:nvPr/>
        </p:nvSpPr>
        <p:spPr>
          <a:xfrm>
            <a:off x="6245352" y="3520440"/>
            <a:ext cx="5394960" cy="1874520"/>
          </a:xfrm>
          <a:prstGeom prst="roundRect">
            <a:avLst>
              <a:gd name="adj" fmla="val 5854"/>
            </a:avLst>
          </a:prstGeom>
          <a:solidFill>
            <a:schemeClr val="bg2"/>
          </a:solidFill>
          <a:ln/>
        </p:spPr>
      </p:sp>
      <p:sp>
        <p:nvSpPr>
          <p:cNvPr id="23" name="Recommendations-circle-194"/>
          <p:cNvSpPr/>
          <p:nvPr/>
        </p:nvSpPr>
        <p:spPr>
          <a:xfrm>
            <a:off x="6473952" y="3721608"/>
            <a:ext cx="640080" cy="640080"/>
          </a:xfrm>
          <a:prstGeom prst="ellipse">
            <a:avLst/>
          </a:prstGeom>
          <a:solidFill>
            <a:schemeClr val="accent4"/>
          </a:solidFill>
          <a:ln/>
        </p:spPr>
      </p:sp>
      <p:pic>
        <p:nvPicPr>
          <p:cNvPr id="24" name="Recommendations-glyph-195" descr="Recommendations icon">    </p:cNvPr>
          <p:cNvPicPr>
            <a:picLocks noChangeAspect="1"/>
          </p:cNvPicPr>
          <p:nvPr/>
        </p:nvPicPr>
        <p:blipFill>
          <a:blip r:embed="rId4"/>
          <a:stretch>
            <a:fillRect/>
          </a:stretch>
        </p:blipFill>
        <p:spPr>
          <a:xfrm>
            <a:off x="6627571" y="3875227"/>
            <a:ext cx="332842" cy="332842"/>
          </a:xfrm>
          <a:prstGeom prst="rect">
            <a:avLst/>
          </a:prstGeom>
        </p:spPr>
      </p:pic>
      <p:sp>
        <p:nvSpPr>
          <p:cNvPr id="25" name="text-196"/>
          <p:cNvSpPr txBox="1"/>
          <p:nvPr/>
        </p:nvSpPr>
        <p:spPr>
          <a:xfrm>
            <a:off x="7296912" y="3703320"/>
            <a:ext cx="4114800" cy="365760"/>
          </a:xfrm>
          <a:prstGeom prst="rect">
            <a:avLst/>
          </a:prstGeom>
          <a:noFill/>
          <a:ln/>
        </p:spPr>
        <p:txBody>
          <a:bodyPr wrap="square" lIns="0" tIns="0" rIns="0" bIns="0" rtlCol="0" anchor="t"/>
          <a:lstStyle/>
          <a:p>
            <a:pPr indent="0" marL="0">
              <a:buNone/>
            </a:pPr>
            <a:r>
              <a:rPr lang="en-US" sz="1800" b="1" dirty="0">
                <a:solidFill>
                  <a:schemeClr val="tx2"/>
                </a:solidFill>
              </a:rPr>
              <a:t>Recommendations</a:t>
            </a:r>
            <a:endParaRPr lang="en-US" sz="1800" dirty="0"/>
          </a:p>
        </p:txBody>
      </p:sp>
      <p:sp>
        <p:nvSpPr>
          <p:cNvPr id="26" name="text-197"/>
          <p:cNvSpPr txBox="1"/>
          <p:nvPr/>
        </p:nvSpPr>
        <p:spPr>
          <a:xfrm>
            <a:off x="7296912" y="4087368"/>
            <a:ext cx="4114800" cy="274320"/>
          </a:xfrm>
          <a:prstGeom prst="rect">
            <a:avLst/>
          </a:prstGeom>
          <a:noFill/>
          <a:ln/>
        </p:spPr>
        <p:txBody>
          <a:bodyPr wrap="square" lIns="0" tIns="0" rIns="0" bIns="0" rtlCol="0" anchor="t"/>
          <a:lstStyle/>
          <a:p>
            <a:pPr indent="0" marL="0">
              <a:buNone/>
            </a:pPr>
            <a:r>
              <a:rPr lang="en-US" sz="1200" b="1" spc="150" kern="0" dirty="0">
                <a:solidFill>
                  <a:schemeClr val="accent4"/>
                </a:solidFill>
              </a:rPr>
              <a:t>ANALYTICS SERVICES</a:t>
            </a:r>
            <a:endParaRPr lang="en-US" sz="1200" dirty="0"/>
          </a:p>
        </p:txBody>
      </p:sp>
      <p:sp>
        <p:nvSpPr>
          <p:cNvPr id="27" name="text-198"/>
          <p:cNvSpPr txBox="1"/>
          <p:nvPr/>
        </p:nvSpPr>
        <p:spPr>
          <a:xfrm>
            <a:off x="6501384" y="4526280"/>
            <a:ext cx="4892040" cy="777240"/>
          </a:xfrm>
          <a:prstGeom prst="rect">
            <a:avLst/>
          </a:prstGeom>
          <a:noFill/>
          <a:ln/>
        </p:spPr>
        <p:txBody>
          <a:bodyPr wrap="square" lIns="0" tIns="0" rIns="0" bIns="0" rtlCol="0" anchor="t"/>
          <a:lstStyle/>
          <a:p>
            <a:pPr indent="0" marL="0">
              <a:buNone/>
            </a:pPr>
            <a:r>
              <a:rPr lang="en-US" sz="1400" dirty="0">
                <a:solidFill>
                  <a:schemeClr val="tx1"/>
                </a:solidFill>
              </a:rPr>
              <a:t>Turns recorded activity into dashboard insights and post-alarm guidance.</a:t>
            </a:r>
            <a:endParaRPr lang="en-US" sz="1400" dirty="0"/>
          </a:p>
        </p:txBody>
      </p:sp>
      <p:sp>
        <p:nvSpPr>
          <p:cNvPr id="28" name="ml-caveat-199"/>
          <p:cNvSpPr/>
          <p:nvPr/>
        </p:nvSpPr>
        <p:spPr>
          <a:xfrm>
            <a:off x="548640" y="5623560"/>
            <a:ext cx="11091672" cy="640080"/>
          </a:xfrm>
          <a:prstGeom prst="roundRect">
            <a:avLst>
              <a:gd name="adj" fmla="val 17143"/>
            </a:avLst>
          </a:prstGeom>
          <a:solidFill>
            <a:schemeClr val="tx2"/>
          </a:solidFill>
          <a:ln/>
        </p:spPr>
      </p:sp>
      <p:sp>
        <p:nvSpPr>
          <p:cNvPr id="29" name="text-200"/>
          <p:cNvSpPr txBox="1"/>
          <p:nvPr/>
        </p:nvSpPr>
        <p:spPr>
          <a:xfrm>
            <a:off x="822960" y="5623560"/>
            <a:ext cx="10561320" cy="640080"/>
          </a:xfrm>
          <a:prstGeom prst="rect">
            <a:avLst/>
          </a:prstGeom>
          <a:noFill/>
          <a:ln/>
        </p:spPr>
        <p:txBody>
          <a:bodyPr wrap="square" lIns="0" tIns="0" rIns="0" bIns="0" rtlCol="0" anchor="ctr"/>
          <a:lstStyle/>
          <a:p>
            <a:pPr indent="0" marL="0">
              <a:buNone/>
            </a:pPr>
            <a:r>
              <a:rPr lang="en-US" sz="1400" b="1" dirty="0">
                <a:solidFill>
                  <a:schemeClr val="accent1"/>
                </a:solidFill>
              </a:rPr>
              <a:t>Not a conversational AI. </a:t>
            </a:r>
            <a:pPr indent="0" marL="0">
              <a:buNone/>
            </a:pPr>
            <a:r>
              <a:rPr lang="en-US" sz="1400" dirty="0">
                <a:solidFill>
                  <a:schemeClr val="bg1"/>
                </a:solidFill>
              </a:rPr>
              <a:t>The XGBoost script can generate a baseline dataset, so treat readiness predictions as experimental.</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Architecture and technology</a:t>
            </a:r>
            <a:endParaRPr lang="en-US" sz="3600" dirty="0"/>
          </a:p>
        </p:txBody>
      </p:sp>
      <p:sp>
        <p:nvSpPr>
          <p:cNvPr id="4" name="frontend-box-201"/>
          <p:cNvSpPr/>
          <p:nvPr/>
        </p:nvSpPr>
        <p:spPr>
          <a:xfrm>
            <a:off x="548640" y="1508760"/>
            <a:ext cx="2926080" cy="3429000"/>
          </a:xfrm>
          <a:prstGeom prst="roundRect">
            <a:avLst>
              <a:gd name="adj" fmla="val 3750"/>
            </a:avLst>
          </a:prstGeom>
          <a:solidFill>
            <a:schemeClr val="accent2"/>
          </a:solidFill>
          <a:ln/>
        </p:spPr>
      </p:sp>
      <p:sp>
        <p:nvSpPr>
          <p:cNvPr id="5" name="frontend-circle-202"/>
          <p:cNvSpPr/>
          <p:nvPr/>
        </p:nvSpPr>
        <p:spPr>
          <a:xfrm>
            <a:off x="822960" y="1737360"/>
            <a:ext cx="640080" cy="640080"/>
          </a:xfrm>
          <a:prstGeom prst="ellipse">
            <a:avLst/>
          </a:prstGeom>
          <a:solidFill>
            <a:schemeClr val="bg1"/>
          </a:solidFill>
          <a:ln/>
        </p:spPr>
      </p:sp>
      <p:pic>
        <p:nvPicPr>
          <p:cNvPr id="6" name="frontend-glyph-203" descr="frontend icon">    </p:cNvPr>
          <p:cNvPicPr>
            <a:picLocks noChangeAspect="1"/>
          </p:cNvPicPr>
          <p:nvPr/>
        </p:nvPicPr>
        <p:blipFill>
          <a:blip r:embed="rId1"/>
          <a:stretch>
            <a:fillRect/>
          </a:stretch>
        </p:blipFill>
        <p:spPr>
          <a:xfrm>
            <a:off x="976579" y="1890979"/>
            <a:ext cx="332842" cy="332842"/>
          </a:xfrm>
          <a:prstGeom prst="rect">
            <a:avLst/>
          </a:prstGeom>
        </p:spPr>
      </p:pic>
      <p:sp>
        <p:nvSpPr>
          <p:cNvPr id="7" name="text-204"/>
          <p:cNvSpPr txBox="1"/>
          <p:nvPr/>
        </p:nvSpPr>
        <p:spPr>
          <a:xfrm>
            <a:off x="822960" y="2514600"/>
            <a:ext cx="2468880" cy="365760"/>
          </a:xfrm>
          <a:prstGeom prst="rect">
            <a:avLst/>
          </a:prstGeom>
          <a:noFill/>
          <a:ln/>
        </p:spPr>
        <p:txBody>
          <a:bodyPr wrap="square" lIns="0" tIns="0" rIns="0" bIns="0" rtlCol="0" anchor="t"/>
          <a:lstStyle/>
          <a:p>
            <a:pPr indent="0" marL="0">
              <a:buNone/>
            </a:pPr>
            <a:r>
              <a:rPr lang="en-US" sz="1800" b="1" dirty="0">
                <a:solidFill>
                  <a:schemeClr val="bg1"/>
                </a:solidFill>
              </a:rPr>
              <a:t>React + Vite</a:t>
            </a:r>
            <a:endParaRPr lang="en-US" sz="1800" dirty="0"/>
          </a:p>
        </p:txBody>
      </p:sp>
      <p:sp>
        <p:nvSpPr>
          <p:cNvPr id="8" name="text-205"/>
          <p:cNvSpPr txBox="1"/>
          <p:nvPr/>
        </p:nvSpPr>
        <p:spPr>
          <a:xfrm>
            <a:off x="822960" y="2971800"/>
            <a:ext cx="246888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Axios for API calls</a:t>
            </a:r>
            <a:endParaRPr lang="en-US" sz="1400" dirty="0"/>
          </a:p>
          <a:p>
            <a:pPr marL="342900" indent="-342900">
              <a:spcAft>
                <a:spcPts val="600"/>
              </a:spcAft>
              <a:buSzPct val="100000"/>
              <a:buChar char="•"/>
            </a:pPr>
            <a:r>
              <a:rPr lang="en-US" sz="1400" dirty="0">
                <a:solidFill>
                  <a:schemeClr val="bg1"/>
                </a:solidFill>
              </a:rPr>
              <a:t>Recharts visualizations</a:t>
            </a:r>
            <a:endParaRPr lang="en-US" sz="1400" dirty="0"/>
          </a:p>
          <a:p>
            <a:pPr marL="342900" indent="-342900">
              <a:spcAft>
                <a:spcPts val="600"/>
              </a:spcAft>
              <a:buSzPct val="100000"/>
              <a:buChar char="•"/>
            </a:pPr>
            <a:r>
              <a:rPr lang="en-US" sz="1400" dirty="0">
                <a:solidFill>
                  <a:schemeClr val="bg1"/>
                </a:solidFill>
              </a:rPr>
              <a:t>Browser alarm scheduler</a:t>
            </a:r>
            <a:endParaRPr lang="en-US" sz="1400" dirty="0"/>
          </a:p>
        </p:txBody>
      </p:sp>
      <p:sp>
        <p:nvSpPr>
          <p:cNvPr id="9" name="text-206"/>
          <p:cNvSpPr txBox="1"/>
          <p:nvPr/>
        </p:nvSpPr>
        <p:spPr>
          <a:xfrm>
            <a:off x="822960" y="4526280"/>
            <a:ext cx="2468880" cy="274320"/>
          </a:xfrm>
          <a:prstGeom prst="rect">
            <a:avLst/>
          </a:prstGeom>
          <a:noFill/>
          <a:ln/>
        </p:spPr>
        <p:txBody>
          <a:bodyPr wrap="square" lIns="0" tIns="0" rIns="0" bIns="0" rtlCol="0" anchor="t"/>
          <a:lstStyle/>
          <a:p>
            <a:pPr indent="0" marL="0">
              <a:buNone/>
            </a:pPr>
            <a:r>
              <a:rPr lang="en-US" sz="1200" i="1" dirty="0">
                <a:solidFill>
                  <a:schemeClr val="bg2"/>
                </a:solidFill>
              </a:rPr>
              <a:t>Runs in the browser</a:t>
            </a:r>
            <a:endParaRPr lang="en-US" sz="1200" dirty="0"/>
          </a:p>
        </p:txBody>
      </p:sp>
      <p:sp>
        <p:nvSpPr>
          <p:cNvPr id="10" name="backend-box-207"/>
          <p:cNvSpPr/>
          <p:nvPr/>
        </p:nvSpPr>
        <p:spPr>
          <a:xfrm>
            <a:off x="4572000" y="1508760"/>
            <a:ext cx="3017520" cy="3429000"/>
          </a:xfrm>
          <a:prstGeom prst="roundRect">
            <a:avLst>
              <a:gd name="adj" fmla="val 3636"/>
            </a:avLst>
          </a:prstGeom>
          <a:solidFill>
            <a:schemeClr val="tx2"/>
          </a:solidFill>
          <a:ln/>
        </p:spPr>
      </p:sp>
      <p:sp>
        <p:nvSpPr>
          <p:cNvPr id="11" name="backend-circle-208"/>
          <p:cNvSpPr/>
          <p:nvPr/>
        </p:nvSpPr>
        <p:spPr>
          <a:xfrm>
            <a:off x="4846320" y="1737360"/>
            <a:ext cx="640080" cy="640080"/>
          </a:xfrm>
          <a:prstGeom prst="ellipse">
            <a:avLst/>
          </a:prstGeom>
          <a:solidFill>
            <a:schemeClr val="accent1"/>
          </a:solidFill>
          <a:ln/>
        </p:spPr>
      </p:sp>
      <p:pic>
        <p:nvPicPr>
          <p:cNvPr id="12" name="backend-glyph-209" descr="backend icon">    </p:cNvPr>
          <p:cNvPicPr>
            <a:picLocks noChangeAspect="1"/>
          </p:cNvPicPr>
          <p:nvPr/>
        </p:nvPicPr>
        <p:blipFill>
          <a:blip r:embed="rId2"/>
          <a:stretch>
            <a:fillRect/>
          </a:stretch>
        </p:blipFill>
        <p:spPr>
          <a:xfrm>
            <a:off x="4999939" y="1890979"/>
            <a:ext cx="332842" cy="332842"/>
          </a:xfrm>
          <a:prstGeom prst="rect">
            <a:avLst/>
          </a:prstGeom>
        </p:spPr>
      </p:pic>
      <p:sp>
        <p:nvSpPr>
          <p:cNvPr id="13" name="text-210"/>
          <p:cNvSpPr txBox="1"/>
          <p:nvPr/>
        </p:nvSpPr>
        <p:spPr>
          <a:xfrm>
            <a:off x="4846320" y="2514600"/>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FastAPI REST API</a:t>
            </a:r>
            <a:endParaRPr lang="en-US" sz="1800" dirty="0"/>
          </a:p>
        </p:txBody>
      </p:sp>
      <p:sp>
        <p:nvSpPr>
          <p:cNvPr id="14" name="text-211"/>
          <p:cNvSpPr txBox="1"/>
          <p:nvPr/>
        </p:nvSpPr>
        <p:spPr>
          <a:xfrm>
            <a:off x="4846320" y="2971800"/>
            <a:ext cx="25603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Auth, alarms, challenges</a:t>
            </a:r>
            <a:endParaRPr lang="en-US" sz="1400" dirty="0"/>
          </a:p>
          <a:p>
            <a:pPr marL="342900" indent="-342900">
              <a:spcAft>
                <a:spcPts val="600"/>
              </a:spcAft>
              <a:buSzPct val="100000"/>
              <a:buChar char="•"/>
            </a:pPr>
            <a:r>
              <a:rPr lang="en-US" sz="1400" dirty="0">
                <a:solidFill>
                  <a:schemeClr val="bg1"/>
                </a:solidFill>
              </a:rPr>
              <a:t>Profiles, dashboards, reports</a:t>
            </a:r>
            <a:endParaRPr lang="en-US" sz="1400" dirty="0"/>
          </a:p>
          <a:p>
            <a:pPr marL="342900" indent="-342900">
              <a:spcAft>
                <a:spcPts val="600"/>
              </a:spcAft>
              <a:buSzPct val="100000"/>
              <a:buChar char="•"/>
            </a:pPr>
            <a:r>
              <a:rPr lang="en-US" sz="1400" dirty="0">
                <a:solidFill>
                  <a:schemeClr val="bg1"/>
                </a:solidFill>
              </a:rPr>
              <a:t>Notifications, coaches, admin</a:t>
            </a:r>
            <a:endParaRPr lang="en-US" sz="1400" dirty="0"/>
          </a:p>
          <a:p>
            <a:pPr marL="342900" indent="-342900">
              <a:spcAft>
                <a:spcPts val="600"/>
              </a:spcAft>
              <a:buSzPct val="100000"/>
              <a:buChar char="•"/>
            </a:pPr>
            <a:r>
              <a:rPr lang="en-US" sz="1400" dirty="0">
                <a:solidFill>
                  <a:schemeClr val="bg1"/>
                </a:solidFill>
              </a:rPr>
              <a:t>Machine-learning endpoints</a:t>
            </a:r>
            <a:endParaRPr lang="en-US" sz="1400" dirty="0"/>
          </a:p>
        </p:txBody>
      </p:sp>
      <p:sp>
        <p:nvSpPr>
          <p:cNvPr id="15" name="text-212"/>
          <p:cNvSpPr txBox="1"/>
          <p:nvPr/>
        </p:nvSpPr>
        <p:spPr>
          <a:xfrm>
            <a:off x="4846320" y="4526280"/>
            <a:ext cx="2560320" cy="274320"/>
          </a:xfrm>
          <a:prstGeom prst="rect">
            <a:avLst/>
          </a:prstGeom>
          <a:noFill/>
          <a:ln/>
        </p:spPr>
        <p:txBody>
          <a:bodyPr wrap="square" lIns="0" tIns="0" rIns="0" bIns="0" rtlCol="0" anchor="t"/>
          <a:lstStyle/>
          <a:p>
            <a:pPr indent="0" marL="0">
              <a:buNone/>
            </a:pPr>
            <a:r>
              <a:rPr lang="en-US" sz="1200" i="1" dirty="0">
                <a:solidFill>
                  <a:schemeClr val="bg2"/>
                </a:solidFill>
              </a:rPr>
              <a:t>Bearer-token secured</a:t>
            </a:r>
            <a:endParaRPr lang="en-US" sz="1200" dirty="0"/>
          </a:p>
        </p:txBody>
      </p:sp>
      <p:sp>
        <p:nvSpPr>
          <p:cNvPr id="16" name="data-box-213"/>
          <p:cNvSpPr/>
          <p:nvPr/>
        </p:nvSpPr>
        <p:spPr>
          <a:xfrm>
            <a:off x="8503920" y="1508760"/>
            <a:ext cx="3136392" cy="1051560"/>
          </a:xfrm>
          <a:prstGeom prst="roundRect">
            <a:avLst>
              <a:gd name="adj" fmla="val 10435"/>
            </a:avLst>
          </a:prstGeom>
          <a:solidFill>
            <a:schemeClr val="bg2"/>
          </a:solidFill>
          <a:ln/>
        </p:spPr>
      </p:sp>
      <p:sp>
        <p:nvSpPr>
          <p:cNvPr id="17" name="text-214"/>
          <p:cNvSpPr txBox="1"/>
          <p:nvPr/>
        </p:nvSpPr>
        <p:spPr>
          <a:xfrm>
            <a:off x="8686800" y="1563624"/>
            <a:ext cx="2788920" cy="941832"/>
          </a:xfrm>
          <a:prstGeom prst="rect">
            <a:avLst/>
          </a:prstGeom>
          <a:noFill/>
          <a:ln/>
        </p:spPr>
        <p:txBody>
          <a:bodyPr wrap="square" lIns="0" tIns="0" rIns="0" bIns="0" rtlCol="0" anchor="ctr"/>
          <a:lstStyle/>
          <a:p>
            <a:pPr indent="0" marL="0">
              <a:buNone/>
            </a:pPr>
            <a:r>
              <a:rPr lang="en-US" sz="1600" b="1" dirty="0">
                <a:solidFill>
                  <a:schemeClr val="tx2"/>
                </a:solidFill>
              </a:rPr>
              <a:t>SQLAlchemy to database</a:t>
            </a:r>
            <a:endParaRPr lang="en-US" sz="1400" dirty="0"/>
          </a:p>
          <a:p>
            <a:pPr indent="0" marL="0">
              <a:buNone/>
            </a:pPr>
            <a:r>
              <a:rPr lang="en-US" sz="1400" dirty="0">
                <a:solidFill>
                  <a:schemeClr val="tx1"/>
                </a:solidFill>
              </a:rPr>
              <a:t>SQLite locally, PostgreSQL in Docker</a:t>
            </a:r>
            <a:endParaRPr lang="en-US" sz="1400" dirty="0"/>
          </a:p>
        </p:txBody>
      </p:sp>
      <p:sp>
        <p:nvSpPr>
          <p:cNvPr id="18" name="data-box-215"/>
          <p:cNvSpPr/>
          <p:nvPr/>
        </p:nvSpPr>
        <p:spPr>
          <a:xfrm>
            <a:off x="8503920" y="2697480"/>
            <a:ext cx="3136392" cy="1051560"/>
          </a:xfrm>
          <a:prstGeom prst="roundRect">
            <a:avLst>
              <a:gd name="adj" fmla="val 10435"/>
            </a:avLst>
          </a:prstGeom>
          <a:solidFill>
            <a:schemeClr val="bg2"/>
          </a:solidFill>
          <a:ln/>
        </p:spPr>
      </p:sp>
      <p:sp>
        <p:nvSpPr>
          <p:cNvPr id="19" name="text-216"/>
          <p:cNvSpPr txBox="1"/>
          <p:nvPr/>
        </p:nvSpPr>
        <p:spPr>
          <a:xfrm>
            <a:off x="8686800" y="2752344"/>
            <a:ext cx="2788920" cy="941832"/>
          </a:xfrm>
          <a:prstGeom prst="rect">
            <a:avLst/>
          </a:prstGeom>
          <a:noFill/>
          <a:ln/>
        </p:spPr>
        <p:txBody>
          <a:bodyPr wrap="square" lIns="0" tIns="0" rIns="0" bIns="0" rtlCol="0" anchor="ctr"/>
          <a:lstStyle/>
          <a:p>
            <a:pPr indent="0" marL="0">
              <a:buNone/>
            </a:pPr>
            <a:r>
              <a:rPr lang="en-US" sz="1600" b="1" dirty="0">
                <a:solidFill>
                  <a:schemeClr val="tx2"/>
                </a:solidFill>
              </a:rPr>
              <a:t>Core services</a:t>
            </a:r>
            <a:endParaRPr lang="en-US" sz="1400" dirty="0"/>
          </a:p>
          <a:p>
            <a:pPr indent="0" marL="0">
              <a:buNone/>
            </a:pPr>
            <a:r>
              <a:rPr lang="en-US" sz="1400" dirty="0">
                <a:solidFill>
                  <a:schemeClr val="tx1"/>
                </a:solidFill>
              </a:rPr>
              <a:t>Analytics, challenge and recommendation logic</a:t>
            </a:r>
            <a:endParaRPr lang="en-US" sz="1400" dirty="0"/>
          </a:p>
        </p:txBody>
      </p:sp>
      <p:sp>
        <p:nvSpPr>
          <p:cNvPr id="20" name="data-box-217"/>
          <p:cNvSpPr/>
          <p:nvPr/>
        </p:nvSpPr>
        <p:spPr>
          <a:xfrm>
            <a:off x="8503920" y="3886200"/>
            <a:ext cx="3136392" cy="1051560"/>
          </a:xfrm>
          <a:prstGeom prst="roundRect">
            <a:avLst>
              <a:gd name="adj" fmla="val 10435"/>
            </a:avLst>
          </a:prstGeom>
          <a:solidFill>
            <a:schemeClr val="bg2"/>
          </a:solidFill>
          <a:ln/>
        </p:spPr>
      </p:sp>
      <p:sp>
        <p:nvSpPr>
          <p:cNvPr id="21" name="text-218"/>
          <p:cNvSpPr txBox="1"/>
          <p:nvPr/>
        </p:nvSpPr>
        <p:spPr>
          <a:xfrm>
            <a:off x="8686800" y="3941064"/>
            <a:ext cx="2788920" cy="941832"/>
          </a:xfrm>
          <a:prstGeom prst="rect">
            <a:avLst/>
          </a:prstGeom>
          <a:noFill/>
          <a:ln/>
        </p:spPr>
        <p:txBody>
          <a:bodyPr wrap="square" lIns="0" tIns="0" rIns="0" bIns="0" rtlCol="0" anchor="ctr"/>
          <a:lstStyle/>
          <a:p>
            <a:pPr indent="0" marL="0">
              <a:buNone/>
            </a:pPr>
            <a:r>
              <a:rPr lang="en-US" sz="1600" b="1" dirty="0">
                <a:solidFill>
                  <a:schemeClr val="tx2"/>
                </a:solidFill>
              </a:rPr>
              <a:t>ML and telemetry</a:t>
            </a:r>
            <a:endParaRPr lang="en-US" sz="1400" dirty="0"/>
          </a:p>
          <a:p>
            <a:pPr indent="0" marL="0">
              <a:buNone/>
            </a:pPr>
            <a:r>
              <a:rPr lang="en-US" sz="1400" dirty="0">
                <a:solidFill>
                  <a:schemeClr val="tx1"/>
                </a:solidFill>
              </a:rPr>
              <a:t>XGBoost, Q-learning; optional MongoDB with JSONL fallback</a:t>
            </a:r>
            <a:endParaRPr lang="en-US" sz="1400" dirty="0"/>
          </a:p>
        </p:txBody>
      </p:sp>
      <p:sp>
        <p:nvSpPr>
          <p:cNvPr id="22" name="arrow-ui-api-219"/>
          <p:cNvSpPr/>
          <p:nvPr/>
        </p:nvSpPr>
        <p:spPr>
          <a:xfrm>
            <a:off x="3566160" y="3218688"/>
            <a:ext cx="914400" cy="0"/>
          </a:xfrm>
          <a:prstGeom prst="line">
            <a:avLst/>
          </a:prstGeom>
          <a:noFill/>
          <a:ln w="38100">
            <a:solidFill>
              <a:schemeClr val="accent1"/>
            </a:solidFill>
            <a:prstDash val="solid"/>
            <a:tailEnd type="triangle"/>
          </a:ln>
        </p:spPr>
      </p:sp>
      <p:sp>
        <p:nvSpPr>
          <p:cNvPr id="23" name="arrow-api-data-220"/>
          <p:cNvSpPr/>
          <p:nvPr/>
        </p:nvSpPr>
        <p:spPr>
          <a:xfrm>
            <a:off x="7680960" y="3218688"/>
            <a:ext cx="731520" cy="0"/>
          </a:xfrm>
          <a:prstGeom prst="line">
            <a:avLst/>
          </a:prstGeom>
          <a:noFill/>
          <a:ln w="38100">
            <a:solidFill>
              <a:schemeClr val="accent1"/>
            </a:solidFill>
            <a:prstDash val="solid"/>
            <a:tailEnd type="triangle"/>
          </a:ln>
        </p:spPr>
      </p:sp>
      <p:sp>
        <p:nvSpPr>
          <p:cNvPr id="24" name="text-221"/>
          <p:cNvSpPr txBox="1"/>
          <p:nvPr/>
        </p:nvSpPr>
        <p:spPr>
          <a:xfrm>
            <a:off x="3474720" y="2834640"/>
            <a:ext cx="1097280" cy="274320"/>
          </a:xfrm>
          <a:prstGeom prst="rect">
            <a:avLst/>
          </a:prstGeom>
          <a:noFill/>
          <a:ln/>
        </p:spPr>
        <p:txBody>
          <a:bodyPr wrap="square" lIns="0" tIns="0" rIns="0" bIns="0" rtlCol="0" anchor="t"/>
          <a:lstStyle/>
          <a:p>
            <a:pPr algn="ctr" indent="0" marL="0">
              <a:buNone/>
            </a:pPr>
            <a:r>
              <a:rPr lang="en-US" sz="1200" b="1" dirty="0">
                <a:solidFill>
                  <a:schemeClr val="accent6"/>
                </a:solidFill>
              </a:rPr>
              <a:t>HTTP + JWT</a:t>
            </a:r>
            <a:endParaRPr lang="en-US" sz="1200" dirty="0"/>
          </a:p>
        </p:txBody>
      </p:sp>
      <p:sp>
        <p:nvSpPr>
          <p:cNvPr id="25" name="docker-strip-222"/>
          <p:cNvSpPr/>
          <p:nvPr/>
        </p:nvSpPr>
        <p:spPr>
          <a:xfrm>
            <a:off x="548640" y="5257800"/>
            <a:ext cx="11091672" cy="777240"/>
          </a:xfrm>
          <a:prstGeom prst="roundRect">
            <a:avLst>
              <a:gd name="adj" fmla="val 14118"/>
            </a:avLst>
          </a:prstGeom>
          <a:solidFill>
            <a:schemeClr val="bg2"/>
          </a:solidFill>
          <a:ln/>
        </p:spPr>
      </p:sp>
      <p:sp>
        <p:nvSpPr>
          <p:cNvPr id="26" name="docker-circle-223"/>
          <p:cNvSpPr/>
          <p:nvPr/>
        </p:nvSpPr>
        <p:spPr>
          <a:xfrm>
            <a:off x="777240" y="5349240"/>
            <a:ext cx="594360" cy="594360"/>
          </a:xfrm>
          <a:prstGeom prst="ellipse">
            <a:avLst/>
          </a:prstGeom>
          <a:solidFill>
            <a:schemeClr val="accent5"/>
          </a:solidFill>
          <a:ln/>
        </p:spPr>
      </p:sp>
      <p:pic>
        <p:nvPicPr>
          <p:cNvPr id="27" name="docker-glyph-224" descr="docker icon">    </p:cNvPr>
          <p:cNvPicPr>
            <a:picLocks noChangeAspect="1"/>
          </p:cNvPicPr>
          <p:nvPr/>
        </p:nvPicPr>
        <p:blipFill>
          <a:blip r:embed="rId3"/>
          <a:stretch>
            <a:fillRect/>
          </a:stretch>
        </p:blipFill>
        <p:spPr>
          <a:xfrm>
            <a:off x="919886" y="5491886"/>
            <a:ext cx="309067" cy="309067"/>
          </a:xfrm>
          <a:prstGeom prst="rect">
            <a:avLst/>
          </a:prstGeom>
        </p:spPr>
      </p:pic>
      <p:sp>
        <p:nvSpPr>
          <p:cNvPr id="28" name="text-225"/>
          <p:cNvSpPr txBox="1"/>
          <p:nvPr/>
        </p:nvSpPr>
        <p:spPr>
          <a:xfrm>
            <a:off x="1554480" y="5257800"/>
            <a:ext cx="9784080" cy="777240"/>
          </a:xfrm>
          <a:prstGeom prst="rect">
            <a:avLst/>
          </a:prstGeom>
          <a:noFill/>
          <a:ln/>
        </p:spPr>
        <p:txBody>
          <a:bodyPr wrap="square" lIns="0" tIns="0" rIns="0" bIns="0" rtlCol="0" anchor="ctr"/>
          <a:lstStyle/>
          <a:p>
            <a:pPr indent="0" marL="0">
              <a:buNone/>
            </a:pPr>
            <a:r>
              <a:rPr lang="en-US" sz="1400" b="1" dirty="0">
                <a:solidFill>
                  <a:schemeClr val="tx2"/>
                </a:solidFill>
              </a:rPr>
              <a:t>Docker Compose </a:t>
            </a:r>
            <a:pPr indent="0" marL="0">
              <a:buNone/>
            </a:pPr>
            <a:r>
              <a:rPr lang="en-US" sz="1400" dirty="0">
                <a:solidFill>
                  <a:schemeClr val="tx1"/>
                </a:solidFill>
              </a:rPr>
              <a:t>runs PostgreSQL, the backend and the frontend as separate services.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Roles, security and reports</a:t>
            </a:r>
            <a:endParaRPr lang="en-US" sz="3600" dirty="0"/>
          </a:p>
        </p:txBody>
      </p:sp>
      <p:sp>
        <p:nvSpPr>
          <p:cNvPr id="4" name="info-card-226"/>
          <p:cNvSpPr/>
          <p:nvPr/>
        </p:nvSpPr>
        <p:spPr>
          <a:xfrm>
            <a:off x="548640" y="1508760"/>
            <a:ext cx="3575304" cy="4434840"/>
          </a:xfrm>
          <a:prstGeom prst="roundRect">
            <a:avLst>
              <a:gd name="adj" fmla="val 3069"/>
            </a:avLst>
          </a:prstGeom>
          <a:solidFill>
            <a:schemeClr val="bg2"/>
          </a:solidFill>
          <a:ln/>
        </p:spPr>
      </p:sp>
      <p:sp>
        <p:nvSpPr>
          <p:cNvPr id="5" name="Roles-circle-227"/>
          <p:cNvSpPr/>
          <p:nvPr/>
        </p:nvSpPr>
        <p:spPr>
          <a:xfrm>
            <a:off x="822960" y="1783080"/>
            <a:ext cx="731520" cy="731520"/>
          </a:xfrm>
          <a:prstGeom prst="ellipse">
            <a:avLst/>
          </a:prstGeom>
          <a:solidFill>
            <a:schemeClr val="accent2"/>
          </a:solidFill>
          <a:ln/>
        </p:spPr>
      </p:sp>
      <p:pic>
        <p:nvPicPr>
          <p:cNvPr id="6" name="Roles-glyph-228" descr="Roles icon">    </p:cNvPr>
          <p:cNvPicPr>
            <a:picLocks noChangeAspect="1"/>
          </p:cNvPicPr>
          <p:nvPr/>
        </p:nvPicPr>
        <p:blipFill>
          <a:blip r:embed="rId1"/>
          <a:stretch>
            <a:fillRect/>
          </a:stretch>
        </p:blipFill>
        <p:spPr>
          <a:xfrm>
            <a:off x="998525" y="1958645"/>
            <a:ext cx="380390" cy="380390"/>
          </a:xfrm>
          <a:prstGeom prst="rect">
            <a:avLst/>
          </a:prstGeom>
        </p:spPr>
      </p:pic>
      <p:sp>
        <p:nvSpPr>
          <p:cNvPr id="7" name="text-229"/>
          <p:cNvSpPr txBox="1"/>
          <p:nvPr/>
        </p:nvSpPr>
        <p:spPr>
          <a:xfrm>
            <a:off x="822960" y="26974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Roles</a:t>
            </a:r>
            <a:endParaRPr lang="en-US" sz="2200" dirty="0"/>
          </a:p>
        </p:txBody>
      </p:sp>
      <p:sp>
        <p:nvSpPr>
          <p:cNvPr id="8" name="text-230"/>
          <p:cNvSpPr txBox="1"/>
          <p:nvPr/>
        </p:nvSpPr>
        <p:spPr>
          <a:xfrm>
            <a:off x="822960" y="3337560"/>
            <a:ext cx="3063240" cy="2514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User: personal alarms and progress</a:t>
            </a:r>
            <a:endParaRPr lang="en-US" sz="1600" dirty="0"/>
          </a:p>
          <a:p>
            <a:pPr marL="342900" indent="-342900">
              <a:spcAft>
                <a:spcPts val="1200"/>
              </a:spcAft>
              <a:buSzPct val="100000"/>
              <a:buChar char="•"/>
            </a:pPr>
            <a:r>
              <a:rPr lang="en-US" sz="1600" dirty="0">
                <a:solidFill>
                  <a:schemeClr val="tx1"/>
                </a:solidFill>
              </a:rPr>
              <a:t>Wellness coach: assigned clients</a:t>
            </a:r>
            <a:endParaRPr lang="en-US" sz="1600" dirty="0"/>
          </a:p>
          <a:p>
            <a:pPr marL="342900" indent="-342900">
              <a:spcAft>
                <a:spcPts val="1200"/>
              </a:spcAft>
              <a:buSzPct val="100000"/>
              <a:buChar char="•"/>
            </a:pPr>
            <a:r>
              <a:rPr lang="en-US" sz="1600" dirty="0">
                <a:solidFill>
                  <a:schemeClr val="tx1"/>
                </a:solidFill>
              </a:rPr>
              <a:t>Administrator: platform management</a:t>
            </a:r>
            <a:endParaRPr lang="en-US" sz="1600" dirty="0"/>
          </a:p>
          <a:p>
            <a:pPr marL="342900" indent="-342900">
              <a:spcAft>
                <a:spcPts val="1200"/>
              </a:spcAft>
              <a:buSzPct val="100000"/>
              <a:buChar char="•"/>
            </a:pPr>
            <a:r>
              <a:rPr lang="en-US" sz="1600" dirty="0">
                <a:solidFill>
                  <a:schemeClr val="tx1"/>
                </a:solidFill>
              </a:rPr>
              <a:t>Sign-up creates normal users only</a:t>
            </a:r>
            <a:endParaRPr lang="en-US" sz="1600" dirty="0"/>
          </a:p>
        </p:txBody>
      </p:sp>
      <p:sp>
        <p:nvSpPr>
          <p:cNvPr id="9" name="info-card-231"/>
          <p:cNvSpPr/>
          <p:nvPr/>
        </p:nvSpPr>
        <p:spPr>
          <a:xfrm>
            <a:off x="4306824" y="1508760"/>
            <a:ext cx="3575304" cy="4434840"/>
          </a:xfrm>
          <a:prstGeom prst="roundRect">
            <a:avLst>
              <a:gd name="adj" fmla="val 3069"/>
            </a:avLst>
          </a:prstGeom>
          <a:solidFill>
            <a:schemeClr val="bg2"/>
          </a:solidFill>
          <a:ln/>
        </p:spPr>
      </p:sp>
      <p:sp>
        <p:nvSpPr>
          <p:cNvPr id="10" name="Security-circle-232"/>
          <p:cNvSpPr/>
          <p:nvPr/>
        </p:nvSpPr>
        <p:spPr>
          <a:xfrm>
            <a:off x="4581144" y="1783080"/>
            <a:ext cx="731520" cy="731520"/>
          </a:xfrm>
          <a:prstGeom prst="ellipse">
            <a:avLst/>
          </a:prstGeom>
          <a:solidFill>
            <a:schemeClr val="accent3"/>
          </a:solidFill>
          <a:ln/>
        </p:spPr>
      </p:sp>
      <p:pic>
        <p:nvPicPr>
          <p:cNvPr id="11" name="Security-glyph-233" descr="Security icon">    </p:cNvPr>
          <p:cNvPicPr>
            <a:picLocks noChangeAspect="1"/>
          </p:cNvPicPr>
          <p:nvPr/>
        </p:nvPicPr>
        <p:blipFill>
          <a:blip r:embed="rId2"/>
          <a:stretch>
            <a:fillRect/>
          </a:stretch>
        </p:blipFill>
        <p:spPr>
          <a:xfrm>
            <a:off x="4756709" y="1958645"/>
            <a:ext cx="380390" cy="380390"/>
          </a:xfrm>
          <a:prstGeom prst="rect">
            <a:avLst/>
          </a:prstGeom>
        </p:spPr>
      </p:pic>
      <p:sp>
        <p:nvSpPr>
          <p:cNvPr id="12" name="text-234"/>
          <p:cNvSpPr txBox="1"/>
          <p:nvPr/>
        </p:nvSpPr>
        <p:spPr>
          <a:xfrm>
            <a:off x="4581144" y="26974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Security</a:t>
            </a:r>
            <a:endParaRPr lang="en-US" sz="2200" dirty="0"/>
          </a:p>
        </p:txBody>
      </p:sp>
      <p:sp>
        <p:nvSpPr>
          <p:cNvPr id="13" name="text-235"/>
          <p:cNvSpPr txBox="1"/>
          <p:nvPr/>
        </p:nvSpPr>
        <p:spPr>
          <a:xfrm>
            <a:off x="4581144" y="3337560"/>
            <a:ext cx="3063240" cy="2514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JWT bearer tokens identify signed-in users</a:t>
            </a:r>
            <a:endParaRPr lang="en-US" sz="1600" dirty="0"/>
          </a:p>
          <a:p>
            <a:pPr marL="342900" indent="-342900">
              <a:spcAft>
                <a:spcPts val="1200"/>
              </a:spcAft>
              <a:buSzPct val="100000"/>
              <a:buChar char="•"/>
            </a:pPr>
            <a:r>
              <a:rPr lang="en-US" sz="1600" dirty="0">
                <a:solidFill>
                  <a:schemeClr val="tx1"/>
                </a:solidFill>
              </a:rPr>
              <a:t>Alarm and challenge data scoped to the account</a:t>
            </a:r>
            <a:endParaRPr lang="en-US" sz="1600" dirty="0"/>
          </a:p>
          <a:p>
            <a:pPr marL="342900" indent="-342900">
              <a:spcAft>
                <a:spcPts val="1200"/>
              </a:spcAft>
              <a:buSzPct val="100000"/>
              <a:buChar char="•"/>
            </a:pPr>
            <a:r>
              <a:rPr lang="en-US" sz="1600" dirty="0">
                <a:solidFill>
                  <a:schemeClr val="tx1"/>
                </a:solidFill>
              </a:rPr>
              <a:t>Privileged roles assigned through administration</a:t>
            </a:r>
            <a:endParaRPr lang="en-US" sz="1600" dirty="0"/>
          </a:p>
        </p:txBody>
      </p:sp>
      <p:sp>
        <p:nvSpPr>
          <p:cNvPr id="14" name="info-card-236"/>
          <p:cNvSpPr/>
          <p:nvPr/>
        </p:nvSpPr>
        <p:spPr>
          <a:xfrm>
            <a:off x="8065008" y="1508760"/>
            <a:ext cx="3575304" cy="4434840"/>
          </a:xfrm>
          <a:prstGeom prst="roundRect">
            <a:avLst>
              <a:gd name="adj" fmla="val 3069"/>
            </a:avLst>
          </a:prstGeom>
          <a:solidFill>
            <a:schemeClr val="bg2"/>
          </a:solidFill>
          <a:ln/>
        </p:spPr>
      </p:sp>
      <p:sp>
        <p:nvSpPr>
          <p:cNvPr id="15" name="Reports and alerts-circle-237"/>
          <p:cNvSpPr/>
          <p:nvPr/>
        </p:nvSpPr>
        <p:spPr>
          <a:xfrm>
            <a:off x="8339328" y="1783080"/>
            <a:ext cx="731520" cy="731520"/>
          </a:xfrm>
          <a:prstGeom prst="ellipse">
            <a:avLst/>
          </a:prstGeom>
          <a:solidFill>
            <a:schemeClr val="accent4"/>
          </a:solidFill>
          <a:ln/>
        </p:spPr>
      </p:sp>
      <p:pic>
        <p:nvPicPr>
          <p:cNvPr id="16" name="Reports and alerts-glyph-238" descr="Reports and alerts icon">    </p:cNvPr>
          <p:cNvPicPr>
            <a:picLocks noChangeAspect="1"/>
          </p:cNvPicPr>
          <p:nvPr/>
        </p:nvPicPr>
        <p:blipFill>
          <a:blip r:embed="rId3"/>
          <a:stretch>
            <a:fillRect/>
          </a:stretch>
        </p:blipFill>
        <p:spPr>
          <a:xfrm>
            <a:off x="8514893" y="1958645"/>
            <a:ext cx="380390" cy="380390"/>
          </a:xfrm>
          <a:prstGeom prst="rect">
            <a:avLst/>
          </a:prstGeom>
        </p:spPr>
      </p:pic>
      <p:sp>
        <p:nvSpPr>
          <p:cNvPr id="17" name="text-239"/>
          <p:cNvSpPr txBox="1"/>
          <p:nvPr/>
        </p:nvSpPr>
        <p:spPr>
          <a:xfrm>
            <a:off x="8339328" y="26974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Reports and alerts</a:t>
            </a:r>
            <a:endParaRPr lang="en-US" sz="2200" dirty="0"/>
          </a:p>
        </p:txBody>
      </p:sp>
      <p:sp>
        <p:nvSpPr>
          <p:cNvPr id="18" name="text-240"/>
          <p:cNvSpPr txBox="1"/>
          <p:nvPr/>
        </p:nvSpPr>
        <p:spPr>
          <a:xfrm>
            <a:off x="8339328" y="3337560"/>
            <a:ext cx="3063240" cy="25146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Export analytics as PDF or Excel</a:t>
            </a:r>
            <a:endParaRPr lang="en-US" sz="1600" dirty="0"/>
          </a:p>
          <a:p>
            <a:pPr marL="342900" indent="-342900">
              <a:spcAft>
                <a:spcPts val="1200"/>
              </a:spcAft>
              <a:buSzPct val="100000"/>
              <a:buChar char="•"/>
            </a:pPr>
            <a:r>
              <a:rPr lang="en-US" sz="1600" dirty="0">
                <a:solidFill>
                  <a:schemeClr val="tx1"/>
                </a:solidFill>
              </a:rPr>
              <a:t>In-app notifications for follow-up</a:t>
            </a:r>
            <a:endParaRPr lang="en-US" sz="1600" dirty="0"/>
          </a:p>
          <a:p>
            <a:pPr marL="342900" indent="-342900">
              <a:spcAft>
                <a:spcPts val="1200"/>
              </a:spcAft>
              <a:buSzPct val="100000"/>
              <a:buChar char="•"/>
            </a:pPr>
            <a:r>
              <a:rPr lang="en-US" sz="1600" dirty="0">
                <a:solidFill>
                  <a:schemeClr val="tx1"/>
                </a:solidFill>
              </a:rPr>
              <a:t>Firebase push needs separate credentials</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Demonstration walkthrough</a:t>
            </a:r>
            <a:endParaRPr lang="en-US" sz="3600" dirty="0"/>
          </a:p>
        </p:txBody>
      </p:sp>
      <p:sp>
        <p:nvSpPr>
          <p:cNvPr id="4" name="demo-card-241"/>
          <p:cNvSpPr/>
          <p:nvPr/>
        </p:nvSpPr>
        <p:spPr>
          <a:xfrm>
            <a:off x="548640" y="1508760"/>
            <a:ext cx="2606040" cy="2286000"/>
          </a:xfrm>
          <a:prstGeom prst="roundRect">
            <a:avLst>
              <a:gd name="adj" fmla="val 4800"/>
            </a:avLst>
          </a:prstGeom>
          <a:solidFill>
            <a:schemeClr val="bg2"/>
          </a:solidFill>
          <a:ln/>
        </p:spPr>
      </p:sp>
      <p:sp>
        <p:nvSpPr>
          <p:cNvPr id="5" name="step-number-242"/>
          <p:cNvSpPr txBox="1"/>
          <p:nvPr/>
        </p:nvSpPr>
        <p:spPr>
          <a:xfrm>
            <a:off x="749808"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Sign in-circle-243"/>
          <p:cNvSpPr/>
          <p:nvPr/>
        </p:nvSpPr>
        <p:spPr>
          <a:xfrm>
            <a:off x="2386584" y="1682496"/>
            <a:ext cx="566928" cy="566928"/>
          </a:xfrm>
          <a:prstGeom prst="ellipse">
            <a:avLst/>
          </a:prstGeom>
          <a:solidFill>
            <a:schemeClr val="accent2"/>
          </a:solidFill>
          <a:ln/>
        </p:spPr>
      </p:sp>
      <p:pic>
        <p:nvPicPr>
          <p:cNvPr id="7" name="Sign in-glyph-244" descr="Sign in icon">    </p:cNvPr>
          <p:cNvPicPr>
            <a:picLocks noChangeAspect="1"/>
          </p:cNvPicPr>
          <p:nvPr/>
        </p:nvPicPr>
        <p:blipFill>
          <a:blip r:embed="rId1"/>
          <a:stretch>
            <a:fillRect/>
          </a:stretch>
        </p:blipFill>
        <p:spPr>
          <a:xfrm>
            <a:off x="2522647" y="1818559"/>
            <a:ext cx="294803" cy="294803"/>
          </a:xfrm>
          <a:prstGeom prst="rect">
            <a:avLst/>
          </a:prstGeom>
        </p:spPr>
      </p:pic>
      <p:sp>
        <p:nvSpPr>
          <p:cNvPr id="8" name="text-245"/>
          <p:cNvSpPr txBox="1"/>
          <p:nvPr/>
        </p:nvSpPr>
        <p:spPr>
          <a:xfrm>
            <a:off x="749808" y="2423160"/>
            <a:ext cx="2203704" cy="365760"/>
          </a:xfrm>
          <a:prstGeom prst="rect">
            <a:avLst/>
          </a:prstGeom>
          <a:noFill/>
          <a:ln/>
        </p:spPr>
        <p:txBody>
          <a:bodyPr wrap="square" lIns="0" tIns="0" rIns="0" bIns="0" rtlCol="0" anchor="t"/>
          <a:lstStyle/>
          <a:p>
            <a:pPr indent="0" marL="0">
              <a:buNone/>
            </a:pPr>
            <a:r>
              <a:rPr lang="en-US" sz="1800" b="1" dirty="0">
                <a:solidFill>
                  <a:schemeClr val="tx2"/>
                </a:solidFill>
              </a:rPr>
              <a:t>Sign in</a:t>
            </a:r>
            <a:endParaRPr lang="en-US" sz="1800" dirty="0"/>
          </a:p>
        </p:txBody>
      </p:sp>
      <p:sp>
        <p:nvSpPr>
          <p:cNvPr id="9" name="text-246"/>
          <p:cNvSpPr txBox="1"/>
          <p:nvPr/>
        </p:nvSpPr>
        <p:spPr>
          <a:xfrm>
            <a:off x="749808" y="2880360"/>
            <a:ext cx="2203704" cy="1005840"/>
          </a:xfrm>
          <a:prstGeom prst="rect">
            <a:avLst/>
          </a:prstGeom>
          <a:noFill/>
          <a:ln/>
        </p:spPr>
        <p:txBody>
          <a:bodyPr wrap="square" lIns="0" tIns="0" rIns="0" bIns="0" rtlCol="0" anchor="t"/>
          <a:lstStyle/>
          <a:p>
            <a:pPr indent="0" marL="0">
              <a:buNone/>
            </a:pPr>
            <a:r>
              <a:rPr lang="en-US" sz="1400" dirty="0">
                <a:solidFill>
                  <a:schemeClr val="tx1"/>
                </a:solidFill>
              </a:rPr>
              <a:t>Log in as a user and open the alarms page</a:t>
            </a:r>
            <a:endParaRPr lang="en-US" sz="1400" dirty="0"/>
          </a:p>
        </p:txBody>
      </p:sp>
      <p:sp>
        <p:nvSpPr>
          <p:cNvPr id="10" name="demo-card-247"/>
          <p:cNvSpPr/>
          <p:nvPr/>
        </p:nvSpPr>
        <p:spPr>
          <a:xfrm>
            <a:off x="3377184" y="1508760"/>
            <a:ext cx="2606040" cy="2286000"/>
          </a:xfrm>
          <a:prstGeom prst="roundRect">
            <a:avLst>
              <a:gd name="adj" fmla="val 4800"/>
            </a:avLst>
          </a:prstGeom>
          <a:solidFill>
            <a:schemeClr val="bg2"/>
          </a:solidFill>
          <a:ln/>
        </p:spPr>
      </p:sp>
      <p:sp>
        <p:nvSpPr>
          <p:cNvPr id="11" name="step-number-248"/>
          <p:cNvSpPr txBox="1"/>
          <p:nvPr/>
        </p:nvSpPr>
        <p:spPr>
          <a:xfrm>
            <a:off x="3578352"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Create an alarm-circle-249"/>
          <p:cNvSpPr/>
          <p:nvPr/>
        </p:nvSpPr>
        <p:spPr>
          <a:xfrm>
            <a:off x="5215128" y="1682496"/>
            <a:ext cx="566928" cy="566928"/>
          </a:xfrm>
          <a:prstGeom prst="ellipse">
            <a:avLst/>
          </a:prstGeom>
          <a:solidFill>
            <a:schemeClr val="accent2"/>
          </a:solidFill>
          <a:ln/>
        </p:spPr>
      </p:sp>
      <p:pic>
        <p:nvPicPr>
          <p:cNvPr id="13" name="Create an alarm-glyph-250" descr="Create an alarm icon">    </p:cNvPr>
          <p:cNvPicPr>
            <a:picLocks noChangeAspect="1"/>
          </p:cNvPicPr>
          <p:nvPr/>
        </p:nvPicPr>
        <p:blipFill>
          <a:blip r:embed="rId2"/>
          <a:stretch>
            <a:fillRect/>
          </a:stretch>
        </p:blipFill>
        <p:spPr>
          <a:xfrm>
            <a:off x="5351191" y="1818559"/>
            <a:ext cx="294803" cy="294803"/>
          </a:xfrm>
          <a:prstGeom prst="rect">
            <a:avLst/>
          </a:prstGeom>
        </p:spPr>
      </p:pic>
      <p:sp>
        <p:nvSpPr>
          <p:cNvPr id="14" name="text-251"/>
          <p:cNvSpPr txBox="1"/>
          <p:nvPr/>
        </p:nvSpPr>
        <p:spPr>
          <a:xfrm>
            <a:off x="3578352" y="2423160"/>
            <a:ext cx="2203704" cy="365760"/>
          </a:xfrm>
          <a:prstGeom prst="rect">
            <a:avLst/>
          </a:prstGeom>
          <a:noFill/>
          <a:ln/>
        </p:spPr>
        <p:txBody>
          <a:bodyPr wrap="square" lIns="0" tIns="0" rIns="0" bIns="0" rtlCol="0" anchor="t"/>
          <a:lstStyle/>
          <a:p>
            <a:pPr indent="0" marL="0">
              <a:buNone/>
            </a:pPr>
            <a:r>
              <a:rPr lang="en-US" sz="1800" b="1" dirty="0">
                <a:solidFill>
                  <a:schemeClr val="tx2"/>
                </a:solidFill>
              </a:rPr>
              <a:t>Create an alarm</a:t>
            </a:r>
            <a:endParaRPr lang="en-US" sz="1800" dirty="0"/>
          </a:p>
        </p:txBody>
      </p:sp>
      <p:sp>
        <p:nvSpPr>
          <p:cNvPr id="15" name="text-252"/>
          <p:cNvSpPr txBox="1"/>
          <p:nvPr/>
        </p:nvSpPr>
        <p:spPr>
          <a:xfrm>
            <a:off x="3578352" y="2880360"/>
            <a:ext cx="2203704" cy="1005840"/>
          </a:xfrm>
          <a:prstGeom prst="rect">
            <a:avLst/>
          </a:prstGeom>
          <a:noFill/>
          <a:ln/>
        </p:spPr>
        <p:txBody>
          <a:bodyPr wrap="square" lIns="0" tIns="0" rIns="0" bIns="0" rtlCol="0" anchor="t"/>
          <a:lstStyle/>
          <a:p>
            <a:pPr indent="0" marL="0">
              <a:buNone/>
            </a:pPr>
            <a:r>
              <a:rPr lang="en-US" sz="1400" dirty="0">
                <a:solidFill>
                  <a:schemeClr val="tx1"/>
                </a:solidFill>
              </a:rPr>
              <a:t>Choose time and challenge settings; see it listed</a:t>
            </a:r>
            <a:endParaRPr lang="en-US" sz="1400" dirty="0"/>
          </a:p>
        </p:txBody>
      </p:sp>
      <p:sp>
        <p:nvSpPr>
          <p:cNvPr id="16" name="demo-card-253"/>
          <p:cNvSpPr/>
          <p:nvPr/>
        </p:nvSpPr>
        <p:spPr>
          <a:xfrm>
            <a:off x="6205728" y="1508760"/>
            <a:ext cx="2606040" cy="2286000"/>
          </a:xfrm>
          <a:prstGeom prst="roundRect">
            <a:avLst>
              <a:gd name="adj" fmla="val 4800"/>
            </a:avLst>
          </a:prstGeom>
          <a:solidFill>
            <a:schemeClr val="bg2"/>
          </a:solidFill>
          <a:ln/>
        </p:spPr>
      </p:sp>
      <p:sp>
        <p:nvSpPr>
          <p:cNvPr id="17" name="step-number-254"/>
          <p:cNvSpPr txBox="1"/>
          <p:nvPr/>
        </p:nvSpPr>
        <p:spPr>
          <a:xfrm>
            <a:off x="6406896"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8" name="Trigger and solve-circle-255"/>
          <p:cNvSpPr/>
          <p:nvPr/>
        </p:nvSpPr>
        <p:spPr>
          <a:xfrm>
            <a:off x="8043672" y="1682496"/>
            <a:ext cx="566928" cy="566928"/>
          </a:xfrm>
          <a:prstGeom prst="ellipse">
            <a:avLst/>
          </a:prstGeom>
          <a:solidFill>
            <a:schemeClr val="accent2"/>
          </a:solidFill>
          <a:ln/>
        </p:spPr>
      </p:sp>
      <p:pic>
        <p:nvPicPr>
          <p:cNvPr id="19" name="Trigger and solve-glyph-256" descr="Trigger and solve icon">    </p:cNvPr>
          <p:cNvPicPr>
            <a:picLocks noChangeAspect="1"/>
          </p:cNvPicPr>
          <p:nvPr/>
        </p:nvPicPr>
        <p:blipFill>
          <a:blip r:embed="rId3"/>
          <a:stretch>
            <a:fillRect/>
          </a:stretch>
        </p:blipFill>
        <p:spPr>
          <a:xfrm>
            <a:off x="8179735" y="1818559"/>
            <a:ext cx="294803" cy="294803"/>
          </a:xfrm>
          <a:prstGeom prst="rect">
            <a:avLst/>
          </a:prstGeom>
        </p:spPr>
      </p:pic>
      <p:sp>
        <p:nvSpPr>
          <p:cNvPr id="20" name="text-257"/>
          <p:cNvSpPr txBox="1"/>
          <p:nvPr/>
        </p:nvSpPr>
        <p:spPr>
          <a:xfrm>
            <a:off x="6406896" y="2423160"/>
            <a:ext cx="2203704" cy="365760"/>
          </a:xfrm>
          <a:prstGeom prst="rect">
            <a:avLst/>
          </a:prstGeom>
          <a:noFill/>
          <a:ln/>
        </p:spPr>
        <p:txBody>
          <a:bodyPr wrap="square" lIns="0" tIns="0" rIns="0" bIns="0" rtlCol="0" anchor="t"/>
          <a:lstStyle/>
          <a:p>
            <a:pPr indent="0" marL="0">
              <a:buNone/>
            </a:pPr>
            <a:r>
              <a:rPr lang="en-US" sz="1800" b="1" dirty="0">
                <a:solidFill>
                  <a:schemeClr val="tx2"/>
                </a:solidFill>
              </a:rPr>
              <a:t>Trigger and solve</a:t>
            </a:r>
            <a:endParaRPr lang="en-US" sz="1800" dirty="0"/>
          </a:p>
        </p:txBody>
      </p:sp>
      <p:sp>
        <p:nvSpPr>
          <p:cNvPr id="21" name="text-258"/>
          <p:cNvSpPr txBox="1"/>
          <p:nvPr/>
        </p:nvSpPr>
        <p:spPr>
          <a:xfrm>
            <a:off x="6406896" y="2880360"/>
            <a:ext cx="2203704" cy="1005840"/>
          </a:xfrm>
          <a:prstGeom prst="rect">
            <a:avLst/>
          </a:prstGeom>
          <a:noFill/>
          <a:ln/>
        </p:spPr>
        <p:txBody>
          <a:bodyPr wrap="square" lIns="0" tIns="0" rIns="0" bIns="0" rtlCol="0" anchor="t"/>
          <a:lstStyle/>
          <a:p>
            <a:pPr indent="0" marL="0">
              <a:buNone/>
            </a:pPr>
            <a:r>
              <a:rPr lang="en-US" sz="1400" dirty="0">
                <a:solidFill>
                  <a:schemeClr val="tx1"/>
                </a:solidFill>
              </a:rPr>
              <a:t>Answer the cognitive questions and complete the session</a:t>
            </a:r>
            <a:endParaRPr lang="en-US" sz="1400" dirty="0"/>
          </a:p>
        </p:txBody>
      </p:sp>
      <p:sp>
        <p:nvSpPr>
          <p:cNvPr id="22" name="demo-card-259"/>
          <p:cNvSpPr/>
          <p:nvPr/>
        </p:nvSpPr>
        <p:spPr>
          <a:xfrm>
            <a:off x="9034272" y="1508760"/>
            <a:ext cx="2606040" cy="2286000"/>
          </a:xfrm>
          <a:prstGeom prst="roundRect">
            <a:avLst>
              <a:gd name="adj" fmla="val 4800"/>
            </a:avLst>
          </a:prstGeom>
          <a:solidFill>
            <a:schemeClr val="bg2"/>
          </a:solidFill>
          <a:ln/>
        </p:spPr>
      </p:sp>
      <p:sp>
        <p:nvSpPr>
          <p:cNvPr id="23" name="step-number-260"/>
          <p:cNvSpPr txBox="1"/>
          <p:nvPr/>
        </p:nvSpPr>
        <p:spPr>
          <a:xfrm>
            <a:off x="9235440" y="170992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4" name="Review insights-circle-261"/>
          <p:cNvSpPr/>
          <p:nvPr/>
        </p:nvSpPr>
        <p:spPr>
          <a:xfrm>
            <a:off x="10872216" y="1682496"/>
            <a:ext cx="566928" cy="566928"/>
          </a:xfrm>
          <a:prstGeom prst="ellipse">
            <a:avLst/>
          </a:prstGeom>
          <a:solidFill>
            <a:schemeClr val="accent2"/>
          </a:solidFill>
          <a:ln/>
        </p:spPr>
      </p:sp>
      <p:pic>
        <p:nvPicPr>
          <p:cNvPr id="25" name="Review insights-glyph-262" descr="Review insights icon">    </p:cNvPr>
          <p:cNvPicPr>
            <a:picLocks noChangeAspect="1"/>
          </p:cNvPicPr>
          <p:nvPr/>
        </p:nvPicPr>
        <p:blipFill>
          <a:blip r:embed="rId4"/>
          <a:stretch>
            <a:fillRect/>
          </a:stretch>
        </p:blipFill>
        <p:spPr>
          <a:xfrm>
            <a:off x="11008279" y="1818559"/>
            <a:ext cx="294803" cy="294803"/>
          </a:xfrm>
          <a:prstGeom prst="rect">
            <a:avLst/>
          </a:prstGeom>
        </p:spPr>
      </p:pic>
      <p:sp>
        <p:nvSpPr>
          <p:cNvPr id="26" name="text-263"/>
          <p:cNvSpPr txBox="1"/>
          <p:nvPr/>
        </p:nvSpPr>
        <p:spPr>
          <a:xfrm>
            <a:off x="9235440" y="2423160"/>
            <a:ext cx="2203704" cy="365760"/>
          </a:xfrm>
          <a:prstGeom prst="rect">
            <a:avLst/>
          </a:prstGeom>
          <a:noFill/>
          <a:ln/>
        </p:spPr>
        <p:txBody>
          <a:bodyPr wrap="square" lIns="0" tIns="0" rIns="0" bIns="0" rtlCol="0" anchor="t"/>
          <a:lstStyle/>
          <a:p>
            <a:pPr indent="0" marL="0">
              <a:buNone/>
            </a:pPr>
            <a:r>
              <a:rPr lang="en-US" sz="1800" b="1" dirty="0">
                <a:solidFill>
                  <a:schemeClr val="tx2"/>
                </a:solidFill>
              </a:rPr>
              <a:t>Review insights</a:t>
            </a:r>
            <a:endParaRPr lang="en-US" sz="1800" dirty="0"/>
          </a:p>
        </p:txBody>
      </p:sp>
      <p:sp>
        <p:nvSpPr>
          <p:cNvPr id="27" name="text-264"/>
          <p:cNvSpPr txBox="1"/>
          <p:nvPr/>
        </p:nvSpPr>
        <p:spPr>
          <a:xfrm>
            <a:off x="9235440" y="2880360"/>
            <a:ext cx="2203704" cy="1005840"/>
          </a:xfrm>
          <a:prstGeom prst="rect">
            <a:avLst/>
          </a:prstGeom>
          <a:noFill/>
          <a:ln/>
        </p:spPr>
        <p:txBody>
          <a:bodyPr wrap="square" lIns="0" tIns="0" rIns="0" bIns="0" rtlCol="0" anchor="t"/>
          <a:lstStyle/>
          <a:p>
            <a:pPr indent="0" marL="0">
              <a:buNone/>
            </a:pPr>
            <a:r>
              <a:rPr lang="en-US" sz="1400" dirty="0">
                <a:solidFill>
                  <a:schemeClr val="tx1"/>
                </a:solidFill>
              </a:rPr>
              <a:t>Dashboard, recommendations, analytics and reports</a:t>
            </a:r>
            <a:endParaRPr lang="en-US" sz="1400" dirty="0"/>
          </a:p>
        </p:txBody>
      </p:sp>
      <p:sp>
        <p:nvSpPr>
          <p:cNvPr id="28" name="tip-panel-265"/>
          <p:cNvSpPr/>
          <p:nvPr/>
        </p:nvSpPr>
        <p:spPr>
          <a:xfrm>
            <a:off x="548640" y="4069080"/>
            <a:ext cx="11091672" cy="1691640"/>
          </a:xfrm>
          <a:prstGeom prst="roundRect">
            <a:avLst>
              <a:gd name="adj" fmla="val 6486"/>
            </a:avLst>
          </a:prstGeom>
          <a:solidFill>
            <a:schemeClr val="accent1">
              <a:alpha val="15000"/>
            </a:schemeClr>
          </a:solidFill>
          <a:ln/>
        </p:spPr>
      </p:sp>
      <p:sp>
        <p:nvSpPr>
          <p:cNvPr id="29" name="tip-circle-266"/>
          <p:cNvSpPr/>
          <p:nvPr/>
        </p:nvSpPr>
        <p:spPr>
          <a:xfrm>
            <a:off x="868680" y="4526280"/>
            <a:ext cx="777240" cy="777240"/>
          </a:xfrm>
          <a:prstGeom prst="ellipse">
            <a:avLst/>
          </a:prstGeom>
          <a:solidFill>
            <a:schemeClr val="accent1"/>
          </a:solidFill>
          <a:ln/>
        </p:spPr>
      </p:sp>
      <p:pic>
        <p:nvPicPr>
          <p:cNvPr id="30" name="tip-glyph-267" descr="tip icon">    </p:cNvPr>
          <p:cNvPicPr>
            <a:picLocks noChangeAspect="1"/>
          </p:cNvPicPr>
          <p:nvPr/>
        </p:nvPicPr>
        <p:blipFill>
          <a:blip r:embed="rId5"/>
          <a:stretch>
            <a:fillRect/>
          </a:stretch>
        </p:blipFill>
        <p:spPr>
          <a:xfrm>
            <a:off x="1055218" y="4712818"/>
            <a:ext cx="404165" cy="404165"/>
          </a:xfrm>
          <a:prstGeom prst="rect">
            <a:avLst/>
          </a:prstGeom>
        </p:spPr>
      </p:pic>
      <p:sp>
        <p:nvSpPr>
          <p:cNvPr id="31" name="text-268"/>
          <p:cNvSpPr txBox="1"/>
          <p:nvPr/>
        </p:nvSpPr>
        <p:spPr>
          <a:xfrm>
            <a:off x="1920240" y="4206240"/>
            <a:ext cx="9418320" cy="1417320"/>
          </a:xfrm>
          <a:prstGeom prst="rect">
            <a:avLst/>
          </a:prstGeom>
          <a:noFill/>
          <a:ln/>
        </p:spPr>
        <p:txBody>
          <a:bodyPr wrap="square" lIns="0" tIns="0" rIns="0" bIns="0" rtlCol="0" anchor="ctr"/>
          <a:lstStyle/>
          <a:p>
            <a:pPr indent="0" marL="0">
              <a:buNone/>
            </a:pPr>
            <a:r>
              <a:rPr lang="en-US" sz="1800" b="1" dirty="0">
                <a:solidFill>
                  <a:schemeClr val="tx2"/>
                </a:solidFill>
              </a:rPr>
              <a:t>Demo tip</a:t>
            </a:r>
            <a:endParaRPr lang="en-US" sz="1400" dirty="0"/>
          </a:p>
          <a:p>
            <a:pPr indent="0" marL="0">
              <a:buNone/>
            </a:pPr>
            <a:r>
              <a:rPr lang="en-US" sz="1400" dirty="0">
                <a:solidFill>
                  <a:schemeClr val="tx1"/>
                </a:solidFill>
              </a:rPr>
              <a:t>The scheduler runs inside the browser app: keep it open on the Alarms screen with sound enabled. It is not a native Android or iOS alarm and will not ring if the browser is closed or suspended.</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Limitations and future work</a:t>
            </a:r>
            <a:endParaRPr lang="en-US" sz="3600" dirty="0"/>
          </a:p>
        </p:txBody>
      </p:sp>
      <p:sp>
        <p:nvSpPr>
          <p:cNvPr id="4" name="limits-panel-269"/>
          <p:cNvSpPr/>
          <p:nvPr/>
        </p:nvSpPr>
        <p:spPr>
          <a:xfrm>
            <a:off x="548640" y="1508760"/>
            <a:ext cx="5394960" cy="4480560"/>
          </a:xfrm>
          <a:prstGeom prst="roundRect">
            <a:avLst>
              <a:gd name="adj" fmla="val 2449"/>
            </a:avLst>
          </a:prstGeom>
          <a:solidFill>
            <a:schemeClr val="bg2"/>
          </a:solidFill>
          <a:ln/>
        </p:spPr>
      </p:sp>
      <p:sp>
        <p:nvSpPr>
          <p:cNvPr id="5" name="text-270"/>
          <p:cNvSpPr txBox="1"/>
          <p:nvPr/>
        </p:nvSpPr>
        <p:spPr>
          <a:xfrm>
            <a:off x="868680" y="1737360"/>
            <a:ext cx="4754880" cy="457200"/>
          </a:xfrm>
          <a:prstGeom prst="rect">
            <a:avLst/>
          </a:prstGeom>
          <a:noFill/>
          <a:ln/>
        </p:spPr>
        <p:txBody>
          <a:bodyPr wrap="square" lIns="0" tIns="0" rIns="0" bIns="0" rtlCol="0" anchor="t"/>
          <a:lstStyle/>
          <a:p>
            <a:pPr indent="0" marL="0">
              <a:buNone/>
            </a:pPr>
            <a:r>
              <a:rPr lang="en-US" sz="2200" b="1" dirty="0">
                <a:solidFill>
                  <a:schemeClr val="tx2"/>
                </a:solidFill>
              </a:rPr>
              <a:t>Current boundaries</a:t>
            </a:r>
            <a:endParaRPr lang="en-US" sz="2200" dirty="0"/>
          </a:p>
        </p:txBody>
      </p:sp>
      <p:sp>
        <p:nvSpPr>
          <p:cNvPr id="6" name="limit-circle-271"/>
          <p:cNvSpPr/>
          <p:nvPr/>
        </p:nvSpPr>
        <p:spPr>
          <a:xfrm>
            <a:off x="868680" y="2468880"/>
            <a:ext cx="457200" cy="457200"/>
          </a:xfrm>
          <a:prstGeom prst="ellipse">
            <a:avLst/>
          </a:prstGeom>
          <a:solidFill>
            <a:schemeClr val="accent4"/>
          </a:solidFill>
          <a:ln/>
        </p:spPr>
      </p:sp>
      <p:pic>
        <p:nvPicPr>
          <p:cNvPr id="7" name="limit-glyph-272" descr="limit icon">    </p:cNvPr>
          <p:cNvPicPr>
            <a:picLocks noChangeAspect="1"/>
          </p:cNvPicPr>
          <p:nvPr/>
        </p:nvPicPr>
        <p:blipFill>
          <a:blip r:embed="rId1"/>
          <a:stretch>
            <a:fillRect/>
          </a:stretch>
        </p:blipFill>
        <p:spPr>
          <a:xfrm>
            <a:off x="978408" y="2578608"/>
            <a:ext cx="237744" cy="237744"/>
          </a:xfrm>
          <a:prstGeom prst="rect">
            <a:avLst/>
          </a:prstGeom>
        </p:spPr>
      </p:pic>
      <p:sp>
        <p:nvSpPr>
          <p:cNvPr id="8" name="text-273"/>
          <p:cNvSpPr txBox="1"/>
          <p:nvPr/>
        </p:nvSpPr>
        <p:spPr>
          <a:xfrm>
            <a:off x="1554480" y="2377440"/>
            <a:ext cx="4160520" cy="640080"/>
          </a:xfrm>
          <a:prstGeom prst="rect">
            <a:avLst/>
          </a:prstGeom>
          <a:noFill/>
          <a:ln/>
        </p:spPr>
        <p:txBody>
          <a:bodyPr wrap="square" lIns="0" tIns="0" rIns="0" bIns="0" rtlCol="0" anchor="ctr"/>
          <a:lstStyle/>
          <a:p>
            <a:pPr indent="0" marL="0">
              <a:buNone/>
            </a:pPr>
            <a:r>
              <a:rPr lang="en-US" sz="1400" dirty="0">
                <a:solidFill>
                  <a:schemeClr val="tx1"/>
                </a:solidFill>
              </a:rPr>
              <a:t>No native mobile alarm scheduling</a:t>
            </a:r>
            <a:endParaRPr lang="en-US" sz="1400" dirty="0"/>
          </a:p>
        </p:txBody>
      </p:sp>
      <p:sp>
        <p:nvSpPr>
          <p:cNvPr id="9" name="limit-circle-274"/>
          <p:cNvSpPr/>
          <p:nvPr/>
        </p:nvSpPr>
        <p:spPr>
          <a:xfrm>
            <a:off x="868680" y="3172968"/>
            <a:ext cx="457200" cy="457200"/>
          </a:xfrm>
          <a:prstGeom prst="ellipse">
            <a:avLst/>
          </a:prstGeom>
          <a:solidFill>
            <a:schemeClr val="accent4"/>
          </a:solidFill>
          <a:ln/>
        </p:spPr>
      </p:sp>
      <p:pic>
        <p:nvPicPr>
          <p:cNvPr id="10" name="limit-glyph-275" descr="limit icon">    </p:cNvPr>
          <p:cNvPicPr>
            <a:picLocks noChangeAspect="1"/>
          </p:cNvPicPr>
          <p:nvPr/>
        </p:nvPicPr>
        <p:blipFill>
          <a:blip r:embed="rId2"/>
          <a:stretch>
            <a:fillRect/>
          </a:stretch>
        </p:blipFill>
        <p:spPr>
          <a:xfrm>
            <a:off x="978408" y="3282696"/>
            <a:ext cx="237744" cy="237744"/>
          </a:xfrm>
          <a:prstGeom prst="rect">
            <a:avLst/>
          </a:prstGeom>
        </p:spPr>
      </p:pic>
      <p:sp>
        <p:nvSpPr>
          <p:cNvPr id="11" name="text-276"/>
          <p:cNvSpPr txBox="1"/>
          <p:nvPr/>
        </p:nvSpPr>
        <p:spPr>
          <a:xfrm>
            <a:off x="1554480" y="3081528"/>
            <a:ext cx="4160520" cy="640080"/>
          </a:xfrm>
          <a:prstGeom prst="rect">
            <a:avLst/>
          </a:prstGeom>
          <a:noFill/>
          <a:ln/>
        </p:spPr>
        <p:txBody>
          <a:bodyPr wrap="square" lIns="0" tIns="0" rIns="0" bIns="0" rtlCol="0" anchor="ctr"/>
          <a:lstStyle/>
          <a:p>
            <a:pPr indent="0" marL="0">
              <a:buNone/>
            </a:pPr>
            <a:r>
              <a:rPr lang="en-US" sz="1400" dirty="0">
                <a:solidFill>
                  <a:schemeClr val="tx1"/>
                </a:solidFill>
              </a:rPr>
              <a:t>Nightly sleep duration is not measured</a:t>
            </a:r>
            <a:endParaRPr lang="en-US" sz="1400" dirty="0"/>
          </a:p>
        </p:txBody>
      </p:sp>
      <p:sp>
        <p:nvSpPr>
          <p:cNvPr id="12" name="limit-circle-277"/>
          <p:cNvSpPr/>
          <p:nvPr/>
        </p:nvSpPr>
        <p:spPr>
          <a:xfrm>
            <a:off x="868680" y="3877056"/>
            <a:ext cx="457200" cy="457200"/>
          </a:xfrm>
          <a:prstGeom prst="ellipse">
            <a:avLst/>
          </a:prstGeom>
          <a:solidFill>
            <a:schemeClr val="accent4"/>
          </a:solidFill>
          <a:ln/>
        </p:spPr>
      </p:sp>
      <p:pic>
        <p:nvPicPr>
          <p:cNvPr id="13" name="limit-glyph-278" descr="limit icon">    </p:cNvPr>
          <p:cNvPicPr>
            <a:picLocks noChangeAspect="1"/>
          </p:cNvPicPr>
          <p:nvPr/>
        </p:nvPicPr>
        <p:blipFill>
          <a:blip r:embed="rId3"/>
          <a:stretch>
            <a:fillRect/>
          </a:stretch>
        </p:blipFill>
        <p:spPr>
          <a:xfrm>
            <a:off x="978408" y="3986784"/>
            <a:ext cx="237744" cy="237744"/>
          </a:xfrm>
          <a:prstGeom prst="rect">
            <a:avLst/>
          </a:prstGeom>
        </p:spPr>
      </p:pic>
      <p:sp>
        <p:nvSpPr>
          <p:cNvPr id="14" name="text-279"/>
          <p:cNvSpPr txBox="1"/>
          <p:nvPr/>
        </p:nvSpPr>
        <p:spPr>
          <a:xfrm>
            <a:off x="1554480" y="3785616"/>
            <a:ext cx="4160520" cy="640080"/>
          </a:xfrm>
          <a:prstGeom prst="rect">
            <a:avLst/>
          </a:prstGeom>
          <a:noFill/>
          <a:ln/>
        </p:spPr>
        <p:txBody>
          <a:bodyPr wrap="square" lIns="0" tIns="0" rIns="0" bIns="0" rtlCol="0" anchor="ctr"/>
          <a:lstStyle/>
          <a:p>
            <a:pPr indent="0" marL="0">
              <a:buNone/>
            </a:pPr>
            <a:r>
              <a:rPr lang="en-US" sz="1400" dirty="0">
                <a:solidFill>
                  <a:schemeClr val="tx1"/>
                </a:solidFill>
              </a:rPr>
              <a:t>Readiness predictions are experimental until validated</a:t>
            </a:r>
            <a:endParaRPr lang="en-US" sz="1400" dirty="0"/>
          </a:p>
        </p:txBody>
      </p:sp>
      <p:sp>
        <p:nvSpPr>
          <p:cNvPr id="15" name="limit-circle-280"/>
          <p:cNvSpPr/>
          <p:nvPr/>
        </p:nvSpPr>
        <p:spPr>
          <a:xfrm>
            <a:off x="868680" y="4581144"/>
            <a:ext cx="457200" cy="457200"/>
          </a:xfrm>
          <a:prstGeom prst="ellipse">
            <a:avLst/>
          </a:prstGeom>
          <a:solidFill>
            <a:schemeClr val="accent4"/>
          </a:solidFill>
          <a:ln/>
        </p:spPr>
      </p:sp>
      <p:pic>
        <p:nvPicPr>
          <p:cNvPr id="16" name="limit-glyph-281" descr="limit icon">    </p:cNvPr>
          <p:cNvPicPr>
            <a:picLocks noChangeAspect="1"/>
          </p:cNvPicPr>
          <p:nvPr/>
        </p:nvPicPr>
        <p:blipFill>
          <a:blip r:embed="rId4"/>
          <a:stretch>
            <a:fillRect/>
          </a:stretch>
        </p:blipFill>
        <p:spPr>
          <a:xfrm>
            <a:off x="978408" y="4690872"/>
            <a:ext cx="237744" cy="237744"/>
          </a:xfrm>
          <a:prstGeom prst="rect">
            <a:avLst/>
          </a:prstGeom>
        </p:spPr>
      </p:pic>
      <p:sp>
        <p:nvSpPr>
          <p:cNvPr id="17" name="text-282"/>
          <p:cNvSpPr txBox="1"/>
          <p:nvPr/>
        </p:nvSpPr>
        <p:spPr>
          <a:xfrm>
            <a:off x="1554480" y="4489704"/>
            <a:ext cx="4160520" cy="640080"/>
          </a:xfrm>
          <a:prstGeom prst="rect">
            <a:avLst/>
          </a:prstGeom>
          <a:noFill/>
          <a:ln/>
        </p:spPr>
        <p:txBody>
          <a:bodyPr wrap="square" lIns="0" tIns="0" rIns="0" bIns="0" rtlCol="0" anchor="ctr"/>
          <a:lstStyle/>
          <a:p>
            <a:pPr indent="0" marL="0">
              <a:buNone/>
            </a:pPr>
            <a:r>
              <a:rPr lang="en-US" sz="1400" dirty="0">
                <a:solidFill>
                  <a:schemeClr val="tx1"/>
                </a:solidFill>
              </a:rPr>
              <a:t>Push alerts and cloud deployment need provider setup</a:t>
            </a:r>
            <a:endParaRPr lang="en-US" sz="1400" dirty="0"/>
          </a:p>
        </p:txBody>
      </p:sp>
      <p:sp>
        <p:nvSpPr>
          <p:cNvPr id="18" name="limit-circle-283"/>
          <p:cNvSpPr/>
          <p:nvPr/>
        </p:nvSpPr>
        <p:spPr>
          <a:xfrm>
            <a:off x="868680" y="5285232"/>
            <a:ext cx="457200" cy="457200"/>
          </a:xfrm>
          <a:prstGeom prst="ellipse">
            <a:avLst/>
          </a:prstGeom>
          <a:solidFill>
            <a:schemeClr val="accent4"/>
          </a:solidFill>
          <a:ln/>
        </p:spPr>
      </p:sp>
      <p:pic>
        <p:nvPicPr>
          <p:cNvPr id="19" name="limit-glyph-284" descr="limit icon">    </p:cNvPr>
          <p:cNvPicPr>
            <a:picLocks noChangeAspect="1"/>
          </p:cNvPicPr>
          <p:nvPr/>
        </p:nvPicPr>
        <p:blipFill>
          <a:blip r:embed="rId5"/>
          <a:stretch>
            <a:fillRect/>
          </a:stretch>
        </p:blipFill>
        <p:spPr>
          <a:xfrm>
            <a:off x="978408" y="5394960"/>
            <a:ext cx="237744" cy="237744"/>
          </a:xfrm>
          <a:prstGeom prst="rect">
            <a:avLst/>
          </a:prstGeom>
        </p:spPr>
      </p:pic>
      <p:sp>
        <p:nvSpPr>
          <p:cNvPr id="20" name="text-285"/>
          <p:cNvSpPr txBox="1"/>
          <p:nvPr/>
        </p:nvSpPr>
        <p:spPr>
          <a:xfrm>
            <a:off x="1554480" y="5193792"/>
            <a:ext cx="4160520" cy="640080"/>
          </a:xfrm>
          <a:prstGeom prst="rect">
            <a:avLst/>
          </a:prstGeom>
          <a:noFill/>
          <a:ln/>
        </p:spPr>
        <p:txBody>
          <a:bodyPr wrap="square" lIns="0" tIns="0" rIns="0" bIns="0" rtlCol="0" anchor="ctr"/>
          <a:lstStyle/>
          <a:p>
            <a:pPr indent="0" marL="0">
              <a:buNone/>
            </a:pPr>
            <a:r>
              <a:rPr lang="en-US" sz="1400" dirty="0">
                <a:solidFill>
                  <a:schemeClr val="tx1"/>
                </a:solidFill>
              </a:rPr>
              <a:t>Load testing needed before production-scale claims</a:t>
            </a:r>
            <a:endParaRPr lang="en-US" sz="1400" dirty="0"/>
          </a:p>
        </p:txBody>
      </p:sp>
      <p:sp>
        <p:nvSpPr>
          <p:cNvPr id="21" name="future-panel-286"/>
          <p:cNvSpPr/>
          <p:nvPr/>
        </p:nvSpPr>
        <p:spPr>
          <a:xfrm>
            <a:off x="6245352" y="1508760"/>
            <a:ext cx="5394960" cy="4480560"/>
          </a:xfrm>
          <a:prstGeom prst="roundRect">
            <a:avLst>
              <a:gd name="adj" fmla="val 2449"/>
            </a:avLst>
          </a:prstGeom>
          <a:solidFill>
            <a:schemeClr val="tx2"/>
          </a:solidFill>
          <a:ln/>
        </p:spPr>
      </p:sp>
      <p:sp>
        <p:nvSpPr>
          <p:cNvPr id="22" name="text-287"/>
          <p:cNvSpPr txBox="1"/>
          <p:nvPr/>
        </p:nvSpPr>
        <p:spPr>
          <a:xfrm>
            <a:off x="6565392" y="1737360"/>
            <a:ext cx="4754880" cy="457200"/>
          </a:xfrm>
          <a:prstGeom prst="rect">
            <a:avLst/>
          </a:prstGeom>
          <a:noFill/>
          <a:ln/>
        </p:spPr>
        <p:txBody>
          <a:bodyPr wrap="square" lIns="0" tIns="0" rIns="0" bIns="0" rtlCol="0" anchor="t"/>
          <a:lstStyle/>
          <a:p>
            <a:pPr indent="0" marL="0">
              <a:buNone/>
            </a:pPr>
            <a:r>
              <a:rPr lang="en-US" sz="2200" b="1" dirty="0">
                <a:solidFill>
                  <a:schemeClr val="accent1"/>
                </a:solidFill>
              </a:rPr>
              <a:t>Future work</a:t>
            </a:r>
            <a:endParaRPr lang="en-US" sz="2200" dirty="0"/>
          </a:p>
        </p:txBody>
      </p:sp>
      <p:sp>
        <p:nvSpPr>
          <p:cNvPr id="23" name="future-circle-288"/>
          <p:cNvSpPr/>
          <p:nvPr/>
        </p:nvSpPr>
        <p:spPr>
          <a:xfrm>
            <a:off x="6565392" y="2468880"/>
            <a:ext cx="457200" cy="457200"/>
          </a:xfrm>
          <a:prstGeom prst="ellipse">
            <a:avLst/>
          </a:prstGeom>
          <a:solidFill>
            <a:schemeClr val="accent1"/>
          </a:solidFill>
          <a:ln/>
        </p:spPr>
      </p:sp>
      <p:pic>
        <p:nvPicPr>
          <p:cNvPr id="24" name="future-glyph-289" descr="future icon">    </p:cNvPr>
          <p:cNvPicPr>
            <a:picLocks noChangeAspect="1"/>
          </p:cNvPicPr>
          <p:nvPr/>
        </p:nvPicPr>
        <p:blipFill>
          <a:blip r:embed="rId6"/>
          <a:stretch>
            <a:fillRect/>
          </a:stretch>
        </p:blipFill>
        <p:spPr>
          <a:xfrm>
            <a:off x="6675120" y="2578608"/>
            <a:ext cx="237744" cy="237744"/>
          </a:xfrm>
          <a:prstGeom prst="rect">
            <a:avLst/>
          </a:prstGeom>
        </p:spPr>
      </p:pic>
      <p:sp>
        <p:nvSpPr>
          <p:cNvPr id="25" name="text-290"/>
          <p:cNvSpPr txBox="1"/>
          <p:nvPr/>
        </p:nvSpPr>
        <p:spPr>
          <a:xfrm>
            <a:off x="7251192" y="2377440"/>
            <a:ext cx="4160520" cy="640080"/>
          </a:xfrm>
          <a:prstGeom prst="rect">
            <a:avLst/>
          </a:prstGeom>
          <a:noFill/>
          <a:ln/>
        </p:spPr>
        <p:txBody>
          <a:bodyPr wrap="square" lIns="0" tIns="0" rIns="0" bIns="0" rtlCol="0" anchor="ctr"/>
          <a:lstStyle/>
          <a:p>
            <a:pPr indent="0" marL="0">
              <a:buNone/>
            </a:pPr>
            <a:r>
              <a:rPr lang="en-US" sz="1400" dirty="0">
                <a:solidFill>
                  <a:schemeClr val="bg1"/>
                </a:solidFill>
              </a:rPr>
              <a:t>Native mobile client</a:t>
            </a:r>
            <a:endParaRPr lang="en-US" sz="1400" dirty="0"/>
          </a:p>
        </p:txBody>
      </p:sp>
      <p:sp>
        <p:nvSpPr>
          <p:cNvPr id="26" name="future-circle-291"/>
          <p:cNvSpPr/>
          <p:nvPr/>
        </p:nvSpPr>
        <p:spPr>
          <a:xfrm>
            <a:off x="6565392" y="3172968"/>
            <a:ext cx="457200" cy="457200"/>
          </a:xfrm>
          <a:prstGeom prst="ellipse">
            <a:avLst/>
          </a:prstGeom>
          <a:solidFill>
            <a:schemeClr val="accent1"/>
          </a:solidFill>
          <a:ln/>
        </p:spPr>
      </p:sp>
      <p:pic>
        <p:nvPicPr>
          <p:cNvPr id="27" name="future-glyph-292" descr="future icon">    </p:cNvPr>
          <p:cNvPicPr>
            <a:picLocks noChangeAspect="1"/>
          </p:cNvPicPr>
          <p:nvPr/>
        </p:nvPicPr>
        <p:blipFill>
          <a:blip r:embed="rId7"/>
          <a:stretch>
            <a:fillRect/>
          </a:stretch>
        </p:blipFill>
        <p:spPr>
          <a:xfrm>
            <a:off x="6675120" y="3282696"/>
            <a:ext cx="237744" cy="237744"/>
          </a:xfrm>
          <a:prstGeom prst="rect">
            <a:avLst/>
          </a:prstGeom>
        </p:spPr>
      </p:pic>
      <p:sp>
        <p:nvSpPr>
          <p:cNvPr id="28" name="text-293"/>
          <p:cNvSpPr txBox="1"/>
          <p:nvPr/>
        </p:nvSpPr>
        <p:spPr>
          <a:xfrm>
            <a:off x="7251192" y="3081528"/>
            <a:ext cx="4160520" cy="640080"/>
          </a:xfrm>
          <a:prstGeom prst="rect">
            <a:avLst/>
          </a:prstGeom>
          <a:noFill/>
          <a:ln/>
        </p:spPr>
        <p:txBody>
          <a:bodyPr wrap="square" lIns="0" tIns="0" rIns="0" bIns="0" rtlCol="0" anchor="ctr"/>
          <a:lstStyle/>
          <a:p>
            <a:pPr indent="0" marL="0">
              <a:buNone/>
            </a:pPr>
            <a:r>
              <a:rPr lang="en-US" sz="1400" dirty="0">
                <a:solidFill>
                  <a:schemeClr val="bg1"/>
                </a:solidFill>
              </a:rPr>
              <a:t>Verified device-level alarm scheduling</a:t>
            </a:r>
            <a:endParaRPr lang="en-US" sz="1400" dirty="0"/>
          </a:p>
        </p:txBody>
      </p:sp>
      <p:sp>
        <p:nvSpPr>
          <p:cNvPr id="29" name="future-circle-294"/>
          <p:cNvSpPr/>
          <p:nvPr/>
        </p:nvSpPr>
        <p:spPr>
          <a:xfrm>
            <a:off x="6565392" y="3877056"/>
            <a:ext cx="457200" cy="457200"/>
          </a:xfrm>
          <a:prstGeom prst="ellipse">
            <a:avLst/>
          </a:prstGeom>
          <a:solidFill>
            <a:schemeClr val="accent1"/>
          </a:solidFill>
          <a:ln/>
        </p:spPr>
      </p:sp>
      <p:pic>
        <p:nvPicPr>
          <p:cNvPr id="30" name="future-glyph-295" descr="future icon">    </p:cNvPr>
          <p:cNvPicPr>
            <a:picLocks noChangeAspect="1"/>
          </p:cNvPicPr>
          <p:nvPr/>
        </p:nvPicPr>
        <p:blipFill>
          <a:blip r:embed="rId8"/>
          <a:stretch>
            <a:fillRect/>
          </a:stretch>
        </p:blipFill>
        <p:spPr>
          <a:xfrm>
            <a:off x="6675120" y="3986784"/>
            <a:ext cx="237744" cy="237744"/>
          </a:xfrm>
          <a:prstGeom prst="rect">
            <a:avLst/>
          </a:prstGeom>
        </p:spPr>
      </p:pic>
      <p:sp>
        <p:nvSpPr>
          <p:cNvPr id="31" name="text-296"/>
          <p:cNvSpPr txBox="1"/>
          <p:nvPr/>
        </p:nvSpPr>
        <p:spPr>
          <a:xfrm>
            <a:off x="7251192" y="3785616"/>
            <a:ext cx="4160520" cy="640080"/>
          </a:xfrm>
          <a:prstGeom prst="rect">
            <a:avLst/>
          </a:prstGeom>
          <a:noFill/>
          <a:ln/>
        </p:spPr>
        <p:txBody>
          <a:bodyPr wrap="square" lIns="0" tIns="0" rIns="0" bIns="0" rtlCol="0" anchor="ctr"/>
          <a:lstStyle/>
          <a:p>
            <a:pPr indent="0" marL="0">
              <a:buNone/>
            </a:pPr>
            <a:r>
              <a:rPr lang="en-US" sz="1400" dirty="0">
                <a:solidFill>
                  <a:schemeClr val="bg1"/>
                </a:solidFill>
              </a:rPr>
              <a:t>Sleep-data integrations</a:t>
            </a:r>
            <a:endParaRPr lang="en-US" sz="1400" dirty="0"/>
          </a:p>
        </p:txBody>
      </p:sp>
      <p:sp>
        <p:nvSpPr>
          <p:cNvPr id="32" name="future-circle-297"/>
          <p:cNvSpPr/>
          <p:nvPr/>
        </p:nvSpPr>
        <p:spPr>
          <a:xfrm>
            <a:off x="6565392" y="4581144"/>
            <a:ext cx="457200" cy="457200"/>
          </a:xfrm>
          <a:prstGeom prst="ellipse">
            <a:avLst/>
          </a:prstGeom>
          <a:solidFill>
            <a:schemeClr val="accent1"/>
          </a:solidFill>
          <a:ln/>
        </p:spPr>
      </p:sp>
      <p:pic>
        <p:nvPicPr>
          <p:cNvPr id="33" name="future-glyph-298" descr="future icon">    </p:cNvPr>
          <p:cNvPicPr>
            <a:picLocks noChangeAspect="1"/>
          </p:cNvPicPr>
          <p:nvPr/>
        </p:nvPicPr>
        <p:blipFill>
          <a:blip r:embed="rId9"/>
          <a:stretch>
            <a:fillRect/>
          </a:stretch>
        </p:blipFill>
        <p:spPr>
          <a:xfrm>
            <a:off x="6675120" y="4690872"/>
            <a:ext cx="237744" cy="237744"/>
          </a:xfrm>
          <a:prstGeom prst="rect">
            <a:avLst/>
          </a:prstGeom>
        </p:spPr>
      </p:pic>
      <p:sp>
        <p:nvSpPr>
          <p:cNvPr id="34" name="text-299"/>
          <p:cNvSpPr txBox="1"/>
          <p:nvPr/>
        </p:nvSpPr>
        <p:spPr>
          <a:xfrm>
            <a:off x="7251192" y="4489704"/>
            <a:ext cx="4160520" cy="640080"/>
          </a:xfrm>
          <a:prstGeom prst="rect">
            <a:avLst/>
          </a:prstGeom>
          <a:noFill/>
          <a:ln/>
        </p:spPr>
        <p:txBody>
          <a:bodyPr wrap="square" lIns="0" tIns="0" rIns="0" bIns="0" rtlCol="0" anchor="ctr"/>
          <a:lstStyle/>
          <a:p>
            <a:pPr indent="0" marL="0">
              <a:buNone/>
            </a:pPr>
            <a:r>
              <a:rPr lang="en-US" sz="1400" dirty="0">
                <a:solidFill>
                  <a:schemeClr val="bg1"/>
                </a:solidFill>
              </a:rPr>
              <a:t>Real-world model evaluation</a:t>
            </a:r>
            <a:endParaRPr lang="en-US" sz="1400" dirty="0"/>
          </a:p>
        </p:txBody>
      </p:sp>
      <p:sp>
        <p:nvSpPr>
          <p:cNvPr id="35" name="future-circle-300"/>
          <p:cNvSpPr/>
          <p:nvPr/>
        </p:nvSpPr>
        <p:spPr>
          <a:xfrm>
            <a:off x="6565392" y="5285232"/>
            <a:ext cx="457200" cy="457200"/>
          </a:xfrm>
          <a:prstGeom prst="ellipse">
            <a:avLst/>
          </a:prstGeom>
          <a:solidFill>
            <a:schemeClr val="accent1"/>
          </a:solidFill>
          <a:ln/>
        </p:spPr>
      </p:sp>
      <p:pic>
        <p:nvPicPr>
          <p:cNvPr id="36" name="future-glyph-301" descr="future icon">    </p:cNvPr>
          <p:cNvPicPr>
            <a:picLocks noChangeAspect="1"/>
          </p:cNvPicPr>
          <p:nvPr/>
        </p:nvPicPr>
        <p:blipFill>
          <a:blip r:embed="rId10"/>
          <a:stretch>
            <a:fillRect/>
          </a:stretch>
        </p:blipFill>
        <p:spPr>
          <a:xfrm>
            <a:off x="6675120" y="5394960"/>
            <a:ext cx="237744" cy="237744"/>
          </a:xfrm>
          <a:prstGeom prst="rect">
            <a:avLst/>
          </a:prstGeom>
        </p:spPr>
      </p:pic>
      <p:sp>
        <p:nvSpPr>
          <p:cNvPr id="37" name="text-302"/>
          <p:cNvSpPr txBox="1"/>
          <p:nvPr/>
        </p:nvSpPr>
        <p:spPr>
          <a:xfrm>
            <a:off x="7251192" y="5193792"/>
            <a:ext cx="4160520" cy="640080"/>
          </a:xfrm>
          <a:prstGeom prst="rect">
            <a:avLst/>
          </a:prstGeom>
          <a:noFill/>
          <a:ln/>
        </p:spPr>
        <p:txBody>
          <a:bodyPr wrap="square" lIns="0" tIns="0" rIns="0" bIns="0" rtlCol="0" anchor="ctr"/>
          <a:lstStyle/>
          <a:p>
            <a:pPr indent="0" marL="0">
              <a:buNone/>
            </a:pPr>
            <a:r>
              <a:rPr lang="en-US" sz="1400" dirty="0">
                <a:solidFill>
                  <a:schemeClr val="bg1"/>
                </a:solidFill>
              </a:rPr>
              <a:t>Deployment monitoring</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731520" y="1737360"/>
            <a:ext cx="6126480" cy="118872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1"/>
          <p:cNvSpPr/>
          <p:nvPr>
            <p:ph idx="102" type="body" hasCustomPrompt="1"/>
          </p:nvPr>
        </p:nvSpPr>
        <p:spPr>
          <a:xfrm>
            <a:off x="731520" y="3154680"/>
            <a:ext cx="5852160" cy="1371600"/>
          </a:xfrm>
          <a:prstGeom prst="rect">
            <a:avLst/>
          </a:prstGeom>
          <a:noFill/>
          <a:ln/>
        </p:spPr>
        <p:txBody>
          <a:bodyPr wrap="square" lIns="0" tIns="0" rIns="0" bIns="0" rtlCol="0" anchor="t"/>
          <a:lstStyle/>
          <a:p>
            <a:pPr algn="l" indent="0" marL="0">
              <a:buNone/>
            </a:pPr>
            <a:r>
              <a:rPr lang="en-US" sz="1800" dirty="0">
                <a:solidFill>
                  <a:schemeClr val="bg2"/>
                </a:solidFill>
              </a:rPr>
              <a:t>Turning waking up from a passive dismissal into a measurable interaction: alarms, cognitive challenges, analytics and personalized feedback in one full-stack application.</a:t>
            </a:r>
            <a:endParaRPr lang="en-US" sz="1800" dirty="0"/>
          </a:p>
        </p:txBody>
      </p:sp>
      <p:sp>
        <p:nvSpPr>
          <p:cNvPr id="4" name="text-303"/>
          <p:cNvSpPr txBox="1"/>
          <p:nvPr/>
        </p:nvSpPr>
        <p:spPr>
          <a:xfrm>
            <a:off x="731520" y="4892040"/>
            <a:ext cx="585216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Questions?</a:t>
            </a:r>
            <a:endParaRPr lang="en-US" sz="3000" dirty="0"/>
          </a:p>
        </p:txBody>
      </p:sp>
      <p:sp>
        <p:nvSpPr>
          <p:cNvPr id="5" name="text-304"/>
          <p:cNvSpPr txBox="1"/>
          <p:nvPr/>
        </p:nvSpPr>
        <p:spPr>
          <a:xfrm>
            <a:off x="731520" y="5577840"/>
            <a:ext cx="6035040" cy="365760"/>
          </a:xfrm>
          <a:prstGeom prst="rect">
            <a:avLst/>
          </a:prstGeom>
          <a:noFill/>
          <a:ln/>
        </p:spPr>
        <p:txBody>
          <a:bodyPr wrap="square" lIns="0" tIns="0" rIns="0" bIns="0" rtlCol="0" anchor="t"/>
          <a:lstStyle/>
          <a:p>
            <a:pPr indent="0" marL="0">
              <a:buNone/>
            </a:pPr>
            <a:r>
              <a:rPr lang="en-US" sz="1400" dirty="0">
                <a:solidFill>
                  <a:schemeClr val="bg2"/>
                </a:solidFill>
              </a:rPr>
              <a:t>Yada Srilaxmi · Infosys Springboard 7.0 Project</a:t>
            </a:r>
            <a:endParaRPr lang="en-US" sz="1400" dirty="0"/>
          </a:p>
        </p:txBody>
      </p:sp>
      <p:sp>
        <p:nvSpPr>
          <p:cNvPr id="6" name="ring-305"/>
          <p:cNvSpPr/>
          <p:nvPr/>
        </p:nvSpPr>
        <p:spPr>
          <a:xfrm>
            <a:off x="7040880" y="777240"/>
            <a:ext cx="5303520" cy="5303520"/>
          </a:xfrm>
          <a:prstGeom prst="ellipse">
            <a:avLst/>
          </a:prstGeom>
          <a:solidFill>
            <a:schemeClr val="tx2">
              <a:alpha val="0"/>
            </a:schemeClr>
          </a:solidFill>
          <a:ln w="19050">
            <a:solidFill>
              <a:schemeClr val="accent5"/>
            </a:solidFill>
            <a:prstDash val="solid"/>
          </a:ln>
        </p:spPr>
      </p:sp>
      <p:sp>
        <p:nvSpPr>
          <p:cNvPr id="7" name="ring-306"/>
          <p:cNvSpPr/>
          <p:nvPr/>
        </p:nvSpPr>
        <p:spPr>
          <a:xfrm>
            <a:off x="7680960" y="1417320"/>
            <a:ext cx="4023360" cy="4023360"/>
          </a:xfrm>
          <a:prstGeom prst="ellipse">
            <a:avLst/>
          </a:prstGeom>
          <a:solidFill>
            <a:schemeClr val="tx2">
              <a:alpha val="0"/>
            </a:schemeClr>
          </a:solidFill>
          <a:ln w="31750">
            <a:solidFill>
              <a:schemeClr val="accent5"/>
            </a:solidFill>
            <a:prstDash val="solid"/>
          </a:ln>
        </p:spPr>
      </p:sp>
      <p:sp>
        <p:nvSpPr>
          <p:cNvPr id="8" name="ring-307"/>
          <p:cNvSpPr/>
          <p:nvPr/>
        </p:nvSpPr>
        <p:spPr>
          <a:xfrm>
            <a:off x="8366760" y="2103120"/>
            <a:ext cx="2651760" cy="2651760"/>
          </a:xfrm>
          <a:prstGeom prst="ellipse">
            <a:avLst/>
          </a:prstGeom>
          <a:solidFill>
            <a:schemeClr val="tx2">
              <a:alpha val="0"/>
            </a:schemeClr>
          </a:solidFill>
          <a:ln w="25400">
            <a:solidFill>
              <a:schemeClr val="accent1"/>
            </a:solidFill>
            <a:prstDash val="solid"/>
          </a:ln>
        </p:spPr>
      </p:sp>
      <p:sp>
        <p:nvSpPr>
          <p:cNvPr id="9" name="hero-circle-308"/>
          <p:cNvSpPr/>
          <p:nvPr/>
        </p:nvSpPr>
        <p:spPr>
          <a:xfrm>
            <a:off x="8823960" y="2560320"/>
            <a:ext cx="1737360" cy="1737360"/>
          </a:xfrm>
          <a:prstGeom prst="ellipse">
            <a:avLst/>
          </a:prstGeom>
          <a:solidFill>
            <a:schemeClr val="accent1"/>
          </a:solidFill>
          <a:ln/>
        </p:spPr>
      </p:sp>
      <p:pic>
        <p:nvPicPr>
          <p:cNvPr id="10" name="hero-bell-309" descr="Alarm bell icon">    </p:cNvPr>
          <p:cNvPicPr>
            <a:picLocks noChangeAspect="1"/>
          </p:cNvPicPr>
          <p:nvPr/>
        </p:nvPicPr>
        <p:blipFill>
          <a:blip r:embed="rId1"/>
          <a:stretch>
            <a:fillRect/>
          </a:stretch>
        </p:blipFill>
        <p:spPr>
          <a:xfrm>
            <a:off x="9235440" y="2971800"/>
            <a:ext cx="914400" cy="914400"/>
          </a:xfrm>
          <a:prstGeom prst="rect">
            <a:avLst/>
          </a:prstGeom>
        </p:spPr>
      </p:pic>
      <p:sp>
        <p:nvSpPr>
          <p:cNvPr id="11" name="FaBrain-circle-310"/>
          <p:cNvSpPr/>
          <p:nvPr/>
        </p:nvSpPr>
        <p:spPr>
          <a:xfrm>
            <a:off x="8033797" y="1522204"/>
            <a:ext cx="731520" cy="731520"/>
          </a:xfrm>
          <a:prstGeom prst="ellipse">
            <a:avLst/>
          </a:prstGeom>
          <a:solidFill>
            <a:schemeClr val="accent2"/>
          </a:solidFill>
          <a:ln/>
        </p:spPr>
      </p:sp>
      <p:pic>
        <p:nvPicPr>
          <p:cNvPr id="12" name="FaBrain-glyph-311" descr="Brain icon">    </p:cNvPr>
          <p:cNvPicPr>
            <a:picLocks noChangeAspect="1"/>
          </p:cNvPicPr>
          <p:nvPr/>
        </p:nvPicPr>
        <p:blipFill>
          <a:blip r:embed="rId2"/>
          <a:stretch>
            <a:fillRect/>
          </a:stretch>
        </p:blipFill>
        <p:spPr>
          <a:xfrm>
            <a:off x="8209362" y="1697769"/>
            <a:ext cx="380390" cy="380390"/>
          </a:xfrm>
          <a:prstGeom prst="rect">
            <a:avLst/>
          </a:prstGeom>
        </p:spPr>
      </p:pic>
      <p:sp>
        <p:nvSpPr>
          <p:cNvPr id="13" name="FaChartLine-circle-312"/>
          <p:cNvSpPr/>
          <p:nvPr/>
        </p:nvSpPr>
        <p:spPr>
          <a:xfrm>
            <a:off x="11150081" y="3913413"/>
            <a:ext cx="731520" cy="731520"/>
          </a:xfrm>
          <a:prstGeom prst="ellipse">
            <a:avLst/>
          </a:prstGeom>
          <a:solidFill>
            <a:schemeClr val="accent3"/>
          </a:solidFill>
          <a:ln/>
        </p:spPr>
      </p:sp>
      <p:pic>
        <p:nvPicPr>
          <p:cNvPr id="14" name="FaChartLine-glyph-313" descr="ChartLine icon">    </p:cNvPr>
          <p:cNvPicPr>
            <a:picLocks noChangeAspect="1"/>
          </p:cNvPicPr>
          <p:nvPr/>
        </p:nvPicPr>
        <p:blipFill>
          <a:blip r:embed="rId3"/>
          <a:stretch>
            <a:fillRect/>
          </a:stretch>
        </p:blipFill>
        <p:spPr>
          <a:xfrm>
            <a:off x="11325646" y="4088978"/>
            <a:ext cx="380390" cy="380390"/>
          </a:xfrm>
          <a:prstGeom prst="rect">
            <a:avLst/>
          </a:prstGeom>
        </p:spPr>
      </p:pic>
      <p:sp>
        <p:nvSpPr>
          <p:cNvPr id="15" name="FaClock-circle-314"/>
          <p:cNvSpPr/>
          <p:nvPr/>
        </p:nvSpPr>
        <p:spPr>
          <a:xfrm>
            <a:off x="8173028" y="4711112"/>
            <a:ext cx="731520" cy="731520"/>
          </a:xfrm>
          <a:prstGeom prst="ellipse">
            <a:avLst/>
          </a:prstGeom>
          <a:solidFill>
            <a:schemeClr val="accent4"/>
          </a:solidFill>
          <a:ln/>
        </p:spPr>
      </p:sp>
      <p:pic>
        <p:nvPicPr>
          <p:cNvPr id="16" name="FaClock-glyph-315" descr="Clock icon">    </p:cNvPr>
          <p:cNvPicPr>
            <a:picLocks noChangeAspect="1"/>
          </p:cNvPicPr>
          <p:nvPr/>
        </p:nvPicPr>
        <p:blipFill>
          <a:blip r:embed="rId4"/>
          <a:stretch>
            <a:fillRect/>
          </a:stretch>
        </p:blipFill>
        <p:spPr>
          <a:xfrm>
            <a:off x="8348593" y="4886677"/>
            <a:ext cx="380390" cy="380390"/>
          </a:xfrm>
          <a:prstGeom prst="rect">
            <a:avLst/>
          </a:prstGeom>
        </p:spPr>
      </p:pic>
    </p:spTree>
  </p:cSld>
  <p:clrMapOvr>
    <a:masterClrMapping/>
  </p:clrMapOvr>
</p:sld>
</file>

<file path=ppt/theme/theme1.xml><?xml version="1.0" encoding="utf-8"?>
<a:theme xmlns:a="http://schemas.openxmlformats.org/drawingml/2006/main" name="Cognitive Alarm">
  <a:themeElements>
    <a:clrScheme name="Cognitive Alarm">
      <a:dk1>
        <a:srgbClr val="14142B"/>
      </a:dk1>
      <a:lt1>
        <a:srgbClr val="FFFFFF"/>
      </a:lt1>
      <a:dk2>
        <a:srgbClr val="1E1B4B"/>
      </a:dk2>
      <a:lt2>
        <a:srgbClr val="F1F2F9"/>
      </a:lt2>
      <a:accent1>
        <a:srgbClr val="F59E0B"/>
      </a:accent1>
      <a:accent2>
        <a:srgbClr val="6C5CE7"/>
      </a:accent2>
      <a:accent3>
        <a:srgbClr val="0F8B8D"/>
      </a:accent3>
      <a:accent4>
        <a:srgbClr val="D9480F"/>
      </a:accent4>
      <a:accent5>
        <a:srgbClr val="3B3A7A"/>
      </a:accent5>
      <a:accent6>
        <a:srgbClr val="64748B"/>
      </a:accent6>
      <a:hlink>
        <a:srgbClr val="6C5CE7"/>
      </a:hlink>
      <a:folHlink>
        <a:srgbClr val="64748B"/>
      </a:folHlink>
    </a:clrScheme>
    <a:fontScheme name="Cognitive Ala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Cognitive Alarm Platform</dc:title>
  <dc:subject>PptxGenJS Presentation</dc:subject>
  <dc:creator>Yada Srilaxmi</dc:creator>
  <cp:lastModifiedBy>Yada Srilaxmi</cp:lastModifiedBy>
  <cp:revision>1</cp:revision>
  <dcterms:created xsi:type="dcterms:W3CDTF">2026-10-19T05:24:54Z</dcterms:created>
  <dcterms:modified xsi:type="dcterms:W3CDTF">2026-10-19T05:24:54Z</dcterms:modified>
</cp:coreProperties>
</file>