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91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32520" y="685800"/>
            <a:ext cx="2514600" cy="2514600"/>
          </a:xfrm>
          <a:prstGeom prst="ellipse">
            <a:avLst/>
          </a:prstGeom>
          <a:solidFill>
            <a:srgbClr val="315B4C"/>
          </a:solidFill>
          <a:ln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253728" y="1207008"/>
            <a:ext cx="1481328" cy="1481328"/>
          </a:xfrm>
          <a:prstGeom prst="ellipse">
            <a:avLst/>
          </a:prstGeom>
          <a:solidFill>
            <a:srgbClr val="1C2B26"/>
          </a:solidFill>
          <a:ln>
            <a:solidFill>
              <a:srgbClr val="BE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738360" y="1691640"/>
            <a:ext cx="512064" cy="512064"/>
          </a:xfrm>
          <a:prstGeom prst="ellipse">
            <a:avLst/>
          </a:prstGeom>
          <a:solidFill>
            <a:srgbClr val="BE9242"/>
          </a:solidFill>
          <a:ln>
            <a:solidFill>
              <a:srgbClr val="BE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909560" y="3886200"/>
            <a:ext cx="3429000" cy="960120"/>
          </a:xfrm>
          <a:prstGeom prst="roundRect">
            <a:avLst/>
          </a:prstGeom>
          <a:solidFill>
            <a:srgbClr val="253A31"/>
          </a:solidFill>
          <a:ln>
            <a:solidFill>
              <a:srgbClr val="25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5120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BE9242"/>
                </a:solidFill>
                <a:latin typeface="Aptos"/>
              </a:defRPr>
            </a:pPr>
            <a:r>
              <a:t>FINAL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53312"/>
            <a:ext cx="7132320" cy="2331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3400" b="1" i="0">
                <a:solidFill>
                  <a:srgbClr val="FFFFFF"/>
                </a:solidFill>
                <a:latin typeface="Aptos"/>
              </a:defRPr>
            </a:pPr>
            <a:r>
              <a:t>Intelligent</a:t>
            </a:r>
          </a:p>
          <a:p>
            <a:pPr algn="l">
              <a:spcAft>
                <a:spcPts val="500"/>
              </a:spcAft>
              <a:defRPr sz="3400" b="1" i="0">
                <a:solidFill>
                  <a:srgbClr val="FFFFFF"/>
                </a:solidFill>
                <a:latin typeface="Aptos"/>
              </a:defRPr>
            </a:pPr>
            <a:r>
              <a:t>Cognitive Alarm</a:t>
            </a:r>
          </a:p>
          <a:p>
            <a:pPr algn="l">
              <a:spcAft>
                <a:spcPts val="500"/>
              </a:spcAft>
              <a:defRPr sz="3400" b="1" i="0">
                <a:solidFill>
                  <a:srgbClr val="FFFFFF"/>
                </a:solidFill>
                <a:latin typeface="Aptos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977639"/>
            <a:ext cx="6675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0" i="0">
                <a:solidFill>
                  <a:srgbClr val="DEE5DC"/>
                </a:solidFill>
                <a:latin typeface="Aptos"/>
              </a:defRPr>
            </a:pPr>
            <a:r>
              <a:t>A smarter wake-up routine powered by cognitive challenges,</a:t>
            </a:r>
          </a:p>
          <a:p>
            <a:pPr algn="l">
              <a:spcAft>
                <a:spcPts val="500"/>
              </a:spcAft>
              <a:defRPr sz="1700" b="0" i="0">
                <a:solidFill>
                  <a:srgbClr val="DEE5DC"/>
                </a:solidFill>
                <a:latin typeface="Aptos"/>
              </a:defRPr>
            </a:pPr>
            <a:r>
              <a:t>behavioral insights and adaptive difficulty.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230368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Presented by: R. Pradeep Kumar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5623560"/>
            <a:ext cx="4114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BECDC2"/>
                </a:solidFill>
                <a:latin typeface="Aptos"/>
              </a:defRPr>
            </a:pPr>
            <a:r>
              <a:t>Project demonstration •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160520"/>
            <a:ext cx="3108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BE9242"/>
                </a:solidFill>
                <a:latin typeface="Aptos"/>
              </a:defRPr>
            </a:pPr>
            <a:r>
              <a:t>WAKE WITH 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498848"/>
            <a:ext cx="3108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FFFFFF"/>
                </a:solidFill>
                <a:latin typeface="Aptos"/>
              </a:defRPr>
            </a:pPr>
            <a:r>
              <a:t>Challenge  →  Verify  →  Learn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C8D2CA"/>
                </a:solidFill>
                <a:latin typeface="Aptos"/>
              </a:defRPr>
            </a:pPr>
            <a:r>
              <a:t>INTELLIGENT COGNITIVE ALARM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6492240"/>
            <a:ext cx="731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C8D2CA"/>
                </a:solidFill>
                <a:latin typeface="Aptos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315B4C"/>
                </a:solidFill>
                <a:latin typeface="Aptos"/>
              </a:defRPr>
            </a:pPr>
            <a:r>
              <a:t>01 / 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C2B26"/>
                </a:solidFill>
                <a:latin typeface="Aptos"/>
              </a:defRPr>
            </a:pPr>
            <a:r>
              <a:t>The problem — and our 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822960" cy="50292"/>
          </a:xfrm>
          <a:prstGeom prst="rect">
            <a:avLst/>
          </a:prstGeom>
          <a:solidFill>
            <a:srgbClr val="BE9242"/>
          </a:solidFill>
          <a:ln>
            <a:solidFill>
              <a:srgbClr val="BE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2578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2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611880"/>
          </a:xfrm>
          <a:prstGeom prst="rect">
            <a:avLst/>
          </a:prstGeom>
          <a:solidFill>
            <a:srgbClr val="974C3B"/>
          </a:solidFill>
          <a:ln>
            <a:solidFill>
              <a:srgbClr val="974C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764792"/>
            <a:ext cx="487375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900" b="1" i="0">
                <a:solidFill>
                  <a:srgbClr val="1C2B26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94560"/>
            <a:ext cx="4873752" cy="2898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 i="0">
                <a:solidFill>
                  <a:srgbClr val="2D3430"/>
                </a:solidFill>
                <a:latin typeface="Aptos"/>
              </a:defRPr>
            </a:pPr>
            <a:r>
              <a:t>• Repeated snoozing can weaken morning routines</a:t>
            </a:r>
          </a:p>
          <a:p>
            <a:pPr algn="l">
              <a:spcAft>
                <a:spcPts val="500"/>
              </a:spcAft>
              <a:defRPr sz="1600" b="0" i="0">
                <a:solidFill>
                  <a:srgbClr val="2D3430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600" b="0" i="0">
                <a:solidFill>
                  <a:srgbClr val="2D3430"/>
                </a:solidFill>
                <a:latin typeface="Aptos"/>
              </a:defRPr>
            </a:pPr>
            <a:r>
              <a:t>• A simple alarm can be dismissed without meaningful engagement</a:t>
            </a:r>
          </a:p>
          <a:p>
            <a:pPr algn="l">
              <a:spcAft>
                <a:spcPts val="500"/>
              </a:spcAft>
              <a:defRPr sz="1600" b="0" i="0">
                <a:solidFill>
                  <a:srgbClr val="2D3430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600" b="0" i="0">
                <a:solidFill>
                  <a:srgbClr val="2D3430"/>
                </a:solidFill>
                <a:latin typeface="Aptos"/>
              </a:defRPr>
            </a:pPr>
            <a:r>
              <a:t>• Users have limited feedback on consistency and wake-up habits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2578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2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73152" cy="3611880"/>
          </a:xfrm>
          <a:prstGeom prst="rect">
            <a:avLst/>
          </a:prstGeom>
          <a:solidFill>
            <a:srgbClr val="315B4C"/>
          </a:solidFill>
          <a:ln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7" y="1764792"/>
            <a:ext cx="487375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900" b="1" i="0">
                <a:solidFill>
                  <a:srgbClr val="1C2B26"/>
                </a:solidFill>
                <a:latin typeface="Aptos"/>
              </a:defRPr>
            </a:pPr>
            <a:r>
              <a:t>Our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194560"/>
            <a:ext cx="4873752" cy="2898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 i="0">
                <a:solidFill>
                  <a:srgbClr val="2D3430"/>
                </a:solidFill>
                <a:latin typeface="Aptos"/>
              </a:defRPr>
            </a:pPr>
            <a:r>
              <a:t>Build an alarm workflow that asks users to complete a short cognitive task before dismissal, then uses performance and behavior signals to guide difficulty, habit tracking and recommendations.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486400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315B4C"/>
                </a:solidFill>
                <a:latin typeface="Aptos"/>
              </a:defRPr>
            </a:pPr>
            <a:r>
              <a:t>DESIGN PRINCIPLE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5422392"/>
            <a:ext cx="8961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1C2B26"/>
                </a:solidFill>
                <a:latin typeface="Aptos"/>
              </a:defRPr>
            </a:pPr>
            <a:r>
              <a:t>Turn wake-up from a one-tap action into a measurable, habit-building interaction.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656E67"/>
                </a:solidFill>
                <a:latin typeface="Aptos"/>
              </a:defRPr>
            </a:pPr>
            <a:r>
              <a:t>INTELLIGENT COGNITIVE ALARM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5640" y="6492240"/>
            <a:ext cx="731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656E67"/>
                </a:solidFill>
                <a:latin typeface="Aptos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315B4C"/>
                </a:solidFill>
                <a:latin typeface="Aptos"/>
              </a:defRPr>
            </a:pPr>
            <a:r>
              <a:t>02 / WHAT THE PLATFORM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C2B26"/>
                </a:solidFill>
                <a:latin typeface="Aptos"/>
              </a:defRPr>
            </a:pPr>
            <a:r>
              <a:t>Solution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822960" cy="50292"/>
          </a:xfrm>
          <a:prstGeom prst="rect">
            <a:avLst/>
          </a:prstGeom>
          <a:solidFill>
            <a:srgbClr val="BE9242"/>
          </a:solidFill>
          <a:ln>
            <a:solidFill>
              <a:srgbClr val="BE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73152" cy="1417320"/>
          </a:xfrm>
          <a:prstGeom prst="rect">
            <a:avLst/>
          </a:prstGeom>
          <a:solidFill>
            <a:srgbClr val="315B4C"/>
          </a:solidFill>
          <a:ln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810512"/>
            <a:ext cx="2176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C2B26"/>
                </a:solidFill>
                <a:latin typeface="Aptos"/>
              </a:defRPr>
            </a:pPr>
            <a:r>
              <a:t>01  Schedule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40280"/>
            <a:ext cx="2176272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D3430"/>
                </a:solidFill>
                <a:latin typeface="Aptos"/>
              </a:defRPr>
            </a:pPr>
            <a:r>
              <a:t>Set one-time, daily,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2D3430"/>
                </a:solidFill>
                <a:latin typeface="Aptos"/>
              </a:defRPr>
            </a:pPr>
            <a:r>
              <a:t>weekday or adaptive alarms.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29000" y="1645920"/>
            <a:ext cx="73152" cy="1417320"/>
          </a:xfrm>
          <a:prstGeom prst="rect">
            <a:avLst/>
          </a:prstGeom>
          <a:solidFill>
            <a:srgbClr val="BE9242"/>
          </a:solidFill>
          <a:ln>
            <a:solidFill>
              <a:srgbClr val="BE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0168" y="1810512"/>
            <a:ext cx="2176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C2B26"/>
                </a:solidFill>
                <a:latin typeface="Aptos"/>
              </a:defRPr>
            </a:pPr>
            <a:r>
              <a:t>02 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240280"/>
            <a:ext cx="2176272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D3430"/>
                </a:solidFill>
                <a:latin typeface="Aptos"/>
              </a:defRPr>
            </a:pPr>
            <a:r>
              <a:t>Solve math, logic, memory,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2D3430"/>
                </a:solidFill>
                <a:latin typeface="Aptos"/>
              </a:defRPr>
            </a:pPr>
            <a:r>
              <a:t>word or pattern tasks.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4592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1645920"/>
            <a:ext cx="73152" cy="1417320"/>
          </a:xfrm>
          <a:prstGeom prst="rect">
            <a:avLst/>
          </a:prstGeom>
          <a:solidFill>
            <a:srgbClr val="315B4C"/>
          </a:solidFill>
          <a:ln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1810512"/>
            <a:ext cx="2176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C2B26"/>
                </a:solidFill>
                <a:latin typeface="Aptos"/>
              </a:defRPr>
            </a:pPr>
            <a:r>
              <a:t>03  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240280"/>
            <a:ext cx="2176272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D3430"/>
                </a:solidFill>
                <a:latin typeface="Aptos"/>
              </a:defRPr>
            </a:pPr>
            <a:r>
              <a:t>Validate challenge completion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2D3430"/>
                </a:solidFill>
                <a:latin typeface="Aptos"/>
              </a:defRPr>
            </a:pPr>
            <a:r>
              <a:t>before alarm dismissal.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164592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15400" y="1645920"/>
            <a:ext cx="73152" cy="1417320"/>
          </a:xfrm>
          <a:prstGeom prst="rect">
            <a:avLst/>
          </a:prstGeom>
          <a:solidFill>
            <a:srgbClr val="315B4C"/>
          </a:solidFill>
          <a:ln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16568" y="1810512"/>
            <a:ext cx="2176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C2B26"/>
                </a:solidFill>
                <a:latin typeface="Aptos"/>
              </a:defRPr>
            </a:pPr>
            <a:r>
              <a:t>04  Improve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6568" y="2240280"/>
            <a:ext cx="2176272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D3430"/>
                </a:solidFill>
                <a:latin typeface="Aptos"/>
              </a:defRPr>
            </a:pPr>
            <a:r>
              <a:t>Track behavior and adjust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2D3430"/>
                </a:solidFill>
                <a:latin typeface="Aptos"/>
              </a:defRPr>
            </a:pPr>
            <a:r>
              <a:t>difficulty / recommendations.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46120" y="2331720"/>
            <a:ext cx="164592" cy="0"/>
          </a:xfrm>
          <a:prstGeom prst="line">
            <a:avLst/>
          </a:prstGeom>
          <a:ln w="25400">
            <a:solidFill>
              <a:srgbClr val="BE9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989320" y="2331720"/>
            <a:ext cx="164592" cy="0"/>
          </a:xfrm>
          <a:prstGeom prst="line">
            <a:avLst/>
          </a:prstGeom>
          <a:ln w="25400">
            <a:solidFill>
              <a:srgbClr val="BE9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732520" y="2331720"/>
            <a:ext cx="164592" cy="0"/>
          </a:xfrm>
          <a:prstGeom prst="line">
            <a:avLst/>
          </a:prstGeom>
          <a:ln w="25400">
            <a:solidFill>
              <a:srgbClr val="BE9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1520" y="3657600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1C2B26"/>
                </a:solidFill>
                <a:latin typeface="Aptos"/>
              </a:defRPr>
            </a:pPr>
            <a:r>
              <a:t>User-facing capabilities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" y="4270248"/>
            <a:ext cx="100584" cy="100584"/>
          </a:xfrm>
          <a:prstGeom prst="ellipse">
            <a:avLst/>
          </a:prstGeom>
          <a:solidFill>
            <a:srgbClr val="BE9242"/>
          </a:solidFill>
          <a:ln>
            <a:solidFill>
              <a:srgbClr val="BE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4160520"/>
            <a:ext cx="101041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2D3430"/>
                </a:solidFill>
                <a:latin typeface="Aptos"/>
              </a:defRPr>
            </a:pPr>
            <a:r>
              <a:t>Secure sign-in and role-based access (User, Wellness Coach, Administrator)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" y="4776216"/>
            <a:ext cx="100584" cy="100584"/>
          </a:xfrm>
          <a:prstGeom prst="ellipse">
            <a:avLst/>
          </a:prstGeom>
          <a:solidFill>
            <a:srgbClr val="BE9242"/>
          </a:solidFill>
          <a:ln>
            <a:solidFill>
              <a:srgbClr val="BE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4657344"/>
            <a:ext cx="101041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2D3430"/>
                </a:solidFill>
                <a:latin typeface="Aptos"/>
              </a:defRPr>
            </a:pPr>
            <a:r>
              <a:t>Alarm history, wake-up statistics, habit score and challenge performance</a:t>
            </a:r>
          </a:p>
        </p:txBody>
      </p:sp>
      <p:sp>
        <p:nvSpPr>
          <p:cNvPr id="29" name="Oval 28"/>
          <p:cNvSpPr/>
          <p:nvPr/>
        </p:nvSpPr>
        <p:spPr>
          <a:xfrm>
            <a:off x="822960" y="5303519"/>
            <a:ext cx="100584" cy="100584"/>
          </a:xfrm>
          <a:prstGeom prst="ellipse">
            <a:avLst/>
          </a:prstGeom>
          <a:solidFill>
            <a:srgbClr val="BE9242"/>
          </a:solidFill>
          <a:ln>
            <a:solidFill>
              <a:srgbClr val="BE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213604"/>
            <a:ext cx="101041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2D3430"/>
                </a:solidFill>
                <a:latin typeface="Aptos"/>
              </a:defRPr>
            </a:pPr>
            <a:r>
              <a:t>Dashboards, notifications, reports and PDF / Excel export workflows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656E67"/>
                </a:solidFill>
                <a:latin typeface="Aptos"/>
              </a:defRPr>
            </a:pPr>
            <a:r>
              <a:t>INTELLIGENT COGNITIVE ALARM 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35640" y="6492240"/>
            <a:ext cx="731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656E67"/>
                </a:solidFill>
                <a:latin typeface="Aptos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315B4C"/>
                </a:solidFill>
                <a:latin typeface="Aptos"/>
              </a:defRPr>
            </a:pPr>
            <a:r>
              <a:t>03 / HOW COMPONENTS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C2B26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822960" cy="50292"/>
          </a:xfrm>
          <a:prstGeom prst="rect">
            <a:avLst/>
          </a:prstGeom>
          <a:solidFill>
            <a:srgbClr val="BE9242"/>
          </a:solidFill>
          <a:ln>
            <a:solidFill>
              <a:srgbClr val="BE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2240280" cy="3611880"/>
          </a:xfrm>
          <a:prstGeom prst="roundRect">
            <a:avLst/>
          </a:prstGeom>
          <a:solidFill>
            <a:srgbClr val="DCE8DC"/>
          </a:solidFill>
          <a:ln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10512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315B4C"/>
                </a:solidFill>
                <a:latin typeface="Aptos"/>
              </a:defRPr>
            </a:pPr>
            <a:r>
              <a:t>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783080" cy="228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500" b="0" i="0">
                <a:solidFill>
                  <a:srgbClr val="1C2B26"/>
                </a:solidFill>
                <a:latin typeface="Aptos"/>
              </a:defRPr>
            </a:pPr>
            <a:r>
              <a:t>React frontend</a:t>
            </a:r>
          </a:p>
          <a:p>
            <a:pPr algn="ctr">
              <a:spcAft>
                <a:spcPts val="500"/>
              </a:spcAft>
              <a:defRPr sz="1500" b="0" i="0">
                <a:solidFill>
                  <a:srgbClr val="1C2B26"/>
                </a:solidFill>
                <a:latin typeface="Aptos"/>
              </a:defRPr>
            </a:pPr>
            <a:endParaRPr/>
          </a:p>
          <a:p>
            <a:pPr algn="ctr">
              <a:spcAft>
                <a:spcPts val="500"/>
              </a:spcAft>
              <a:defRPr sz="1500" b="0" i="0">
                <a:solidFill>
                  <a:srgbClr val="1C2B26"/>
                </a:solidFill>
                <a:latin typeface="Aptos"/>
              </a:defRPr>
            </a:pPr>
            <a:r>
              <a:t>User dashboard</a:t>
            </a:r>
          </a:p>
          <a:p>
            <a:pPr algn="ctr">
              <a:spcAft>
                <a:spcPts val="500"/>
              </a:spcAft>
              <a:defRPr sz="1500" b="0" i="0">
                <a:solidFill>
                  <a:srgbClr val="1C2B26"/>
                </a:solidFill>
                <a:latin typeface="Aptos"/>
              </a:defRPr>
            </a:pPr>
            <a:r>
              <a:t>Coach / Admin views</a:t>
            </a:r>
          </a:p>
          <a:p>
            <a:pPr algn="ctr">
              <a:spcAft>
                <a:spcPts val="500"/>
              </a:spcAft>
              <a:defRPr sz="1500" b="0" i="0">
                <a:solidFill>
                  <a:srgbClr val="1C2B26"/>
                </a:solidFill>
                <a:latin typeface="Aptos"/>
              </a:defRPr>
            </a:pPr>
            <a:r>
              <a:t>Charts &amp; reports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600200"/>
            <a:ext cx="2331720" cy="3611880"/>
          </a:xfrm>
          <a:prstGeom prst="roundRect">
            <a:avLst/>
          </a:prstGeom>
          <a:solidFill>
            <a:srgbClr val="F3E9D0"/>
          </a:solidFill>
          <a:ln>
            <a:solidFill>
              <a:srgbClr val="BE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86200" y="1810512"/>
            <a:ext cx="1965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BE9242"/>
                </a:solidFill>
                <a:latin typeface="Aptos"/>
              </a:defRPr>
            </a:pPr>
            <a:r>
              <a:t>APPLICATION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13632" y="2212848"/>
            <a:ext cx="1901952" cy="2560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400" b="0" i="0">
                <a:solidFill>
                  <a:srgbClr val="1C2B26"/>
                </a:solidFill>
                <a:latin typeface="Aptos"/>
              </a:defRPr>
            </a:pPr>
            <a:r>
              <a:t>Python / FastAPI</a:t>
            </a:r>
          </a:p>
          <a:p>
            <a:pPr algn="ctr">
              <a:spcAft>
                <a:spcPts val="500"/>
              </a:spcAft>
              <a:defRPr sz="1400" b="0" i="0">
                <a:solidFill>
                  <a:srgbClr val="1C2B26"/>
                </a:solidFill>
                <a:latin typeface="Aptos"/>
              </a:defRPr>
            </a:pPr>
            <a:endParaRPr/>
          </a:p>
          <a:p>
            <a:pPr algn="ctr">
              <a:spcAft>
                <a:spcPts val="500"/>
              </a:spcAft>
              <a:defRPr sz="1400" b="0" i="0">
                <a:solidFill>
                  <a:srgbClr val="1C2B26"/>
                </a:solidFill>
                <a:latin typeface="Aptos"/>
              </a:defRPr>
            </a:pPr>
            <a:r>
              <a:t>Authentication &amp; RBAC</a:t>
            </a:r>
          </a:p>
          <a:p>
            <a:pPr algn="ctr">
              <a:spcAft>
                <a:spcPts val="500"/>
              </a:spcAft>
              <a:defRPr sz="1400" b="0" i="0">
                <a:solidFill>
                  <a:srgbClr val="1C2B26"/>
                </a:solidFill>
                <a:latin typeface="Aptos"/>
              </a:defRPr>
            </a:pPr>
            <a:r>
              <a:t>Alarm workflows</a:t>
            </a:r>
          </a:p>
          <a:p>
            <a:pPr algn="ctr">
              <a:spcAft>
                <a:spcPts val="500"/>
              </a:spcAft>
              <a:defRPr sz="1400" b="0" i="0">
                <a:solidFill>
                  <a:srgbClr val="1C2B26"/>
                </a:solidFill>
                <a:latin typeface="Aptos"/>
              </a:defRPr>
            </a:pPr>
            <a:r>
              <a:t>Challenge validation</a:t>
            </a:r>
          </a:p>
          <a:p>
            <a:pPr algn="ctr">
              <a:spcAft>
                <a:spcPts val="500"/>
              </a:spcAft>
              <a:defRPr sz="1400" b="0" i="0">
                <a:solidFill>
                  <a:srgbClr val="1C2B26"/>
                </a:solidFill>
                <a:latin typeface="Aptos"/>
              </a:defRPr>
            </a:pPr>
            <a:r>
              <a:t>Analytics &amp; reporting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600200"/>
            <a:ext cx="2148840" cy="3611880"/>
          </a:xfrm>
          <a:prstGeom prst="roundRect">
            <a:avLst/>
          </a:prstGeom>
          <a:solidFill>
            <a:srgbClr val="DCE8DC"/>
          </a:solidFill>
          <a:ln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95160" y="1810512"/>
            <a:ext cx="1783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315B4C"/>
                </a:solidFill>
                <a:latin typeface="Aptos"/>
              </a:defRPr>
            </a:pPr>
            <a:r>
              <a:t>DATA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267712"/>
            <a:ext cx="1691640" cy="2240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400" b="0" i="0">
                <a:solidFill>
                  <a:srgbClr val="1C2B26"/>
                </a:solidFill>
                <a:latin typeface="Aptos"/>
              </a:defRPr>
            </a:pPr>
            <a:r>
              <a:t>Persistent records</a:t>
            </a:r>
          </a:p>
          <a:p>
            <a:pPr algn="ctr">
              <a:spcAft>
                <a:spcPts val="500"/>
              </a:spcAft>
              <a:defRPr sz="1400" b="0" i="0">
                <a:solidFill>
                  <a:srgbClr val="1C2B26"/>
                </a:solidFill>
                <a:latin typeface="Aptos"/>
              </a:defRPr>
            </a:pPr>
            <a:endParaRPr/>
          </a:p>
          <a:p>
            <a:pPr algn="ctr">
              <a:spcAft>
                <a:spcPts val="500"/>
              </a:spcAft>
              <a:defRPr sz="1400" b="0" i="0">
                <a:solidFill>
                  <a:srgbClr val="1C2B26"/>
                </a:solidFill>
                <a:latin typeface="Aptos"/>
              </a:defRPr>
            </a:pPr>
            <a:r>
              <a:t>Users &amp; roles</a:t>
            </a:r>
          </a:p>
          <a:p>
            <a:pPr algn="ctr">
              <a:spcAft>
                <a:spcPts val="500"/>
              </a:spcAft>
              <a:defRPr sz="1400" b="0" i="0">
                <a:solidFill>
                  <a:srgbClr val="1C2B26"/>
                </a:solidFill>
                <a:latin typeface="Aptos"/>
              </a:defRPr>
            </a:pPr>
            <a:r>
              <a:t>Alarms &amp; attempts</a:t>
            </a:r>
          </a:p>
          <a:p>
            <a:pPr algn="ctr">
              <a:spcAft>
                <a:spcPts val="500"/>
              </a:spcAft>
              <a:defRPr sz="1400" b="0" i="0">
                <a:solidFill>
                  <a:srgbClr val="1C2B26"/>
                </a:solidFill>
                <a:latin typeface="Aptos"/>
              </a:defRPr>
            </a:pPr>
            <a:r>
              <a:t>Habit / challenge data</a:t>
            </a:r>
          </a:p>
          <a:p>
            <a:pPr algn="ctr">
              <a:spcAft>
                <a:spcPts val="500"/>
              </a:spcAft>
              <a:defRPr sz="1400" b="0" i="0">
                <a:solidFill>
                  <a:srgbClr val="1C2B26"/>
                </a:solidFill>
                <a:latin typeface="Aptos"/>
              </a:defRPr>
            </a:pPr>
            <a:r>
              <a:t>Reports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1600200"/>
            <a:ext cx="18288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02368" y="1810512"/>
            <a:ext cx="1508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315B4C"/>
                </a:solidFill>
                <a:latin typeface="Aptos"/>
              </a:defRPr>
            </a:pPr>
            <a:r>
              <a:t>SUPPORTING</a:t>
            </a:r>
          </a:p>
          <a:p>
            <a:pPr algn="ctr">
              <a:spcAft>
                <a:spcPts val="500"/>
              </a:spcAft>
              <a:defRPr sz="1100" b="1" i="0">
                <a:solidFill>
                  <a:srgbClr val="315B4C"/>
                </a:solidFill>
                <a:latin typeface="Aptos"/>
              </a:defRPr>
            </a:pPr>
            <a:r>
              <a:t>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02368" y="2514600"/>
            <a:ext cx="1508760" cy="1920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300" b="0" i="0">
                <a:solidFill>
                  <a:srgbClr val="1C2B26"/>
                </a:solidFill>
                <a:latin typeface="Aptos"/>
              </a:defRPr>
            </a:pPr>
            <a:r>
              <a:t>Docker</a:t>
            </a:r>
          </a:p>
          <a:p>
            <a:pPr algn="ctr">
              <a:spcAft>
                <a:spcPts val="500"/>
              </a:spcAft>
              <a:defRPr sz="1300" b="0" i="0">
                <a:solidFill>
                  <a:srgbClr val="1C2B26"/>
                </a:solidFill>
                <a:latin typeface="Aptos"/>
              </a:defRPr>
            </a:pPr>
            <a:endParaRPr/>
          </a:p>
          <a:p>
            <a:pPr algn="ctr">
              <a:spcAft>
                <a:spcPts val="500"/>
              </a:spcAft>
              <a:defRPr sz="1300" b="0" i="0">
                <a:solidFill>
                  <a:srgbClr val="1C2B26"/>
                </a:solidFill>
                <a:latin typeface="Aptos"/>
              </a:defRPr>
            </a:pPr>
            <a:r>
              <a:t>Notifications</a:t>
            </a:r>
          </a:p>
          <a:p>
            <a:pPr algn="ctr">
              <a:spcAft>
                <a:spcPts val="500"/>
              </a:spcAft>
              <a:defRPr sz="1300" b="0" i="0">
                <a:solidFill>
                  <a:srgbClr val="1C2B26"/>
                </a:solidFill>
                <a:latin typeface="Aptos"/>
              </a:defRPr>
            </a:pPr>
            <a:r>
              <a:t>ML / adaptation</a:t>
            </a:r>
          </a:p>
          <a:p>
            <a:pPr algn="ctr">
              <a:spcAft>
                <a:spcPts val="500"/>
              </a:spcAft>
              <a:defRPr sz="1300" b="0" i="0">
                <a:solidFill>
                  <a:srgbClr val="1C2B26"/>
                </a:solidFill>
                <a:latin typeface="Aptos"/>
              </a:defRPr>
            </a:pPr>
            <a:r>
              <a:t>Logs &amp; health checks</a:t>
            </a:r>
          </a:p>
          <a:p>
            <a:pPr algn="ctr">
              <a:spcAft>
                <a:spcPts val="500"/>
              </a:spcAft>
              <a:defRPr sz="1300" b="0" i="0">
                <a:solidFill>
                  <a:srgbClr val="1C2B26"/>
                </a:solidFill>
                <a:latin typeface="Aptos"/>
              </a:defRPr>
            </a:pPr>
            <a:r>
              <a:t>Exports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26080" y="3246120"/>
            <a:ext cx="731520" cy="0"/>
          </a:xfrm>
          <a:prstGeom prst="line">
            <a:avLst/>
          </a:prstGeom>
          <a:ln w="25400">
            <a:solidFill>
              <a:srgbClr val="BE9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35040" y="3246120"/>
            <a:ext cx="731520" cy="0"/>
          </a:xfrm>
          <a:prstGeom prst="line">
            <a:avLst/>
          </a:prstGeom>
          <a:ln w="25400">
            <a:solidFill>
              <a:srgbClr val="BE9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3246120"/>
            <a:ext cx="640080" cy="0"/>
          </a:xfrm>
          <a:prstGeom prst="line">
            <a:avLst/>
          </a:prstGeom>
          <a:ln w="25400">
            <a:solidFill>
              <a:srgbClr val="BE9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77240" y="5532120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1">
                <a:solidFill>
                  <a:srgbClr val="656E67"/>
                </a:solidFill>
                <a:latin typeface="Aptos"/>
              </a:defRPr>
            </a:pPr>
            <a:r>
              <a:t>Logical view based on the project design and implementation stack; services shown represent system responsibilities.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656E67"/>
                </a:solidFill>
                <a:latin typeface="Aptos"/>
              </a:defRPr>
            </a:pPr>
            <a:r>
              <a:t>INTELLIGENT COGNITIVE ALARM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492240"/>
            <a:ext cx="731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656E67"/>
                </a:solidFill>
                <a:latin typeface="Aptos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315B4C"/>
                </a:solidFill>
                <a:latin typeface="Aptos"/>
              </a:defRPr>
            </a:pPr>
            <a:r>
              <a:t>04 / END-TO-END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C2B26"/>
                </a:solidFill>
                <a:latin typeface="Aptos"/>
              </a:defRPr>
            </a:pPr>
            <a:r>
              <a:t>Core process flow: from alarm to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822960" cy="50292"/>
          </a:xfrm>
          <a:prstGeom prst="rect">
            <a:avLst/>
          </a:prstGeom>
          <a:solidFill>
            <a:srgbClr val="BE9242"/>
          </a:solidFill>
          <a:ln>
            <a:solidFill>
              <a:srgbClr val="BE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8992" y="1783080"/>
            <a:ext cx="566928" cy="566928"/>
          </a:xfrm>
          <a:prstGeom prst="ellipse">
            <a:avLst/>
          </a:prstGeom>
          <a:solidFill>
            <a:srgbClr val="315B4C"/>
          </a:solidFill>
          <a:ln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" y="1901952"/>
            <a:ext cx="5669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6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6002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1C2B26"/>
                </a:solidFill>
                <a:latin typeface="Aptos"/>
              </a:defRPr>
            </a:pPr>
            <a:r>
              <a:t>Alarm fires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6002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2D3430"/>
                </a:solidFill>
                <a:latin typeface="Aptos"/>
              </a:defRPr>
            </a:pPr>
            <a:r>
              <a:t>At the scheduled</a:t>
            </a:r>
          </a:p>
          <a:p>
            <a:pPr algn="ctr">
              <a:spcAft>
                <a:spcPts val="500"/>
              </a:spcAft>
              <a:defRPr sz="1100" b="0" i="0">
                <a:solidFill>
                  <a:srgbClr val="2D3430"/>
                </a:solidFill>
                <a:latin typeface="Aptos"/>
              </a:defRPr>
            </a:pPr>
            <a:r>
              <a:t>wake-up time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76856" y="2057400"/>
            <a:ext cx="192023" cy="0"/>
          </a:xfrm>
          <a:prstGeom prst="line">
            <a:avLst/>
          </a:prstGeom>
          <a:ln w="25400">
            <a:solidFill>
              <a:srgbClr val="BE9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017520" y="1783080"/>
            <a:ext cx="566928" cy="566928"/>
          </a:xfrm>
          <a:prstGeom prst="ellipse">
            <a:avLst/>
          </a:prstGeom>
          <a:solidFill>
            <a:srgbClr val="315B4C"/>
          </a:solidFill>
          <a:ln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17520" y="1901952"/>
            <a:ext cx="5669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6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2606040"/>
            <a:ext cx="16002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1C2B26"/>
                </a:solidFill>
                <a:latin typeface="Aptos"/>
              </a:defRPr>
            </a:pPr>
            <a:r>
              <a:t>Challenge loads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3108960"/>
            <a:ext cx="16002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2D3430"/>
                </a:solidFill>
                <a:latin typeface="Aptos"/>
              </a:defRPr>
            </a:pPr>
            <a:r>
              <a:t>Select an appropriate</a:t>
            </a:r>
          </a:p>
          <a:p>
            <a:pPr algn="ctr">
              <a:spcAft>
                <a:spcPts val="500"/>
              </a:spcAft>
              <a:defRPr sz="1100" b="0" i="0">
                <a:solidFill>
                  <a:srgbClr val="2D3430"/>
                </a:solidFill>
                <a:latin typeface="Aptos"/>
              </a:defRPr>
            </a:pPr>
            <a:r>
              <a:t>task and difficulty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15384" y="2057400"/>
            <a:ext cx="192024" cy="0"/>
          </a:xfrm>
          <a:prstGeom prst="line">
            <a:avLst/>
          </a:prstGeom>
          <a:ln w="25400">
            <a:solidFill>
              <a:srgbClr val="BE9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956048" y="1783080"/>
            <a:ext cx="566928" cy="566928"/>
          </a:xfrm>
          <a:prstGeom prst="ellipse">
            <a:avLst/>
          </a:prstGeom>
          <a:solidFill>
            <a:srgbClr val="BE9242"/>
          </a:solidFill>
          <a:ln>
            <a:solidFill>
              <a:srgbClr val="BE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56048" y="1901952"/>
            <a:ext cx="5669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6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606040"/>
            <a:ext cx="16002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1C2B26"/>
                </a:solidFill>
                <a:latin typeface="Aptos"/>
              </a:defRPr>
            </a:pPr>
            <a:r>
              <a:t>User responds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3108960"/>
            <a:ext cx="16002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2D3430"/>
                </a:solidFill>
                <a:latin typeface="Aptos"/>
              </a:defRPr>
            </a:pPr>
            <a:r>
              <a:t>Solve and submit</a:t>
            </a:r>
          </a:p>
          <a:p>
            <a:pPr algn="ctr">
              <a:spcAft>
                <a:spcPts val="500"/>
              </a:spcAft>
              <a:defRPr sz="1100" b="0" i="0">
                <a:solidFill>
                  <a:srgbClr val="2D3430"/>
                </a:solidFill>
                <a:latin typeface="Aptos"/>
              </a:defRPr>
            </a:pPr>
            <a:r>
              <a:t>the challenge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53912" y="2057400"/>
            <a:ext cx="192024" cy="0"/>
          </a:xfrm>
          <a:prstGeom prst="line">
            <a:avLst/>
          </a:prstGeom>
          <a:ln w="25400">
            <a:solidFill>
              <a:srgbClr val="BE9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894575" y="1783080"/>
            <a:ext cx="566928" cy="566928"/>
          </a:xfrm>
          <a:prstGeom prst="ellipse">
            <a:avLst/>
          </a:prstGeom>
          <a:solidFill>
            <a:srgbClr val="BE9242"/>
          </a:solidFill>
          <a:ln>
            <a:solidFill>
              <a:srgbClr val="BE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94575" y="1901952"/>
            <a:ext cx="5669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6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2606040"/>
            <a:ext cx="16002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1C2B26"/>
                </a:solidFill>
                <a:latin typeface="Aptos"/>
              </a:defRPr>
            </a:pPr>
            <a:r>
              <a:t>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3108960"/>
            <a:ext cx="16002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2D3430"/>
                </a:solidFill>
                <a:latin typeface="Aptos"/>
              </a:defRPr>
            </a:pPr>
            <a:r>
              <a:t>Check answer and</a:t>
            </a:r>
          </a:p>
          <a:p>
            <a:pPr algn="ctr">
              <a:spcAft>
                <a:spcPts val="500"/>
              </a:spcAft>
              <a:defRPr sz="1100" b="0" i="0">
                <a:solidFill>
                  <a:srgbClr val="2D3430"/>
                </a:solidFill>
                <a:latin typeface="Aptos"/>
              </a:defRPr>
            </a:pPr>
            <a:r>
              <a:t>completion rules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092439" y="2057400"/>
            <a:ext cx="192025" cy="0"/>
          </a:xfrm>
          <a:prstGeom prst="line">
            <a:avLst/>
          </a:prstGeom>
          <a:ln w="25400">
            <a:solidFill>
              <a:srgbClr val="BE9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833104" y="1783080"/>
            <a:ext cx="566928" cy="566928"/>
          </a:xfrm>
          <a:prstGeom prst="ellipse">
            <a:avLst/>
          </a:prstGeom>
          <a:solidFill>
            <a:srgbClr val="315B4C"/>
          </a:solidFill>
          <a:ln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33104" y="1901952"/>
            <a:ext cx="5669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60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606040"/>
            <a:ext cx="14173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1C2B26"/>
                </a:solidFill>
                <a:latin typeface="Aptos"/>
              </a:defRPr>
            </a:pPr>
            <a:r>
              <a:t>Outcome recorded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3108960"/>
            <a:ext cx="14173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2D3430"/>
                </a:solidFill>
                <a:latin typeface="Aptos"/>
              </a:defRPr>
            </a:pPr>
            <a:r>
              <a:t>Dismiss or continue</a:t>
            </a:r>
          </a:p>
          <a:p>
            <a:pPr algn="ctr">
              <a:spcAft>
                <a:spcPts val="500"/>
              </a:spcAft>
              <a:defRPr sz="1100" b="0" i="0">
                <a:solidFill>
                  <a:srgbClr val="2D3430"/>
                </a:solidFill>
                <a:latin typeface="Aptos"/>
              </a:defRPr>
            </a:pPr>
            <a:r>
              <a:t>verification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848088" y="2057400"/>
            <a:ext cx="100584" cy="0"/>
          </a:xfrm>
          <a:prstGeom prst="line">
            <a:avLst/>
          </a:prstGeom>
          <a:ln w="25400">
            <a:solidFill>
              <a:srgbClr val="BE9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0497312" y="1783080"/>
            <a:ext cx="566928" cy="566928"/>
          </a:xfrm>
          <a:prstGeom prst="ellipse">
            <a:avLst/>
          </a:prstGeom>
          <a:solidFill>
            <a:srgbClr val="315B4C"/>
          </a:solidFill>
          <a:ln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97312" y="1901952"/>
            <a:ext cx="5669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600" b="1" i="0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2606040"/>
            <a:ext cx="15087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1C2B26"/>
                </a:solidFill>
                <a:latin typeface="Aptos"/>
              </a:defRPr>
            </a:pPr>
            <a:r>
              <a:t>Learn &amp;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3108960"/>
            <a:ext cx="15087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2D3430"/>
                </a:solidFill>
                <a:latin typeface="Aptos"/>
              </a:defRPr>
            </a:pPr>
            <a:r>
              <a:t>Update behavior data,</a:t>
            </a:r>
          </a:p>
          <a:p>
            <a:pPr algn="ctr">
              <a:spcAft>
                <a:spcPts val="500"/>
              </a:spcAft>
              <a:defRPr sz="1100" b="0" i="0">
                <a:solidFill>
                  <a:srgbClr val="2D3430"/>
                </a:solidFill>
                <a:latin typeface="Aptos"/>
              </a:defRPr>
            </a:pPr>
            <a:r>
              <a:t>score and insights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" y="4434840"/>
            <a:ext cx="10195560" cy="960120"/>
          </a:xfrm>
          <a:prstGeom prst="roundRect">
            <a:avLst/>
          </a:prstGeom>
          <a:solidFill>
            <a:srgbClr val="1C2B26"/>
          </a:solidFill>
          <a:ln>
            <a:solidFill>
              <a:srgbClr val="1C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34440" y="4617720"/>
            <a:ext cx="1508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BE9242"/>
                </a:solidFill>
                <a:latin typeface="Aptos"/>
              </a:defRPr>
            </a:pPr>
            <a:r>
              <a:t>Feedback loop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4608576"/>
            <a:ext cx="80467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FFFFFF"/>
                </a:solidFill>
                <a:latin typeface="Aptos"/>
              </a:defRPr>
            </a:pPr>
            <a:r>
              <a:t>Accuracy • completion time • snooze behavior • consistency  →  future challenge selection and recommendations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656E67"/>
                </a:solidFill>
                <a:latin typeface="Aptos"/>
              </a:defRPr>
            </a:pPr>
            <a:r>
              <a:t>INTELLIGENT COGNITIVE ALARM PLATFORM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35640" y="6492240"/>
            <a:ext cx="731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656E67"/>
                </a:solidFill>
                <a:latin typeface="Aptos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315B4C"/>
                </a:solidFill>
                <a:latin typeface="Aptos"/>
              </a:defRPr>
            </a:pPr>
            <a:r>
              <a:t>05 / FEATURE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C2B26"/>
                </a:solidFill>
                <a:latin typeface="Aptos"/>
              </a:defRPr>
            </a:pPr>
            <a:r>
              <a:t>Functional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822960" cy="50292"/>
          </a:xfrm>
          <a:prstGeom prst="rect">
            <a:avLst/>
          </a:prstGeom>
          <a:solidFill>
            <a:srgbClr val="BE9242"/>
          </a:solidFill>
          <a:ln>
            <a:solidFill>
              <a:srgbClr val="BE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73152" cy="1417320"/>
          </a:xfrm>
          <a:prstGeom prst="rect">
            <a:avLst/>
          </a:prstGeom>
          <a:solidFill>
            <a:srgbClr val="315B4C"/>
          </a:solidFill>
          <a:ln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764792"/>
            <a:ext cx="313639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C2B26"/>
                </a:solidFill>
                <a:latin typeface="Aptos"/>
              </a:defRPr>
            </a:pPr>
            <a:r>
              <a:t>Identity &amp; routines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94560"/>
            <a:ext cx="3136392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D3430"/>
                </a:solidFill>
                <a:latin typeface="Aptos"/>
              </a:defRPr>
            </a:pPr>
            <a:r>
              <a:t>Authentication, role-based access, profiles, sleep schedule and goals.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002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600200"/>
            <a:ext cx="73152" cy="1417320"/>
          </a:xfrm>
          <a:prstGeom prst="rect">
            <a:avLst/>
          </a:prstGeom>
          <a:solidFill>
            <a:srgbClr val="315B4C"/>
          </a:solidFill>
          <a:ln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764792"/>
            <a:ext cx="313639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C2B26"/>
                </a:solidFill>
                <a:latin typeface="Aptos"/>
              </a:defRPr>
            </a:pPr>
            <a:r>
              <a:t>Alarm &amp; cognitive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194560"/>
            <a:ext cx="3136392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D3430"/>
                </a:solidFill>
                <a:latin typeface="Aptos"/>
              </a:defRPr>
            </a:pPr>
            <a:r>
              <a:t>Recurring alarms, task generation, answer validation and wake-up verification.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6002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1600200"/>
            <a:ext cx="73152" cy="1417320"/>
          </a:xfrm>
          <a:prstGeom prst="rect">
            <a:avLst/>
          </a:prstGeom>
          <a:solidFill>
            <a:srgbClr val="BE9242"/>
          </a:solidFill>
          <a:ln>
            <a:solidFill>
              <a:srgbClr val="BE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2168" y="1764792"/>
            <a:ext cx="313639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C2B26"/>
                </a:solidFill>
                <a:latin typeface="Aptos"/>
              </a:defRPr>
            </a:pPr>
            <a:r>
              <a:t>Adaptive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194560"/>
            <a:ext cx="3136392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D3430"/>
                </a:solidFill>
                <a:latin typeface="Aptos"/>
              </a:defRPr>
            </a:pPr>
            <a:r>
              <a:t>Difficulty adjustment, behavioral analytics, habit scoring and recommendations.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3756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337560"/>
            <a:ext cx="73152" cy="1417320"/>
          </a:xfrm>
          <a:prstGeom prst="rect">
            <a:avLst/>
          </a:prstGeom>
          <a:solidFill>
            <a:srgbClr val="315B4C"/>
          </a:solidFill>
          <a:ln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502152"/>
            <a:ext cx="313639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C2B26"/>
                </a:solidFill>
                <a:latin typeface="Aptos"/>
              </a:defRPr>
            </a:pPr>
            <a:r>
              <a:t>Dashboards &amp; 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931920"/>
            <a:ext cx="3136392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D3430"/>
                </a:solidFill>
                <a:latin typeface="Aptos"/>
              </a:defRPr>
            </a:pPr>
            <a:r>
              <a:t>User / coach / admin views, charts, history and PDF / Excel exports.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33756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43400" y="3337560"/>
            <a:ext cx="73152" cy="1417320"/>
          </a:xfrm>
          <a:prstGeom prst="rect">
            <a:avLst/>
          </a:prstGeom>
          <a:solidFill>
            <a:srgbClr val="315B4C"/>
          </a:solidFill>
          <a:ln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44568" y="3502152"/>
            <a:ext cx="313639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C2B26"/>
                </a:solidFill>
                <a:latin typeface="Aptos"/>
              </a:defRPr>
            </a:pPr>
            <a:r>
              <a:t>Notifications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3931920"/>
            <a:ext cx="3136392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D3430"/>
                </a:solidFill>
                <a:latin typeface="Aptos"/>
              </a:defRPr>
            </a:pPr>
            <a:r>
              <a:t>Bedtime and wake-up reminders, habit alerts and progress notifications.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333756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01000" y="3337560"/>
            <a:ext cx="73152" cy="1417320"/>
          </a:xfrm>
          <a:prstGeom prst="rect">
            <a:avLst/>
          </a:prstGeom>
          <a:solidFill>
            <a:srgbClr val="BE9242"/>
          </a:solidFill>
          <a:ln>
            <a:solidFill>
              <a:srgbClr val="BE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02168" y="3502152"/>
            <a:ext cx="313639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C2B26"/>
                </a:solidFill>
                <a:latin typeface="Aptos"/>
              </a:defRPr>
            </a:pPr>
            <a:r>
              <a:t>Quality &amp; 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2168" y="3931920"/>
            <a:ext cx="3136392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D3430"/>
                </a:solidFill>
                <a:latin typeface="Aptos"/>
              </a:defRPr>
            </a:pPr>
            <a:r>
              <a:t>API and end-to-end tests, security checks, Docker, health checks and logging.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257800"/>
            <a:ext cx="10607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1">
                <a:solidFill>
                  <a:srgbClr val="656E67"/>
                </a:solidFill>
                <a:latin typeface="Aptos"/>
              </a:defRPr>
            </a:pPr>
            <a:r>
              <a:t>The original project specification groups these capabilities into 13 modules, from authentication through final integration and deployment.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656E67"/>
                </a:solidFill>
                <a:latin typeface="Aptos"/>
              </a:defRPr>
            </a:pPr>
            <a:r>
              <a:t>INTELLIGENT COGNITIVE ALARM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5640" y="6492240"/>
            <a:ext cx="731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656E67"/>
                </a:solidFill>
                <a:latin typeface="Aptos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315B4C"/>
                </a:solidFill>
                <a:latin typeface="Aptos"/>
              </a:defRPr>
            </a:pPr>
            <a:r>
              <a:t>06 / PERSONALIZATION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C2B26"/>
                </a:solidFill>
                <a:latin typeface="Aptos"/>
              </a:defRPr>
            </a:pPr>
            <a:r>
              <a:t>Adaptive intelligence &amp; habit scoring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822960" cy="50292"/>
          </a:xfrm>
          <a:prstGeom prst="rect">
            <a:avLst/>
          </a:prstGeom>
          <a:solidFill>
            <a:srgbClr val="BE9242"/>
          </a:solidFill>
          <a:ln>
            <a:solidFill>
              <a:srgbClr val="BE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6400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C2B26"/>
                </a:solidFill>
                <a:latin typeface="Aptos"/>
              </a:defRPr>
            </a:pPr>
            <a:r>
              <a:t>Illustrative weighted habit score from the project specification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2468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2D3430"/>
                </a:solidFill>
                <a:latin typeface="Aptos"/>
              </a:defRPr>
            </a:pPr>
            <a:r>
              <a:t>Wake-up consistency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167128"/>
            <a:ext cx="3337560" cy="219456"/>
          </a:xfrm>
          <a:prstGeom prst="roundRect">
            <a:avLst/>
          </a:prstGeom>
          <a:solidFill>
            <a:srgbClr val="E1E0D8"/>
          </a:solidFill>
          <a:ln>
            <a:solidFill>
              <a:srgbClr val="E1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29000" y="2167128"/>
            <a:ext cx="3337560" cy="219456"/>
          </a:xfrm>
          <a:prstGeom prst="roundRect">
            <a:avLst/>
          </a:prstGeom>
          <a:solidFill>
            <a:srgbClr val="315B4C"/>
          </a:solidFill>
          <a:ln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03720" y="2130552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C2B26"/>
                </a:solidFill>
                <a:latin typeface="Aptos"/>
              </a:defRPr>
            </a:pPr>
            <a:r>
              <a:t>35%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62072"/>
            <a:ext cx="2468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2D3430"/>
                </a:solidFill>
                <a:latin typeface="Aptos"/>
              </a:defRPr>
            </a:pPr>
            <a:r>
              <a:t>Challenge completion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880360"/>
            <a:ext cx="3337560" cy="219456"/>
          </a:xfrm>
          <a:prstGeom prst="roundRect">
            <a:avLst/>
          </a:prstGeom>
          <a:solidFill>
            <a:srgbClr val="E1E0D8"/>
          </a:solidFill>
          <a:ln>
            <a:solidFill>
              <a:srgbClr val="E1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29000" y="2880360"/>
            <a:ext cx="2383971" cy="219456"/>
          </a:xfrm>
          <a:prstGeom prst="roundRect">
            <a:avLst/>
          </a:prstGeom>
          <a:solidFill>
            <a:srgbClr val="BE9242"/>
          </a:solidFill>
          <a:ln>
            <a:solidFill>
              <a:srgbClr val="BE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03720" y="2843784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C2B26"/>
                </a:solidFill>
                <a:latin typeface="Aptos"/>
              </a:defRPr>
            </a:pPr>
            <a: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75304"/>
            <a:ext cx="2468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2D3430"/>
                </a:solidFill>
                <a:latin typeface="Aptos"/>
              </a:defRPr>
            </a:pPr>
            <a:r>
              <a:t>Snooze reduction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593592"/>
            <a:ext cx="3337560" cy="219456"/>
          </a:xfrm>
          <a:prstGeom prst="roundRect">
            <a:avLst/>
          </a:prstGeom>
          <a:solidFill>
            <a:srgbClr val="E1E0D8"/>
          </a:solidFill>
          <a:ln>
            <a:solidFill>
              <a:srgbClr val="E1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429000" y="3593592"/>
            <a:ext cx="1907177" cy="219456"/>
          </a:xfrm>
          <a:prstGeom prst="roundRect">
            <a:avLst/>
          </a:prstGeom>
          <a:solidFill>
            <a:srgbClr val="315B4C"/>
          </a:solidFill>
          <a:ln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03720" y="3557016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C2B26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88536"/>
            <a:ext cx="2468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2D3430"/>
                </a:solidFill>
                <a:latin typeface="Aptos"/>
              </a:defRPr>
            </a:pPr>
            <a:r>
              <a:t>Sleep schedule adherence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4306824"/>
            <a:ext cx="3337560" cy="219456"/>
          </a:xfrm>
          <a:prstGeom prst="roundRect">
            <a:avLst/>
          </a:prstGeom>
          <a:solidFill>
            <a:srgbClr val="E1E0D8"/>
          </a:solidFill>
          <a:ln>
            <a:solidFill>
              <a:srgbClr val="E1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429000" y="4306824"/>
            <a:ext cx="1907177" cy="219456"/>
          </a:xfrm>
          <a:prstGeom prst="roundRect">
            <a:avLst/>
          </a:prstGeom>
          <a:solidFill>
            <a:srgbClr val="BE9242"/>
          </a:solidFill>
          <a:ln>
            <a:solidFill>
              <a:srgbClr val="BE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03720" y="4270248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C2B26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1691640"/>
            <a:ext cx="3429000" cy="3383280"/>
          </a:xfrm>
          <a:prstGeom prst="roundRect">
            <a:avLst/>
          </a:prstGeom>
          <a:solidFill>
            <a:srgbClr val="1C2B26"/>
          </a:solidFill>
          <a:ln>
            <a:solidFill>
              <a:srgbClr val="1C2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83879" y="1965960"/>
            <a:ext cx="2834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BE9242"/>
                </a:solidFill>
                <a:latin typeface="Aptos"/>
              </a:defRPr>
            </a:pPr>
            <a:r>
              <a:t>The feedback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2514600"/>
            <a:ext cx="2834640" cy="2240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FFFFFF"/>
                </a:solidFill>
                <a:latin typeface="Aptos"/>
              </a:defRPr>
            </a:pPr>
            <a:r>
              <a:t>Observe</a:t>
            </a:r>
          </a:p>
          <a:p>
            <a:pPr algn="l">
              <a:spcAft>
                <a:spcPts val="500"/>
              </a:spcAft>
              <a:defRPr sz="1500" b="0" i="0">
                <a:solidFill>
                  <a:srgbClr val="FFFFFF"/>
                </a:solidFill>
                <a:latin typeface="Aptos"/>
              </a:defRPr>
            </a:pPr>
            <a:r>
              <a:t>Performance and patterns</a:t>
            </a:r>
          </a:p>
          <a:p>
            <a:pPr algn="l">
              <a:spcAft>
                <a:spcPts val="500"/>
              </a:spcAft>
              <a:defRPr sz="1500" b="0" i="0">
                <a:solidFill>
                  <a:srgbClr val="FFFFFF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500" b="0" i="0">
                <a:solidFill>
                  <a:srgbClr val="FFFFFF"/>
                </a:solidFill>
                <a:latin typeface="Aptos"/>
              </a:defRPr>
            </a:pPr>
            <a:r>
              <a:t>Adapt</a:t>
            </a:r>
          </a:p>
          <a:p>
            <a:pPr algn="l">
              <a:spcAft>
                <a:spcPts val="500"/>
              </a:spcAft>
              <a:defRPr sz="1500" b="0" i="0">
                <a:solidFill>
                  <a:srgbClr val="FFFFFF"/>
                </a:solidFill>
                <a:latin typeface="Aptos"/>
              </a:defRPr>
            </a:pPr>
            <a:r>
              <a:t>Challenge level and task choice</a:t>
            </a:r>
          </a:p>
          <a:p>
            <a:pPr algn="l">
              <a:spcAft>
                <a:spcPts val="500"/>
              </a:spcAft>
              <a:defRPr sz="1500" b="0" i="0">
                <a:solidFill>
                  <a:srgbClr val="FFFFFF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500" b="0" i="0">
                <a:solidFill>
                  <a:srgbClr val="FFFFFF"/>
                </a:solidFill>
                <a:latin typeface="Aptos"/>
              </a:defRPr>
            </a:pPr>
            <a:r>
              <a:t>Recommend</a:t>
            </a:r>
          </a:p>
          <a:p>
            <a:pPr algn="l">
              <a:spcAft>
                <a:spcPts val="500"/>
              </a:spcAft>
              <a:defRPr sz="1500" b="0" i="0">
                <a:solidFill>
                  <a:srgbClr val="FFFFFF"/>
                </a:solidFill>
                <a:latin typeface="Aptos"/>
              </a:defRPr>
            </a:pPr>
            <a:r>
              <a:t>Small, actionable habit 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440680"/>
            <a:ext cx="106070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1">
                <a:solidFill>
                  <a:srgbClr val="656E67"/>
                </a:solidFill>
                <a:latin typeface="Aptos"/>
              </a:defRPr>
            </a:pPr>
            <a:r>
              <a:t>Weights are specified in the source project document; they should be treated as the proposed scoring model unless validated against live user data.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656E67"/>
                </a:solidFill>
                <a:latin typeface="Aptos"/>
              </a:defRPr>
            </a:pPr>
            <a:r>
              <a:t>INTELLIGENT COGNITIVE ALARM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92240"/>
            <a:ext cx="731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656E67"/>
                </a:solidFill>
                <a:latin typeface="Aptos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315B4C"/>
                </a:solidFill>
                <a:latin typeface="Aptos"/>
              </a:defRPr>
            </a:pPr>
            <a:r>
              <a:t>07 /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C2B26"/>
                </a:solidFill>
                <a:latin typeface="Aptos"/>
              </a:defRPr>
            </a:pPr>
            <a:r>
              <a:t>Technology stack &amp;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822960" cy="50292"/>
          </a:xfrm>
          <a:prstGeom prst="rect">
            <a:avLst/>
          </a:prstGeom>
          <a:solidFill>
            <a:srgbClr val="BE9242"/>
          </a:solidFill>
          <a:ln>
            <a:solidFill>
              <a:srgbClr val="BE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5204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73152" cy="1463040"/>
          </a:xfrm>
          <a:prstGeom prst="rect">
            <a:avLst/>
          </a:prstGeom>
          <a:solidFill>
            <a:srgbClr val="315B4C"/>
          </a:solidFill>
          <a:ln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810512"/>
            <a:ext cx="313639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C2B26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40280"/>
            <a:ext cx="3136392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D3430"/>
                </a:solidFill>
                <a:latin typeface="Aptos"/>
              </a:defRPr>
            </a:pPr>
            <a:r>
              <a:t>React / JavaScript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2D3430"/>
                </a:solidFill>
                <a:latin typeface="Aptos"/>
              </a:defRPr>
            </a:pPr>
            <a:r>
              <a:t>Tailwind CSS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2D3430"/>
                </a:solidFill>
                <a:latin typeface="Aptos"/>
              </a:defRPr>
            </a:pPr>
            <a:r>
              <a:t>Chart.js / Plotly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45920"/>
            <a:ext cx="35204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645920"/>
            <a:ext cx="73152" cy="1463040"/>
          </a:xfrm>
          <a:prstGeom prst="rect">
            <a:avLst/>
          </a:prstGeom>
          <a:solidFill>
            <a:srgbClr val="315B4C"/>
          </a:solidFill>
          <a:ln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1810512"/>
            <a:ext cx="313639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C2B26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240280"/>
            <a:ext cx="3136392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D3430"/>
                </a:solidFill>
                <a:latin typeface="Aptos"/>
              </a:defRPr>
            </a:pPr>
            <a:r>
              <a:t>Python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2D3430"/>
                </a:solidFill>
                <a:latin typeface="Aptos"/>
              </a:defRPr>
            </a:pPr>
            <a:r>
              <a:t>FastAPI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2D3430"/>
                </a:solidFill>
                <a:latin typeface="Aptos"/>
              </a:defRPr>
            </a:pPr>
            <a:r>
              <a:t>REST API workflows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645920"/>
            <a:ext cx="35204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20" y="1645920"/>
            <a:ext cx="73152" cy="1463040"/>
          </a:xfrm>
          <a:prstGeom prst="rect">
            <a:avLst/>
          </a:prstGeom>
          <a:solidFill>
            <a:srgbClr val="315B4C"/>
          </a:solidFill>
          <a:ln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6488" y="1810512"/>
            <a:ext cx="313639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C2B26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240280"/>
            <a:ext cx="3136392" cy="52578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D3430"/>
                </a:solidFill>
                <a:latin typeface="Aptos"/>
              </a:defRPr>
            </a:pPr>
            <a:r>
              <a:t>PostgreSQL (primary in spec)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2D3430"/>
                </a:solidFill>
                <a:latin typeface="Aptos"/>
              </a:defRPr>
            </a:pPr>
            <a:r>
              <a:t>Persistent user / alarm records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74720"/>
            <a:ext cx="35204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474720"/>
            <a:ext cx="73152" cy="1463040"/>
          </a:xfrm>
          <a:prstGeom prst="rect">
            <a:avLst/>
          </a:prstGeom>
          <a:solidFill>
            <a:srgbClr val="BE9242"/>
          </a:solidFill>
          <a:ln>
            <a:solidFill>
              <a:srgbClr val="BE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639312"/>
            <a:ext cx="313639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C2B26"/>
                </a:solidFill>
                <a:latin typeface="Aptos"/>
              </a:defRPr>
            </a:pPr>
            <a:r>
              <a:t>AI &amp;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069080"/>
            <a:ext cx="3136392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D3430"/>
                </a:solidFill>
                <a:latin typeface="Aptos"/>
              </a:defRPr>
            </a:pPr>
            <a:r>
              <a:t>Behavioral analytics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2D3430"/>
                </a:solidFill>
                <a:latin typeface="Aptos"/>
              </a:defRPr>
            </a:pPr>
            <a:r>
              <a:t>Reinforcement learning concept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2D3430"/>
                </a:solidFill>
                <a:latin typeface="Aptos"/>
              </a:defRPr>
            </a:pPr>
            <a:r>
              <a:t>Pandas / NumPy / ML libraries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474720"/>
            <a:ext cx="35204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80560" y="3474720"/>
            <a:ext cx="73152" cy="1463040"/>
          </a:xfrm>
          <a:prstGeom prst="rect">
            <a:avLst/>
          </a:prstGeom>
          <a:solidFill>
            <a:srgbClr val="315B4C"/>
          </a:solidFill>
          <a:ln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81728" y="3639312"/>
            <a:ext cx="313639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C2B26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4069080"/>
            <a:ext cx="3136392" cy="52578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D3430"/>
                </a:solidFill>
                <a:latin typeface="Aptos"/>
              </a:defRPr>
            </a:pPr>
            <a:r>
              <a:t>Role-based access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2D3430"/>
                </a:solidFill>
                <a:latin typeface="Aptos"/>
              </a:defRPr>
            </a:pPr>
            <a:r>
              <a:t>Input and route validation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474720"/>
            <a:ext cx="35204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75320" y="3474720"/>
            <a:ext cx="73152" cy="1463040"/>
          </a:xfrm>
          <a:prstGeom prst="rect">
            <a:avLst/>
          </a:prstGeom>
          <a:solidFill>
            <a:srgbClr val="BE9242"/>
          </a:solidFill>
          <a:ln>
            <a:solidFill>
              <a:srgbClr val="BE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76488" y="3639312"/>
            <a:ext cx="313639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C2B26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4069080"/>
            <a:ext cx="3136392" cy="52578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D3430"/>
                </a:solidFill>
                <a:latin typeface="Aptos"/>
              </a:defRPr>
            </a:pPr>
            <a:r>
              <a:t>Docker / Docker Compose</a:t>
            </a:r>
          </a:p>
          <a:p>
            <a:pPr algn="l">
              <a:spcAft>
                <a:spcPts val="500"/>
              </a:spcAft>
              <a:defRPr sz="1200" b="0" i="0">
                <a:solidFill>
                  <a:srgbClr val="2D3430"/>
                </a:solidFill>
                <a:latin typeface="Aptos"/>
              </a:defRPr>
            </a:pPr>
            <a:r>
              <a:t>Git &amp; GitHub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86400"/>
            <a:ext cx="106070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 i="1">
                <a:solidFill>
                  <a:srgbClr val="656E67"/>
                </a:solidFill>
                <a:latin typeface="Aptos"/>
              </a:defRPr>
            </a:pPr>
            <a:r>
              <a:t>The project repository shows a React frontend, Python backend, Docker configuration and test assets. The broader specification also lists mobile, cloud and ML options.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656E67"/>
                </a:solidFill>
                <a:latin typeface="Aptos"/>
              </a:defRPr>
            </a:pPr>
            <a:r>
              <a:t>INTELLIGENT COGNITIVE ALARM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5640" y="6492240"/>
            <a:ext cx="731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656E67"/>
                </a:solidFill>
                <a:latin typeface="Aptos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3840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315B4C"/>
                </a:solidFill>
                <a:latin typeface="Aptos"/>
              </a:defRPr>
            </a:pPr>
            <a:r>
              <a:t>08 /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C2B26"/>
                </a:solidFill>
                <a:latin typeface="Aptos"/>
              </a:defRPr>
            </a:pPr>
            <a:r>
              <a:t>Testing, evaluation &amp; success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822960" cy="50292"/>
          </a:xfrm>
          <a:prstGeom prst="rect">
            <a:avLst/>
          </a:prstGeom>
          <a:solidFill>
            <a:srgbClr val="BE9242"/>
          </a:solidFill>
          <a:ln>
            <a:solidFill>
              <a:srgbClr val="BE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2578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2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73152" cy="3520440"/>
          </a:xfrm>
          <a:prstGeom prst="rect">
            <a:avLst/>
          </a:prstGeom>
          <a:solidFill>
            <a:srgbClr val="315B4C"/>
          </a:solidFill>
          <a:ln>
            <a:solidFill>
              <a:srgbClr val="31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810512"/>
            <a:ext cx="487375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1C2B26"/>
                </a:solidFill>
                <a:latin typeface="Aptos"/>
              </a:defRPr>
            </a:pPr>
            <a:r>
              <a:t>Engineering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40280"/>
            <a:ext cx="4873752" cy="28072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2D3430"/>
                </a:solidFill>
                <a:latin typeface="Aptos"/>
              </a:defRPr>
            </a:pPr>
            <a:r>
              <a:t>• Automated backend tests and API checks</a:t>
            </a:r>
          </a:p>
          <a:p>
            <a:pPr algn="l">
              <a:spcAft>
                <a:spcPts val="500"/>
              </a:spcAft>
              <a:defRPr sz="1500" b="0" i="0">
                <a:solidFill>
                  <a:srgbClr val="2D3430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500" b="0" i="0">
                <a:solidFill>
                  <a:srgbClr val="2D3430"/>
                </a:solidFill>
                <a:latin typeface="Aptos"/>
              </a:defRPr>
            </a:pPr>
            <a:r>
              <a:t>• Authentication and role-based access checks</a:t>
            </a:r>
          </a:p>
          <a:p>
            <a:pPr algn="l">
              <a:spcAft>
                <a:spcPts val="500"/>
              </a:spcAft>
              <a:defRPr sz="1500" b="0" i="0">
                <a:solidFill>
                  <a:srgbClr val="2D3430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500" b="0" i="0">
                <a:solidFill>
                  <a:srgbClr val="2D3430"/>
                </a:solidFill>
                <a:latin typeface="Aptos"/>
              </a:defRPr>
            </a:pPr>
            <a:r>
              <a:t>• End-to-end workflow validation</a:t>
            </a:r>
          </a:p>
          <a:p>
            <a:pPr algn="l">
              <a:spcAft>
                <a:spcPts val="500"/>
              </a:spcAft>
              <a:defRPr sz="1500" b="0" i="0">
                <a:solidFill>
                  <a:srgbClr val="2D3430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500" b="0" i="0">
                <a:solidFill>
                  <a:srgbClr val="2D3430"/>
                </a:solidFill>
                <a:latin typeface="Aptos"/>
              </a:defRPr>
            </a:pPr>
            <a:r>
              <a:t>• Docker health / deployment configuration</a:t>
            </a:r>
          </a:p>
          <a:p>
            <a:pPr algn="l">
              <a:spcAft>
                <a:spcPts val="500"/>
              </a:spcAft>
              <a:defRPr sz="1500" b="0" i="0">
                <a:solidFill>
                  <a:srgbClr val="2D3430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500" b="0" i="0">
                <a:solidFill>
                  <a:srgbClr val="2D3430"/>
                </a:solidFill>
                <a:latin typeface="Aptos"/>
              </a:defRPr>
            </a:pPr>
            <a:r>
              <a:t>• Logging and error handling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2578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2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645920"/>
            <a:ext cx="73152" cy="3520440"/>
          </a:xfrm>
          <a:prstGeom prst="rect">
            <a:avLst/>
          </a:prstGeom>
          <a:solidFill>
            <a:srgbClr val="BE9242"/>
          </a:solidFill>
          <a:ln>
            <a:solidFill>
              <a:srgbClr val="BE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7" y="1810512"/>
            <a:ext cx="487375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1C2B26"/>
                </a:solidFill>
                <a:latin typeface="Aptos"/>
              </a:defRPr>
            </a:pPr>
            <a:r>
              <a:t>Product outcome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240280"/>
            <a:ext cx="4873752" cy="28072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2D3430"/>
                </a:solidFill>
                <a:latin typeface="Aptos"/>
              </a:defRPr>
            </a:pPr>
            <a:r>
              <a:t>• Wake-up verification accuracy</a:t>
            </a:r>
          </a:p>
          <a:p>
            <a:pPr algn="l">
              <a:spcAft>
                <a:spcPts val="500"/>
              </a:spcAft>
              <a:defRPr sz="1500" b="0" i="0">
                <a:solidFill>
                  <a:srgbClr val="2D3430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500" b="0" i="0">
                <a:solidFill>
                  <a:srgbClr val="2D3430"/>
                </a:solidFill>
                <a:latin typeface="Aptos"/>
              </a:defRPr>
            </a:pPr>
            <a:r>
              <a:t>• Challenge completion and accuracy</a:t>
            </a:r>
          </a:p>
          <a:p>
            <a:pPr algn="l">
              <a:spcAft>
                <a:spcPts val="500"/>
              </a:spcAft>
              <a:defRPr sz="1500" b="0" i="0">
                <a:solidFill>
                  <a:srgbClr val="2D3430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500" b="0" i="0">
                <a:solidFill>
                  <a:srgbClr val="2D3430"/>
                </a:solidFill>
                <a:latin typeface="Aptos"/>
              </a:defRPr>
            </a:pPr>
            <a:r>
              <a:t>• Snooze frequency and wake-up consistency</a:t>
            </a:r>
          </a:p>
          <a:p>
            <a:pPr algn="l">
              <a:spcAft>
                <a:spcPts val="500"/>
              </a:spcAft>
              <a:defRPr sz="1500" b="0" i="0">
                <a:solidFill>
                  <a:srgbClr val="2D3430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500" b="0" i="0">
                <a:solidFill>
                  <a:srgbClr val="2D3430"/>
                </a:solidFill>
                <a:latin typeface="Aptos"/>
              </a:defRPr>
            </a:pPr>
            <a:r>
              <a:t>• Habit score and sleep schedule adherence</a:t>
            </a:r>
          </a:p>
          <a:p>
            <a:pPr algn="l">
              <a:spcAft>
                <a:spcPts val="500"/>
              </a:spcAft>
              <a:defRPr sz="1500" b="0" i="0">
                <a:solidFill>
                  <a:srgbClr val="2D3430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500" b="0" i="0">
                <a:solidFill>
                  <a:srgbClr val="2D3430"/>
                </a:solidFill>
                <a:latin typeface="Aptos"/>
              </a:defRPr>
            </a:pPr>
            <a:r>
              <a:t>• API response time and dashboard load speed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440680"/>
            <a:ext cx="10104120" cy="530352"/>
          </a:xfrm>
          <a:prstGeom prst="roundRect">
            <a:avLst/>
          </a:prstGeom>
          <a:solidFill>
            <a:srgbClr val="F3E9D0"/>
          </a:solidFill>
          <a:ln>
            <a:solidFill>
              <a:srgbClr val="F3E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5568696"/>
            <a:ext cx="9738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300" b="1" i="0">
                <a:solidFill>
                  <a:srgbClr val="1C2B26"/>
                </a:solidFill>
                <a:latin typeface="Aptos"/>
              </a:defRPr>
            </a:pPr>
            <a:r>
              <a:t>Measure first, then claim impact: user-level improvement requires evaluation over real usage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656E67"/>
                </a:solidFill>
                <a:latin typeface="Aptos"/>
              </a:defRPr>
            </a:pPr>
            <a:r>
              <a:t>INTELLIGENT COGNITIVE ALARM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5640" y="6492240"/>
            <a:ext cx="731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656E67"/>
                </a:solidFill>
                <a:latin typeface="Aptos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3200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BE9242"/>
                </a:solidFill>
                <a:latin typeface="Aptos"/>
              </a:defRPr>
            </a:pPr>
            <a:r>
              <a:t>09 /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6126480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3200" b="1" i="0">
                <a:solidFill>
                  <a:srgbClr val="FFFFFF"/>
                </a:solidFill>
                <a:latin typeface="Aptos"/>
              </a:defRPr>
            </a:pPr>
            <a:r>
              <a:t>A more intentional</a:t>
            </a:r>
          </a:p>
          <a:p>
            <a:pPr algn="l">
              <a:spcAft>
                <a:spcPts val="500"/>
              </a:spcAft>
              <a:defRPr sz="3200" b="1" i="0">
                <a:solidFill>
                  <a:srgbClr val="FFFFFF"/>
                </a:solidFill>
                <a:latin typeface="Aptos"/>
              </a:defRPr>
            </a:pPr>
            <a:r>
              <a:t>way to wake up.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2697480"/>
            <a:ext cx="822960" cy="50292"/>
          </a:xfrm>
          <a:prstGeom prst="rect">
            <a:avLst/>
          </a:prstGeom>
          <a:solidFill>
            <a:srgbClr val="BE9242"/>
          </a:solidFill>
          <a:ln>
            <a:solidFill>
              <a:srgbClr val="BE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566928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0" i="0">
                <a:solidFill>
                  <a:srgbClr val="E1E6DE"/>
                </a:solidFill>
                <a:latin typeface="Aptos"/>
              </a:defRPr>
            </a:pPr>
            <a:r>
              <a:t>The platform brings together alarms, cognitive challenges, wake-up verification and behavior-aware feedback in one workflow.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95160" y="1143000"/>
            <a:ext cx="374903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BE9242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7" name="Oval 6"/>
          <p:cNvSpPr/>
          <p:nvPr/>
        </p:nvSpPr>
        <p:spPr>
          <a:xfrm>
            <a:off x="7040880" y="1847088"/>
            <a:ext cx="100584" cy="100584"/>
          </a:xfrm>
          <a:prstGeom prst="ellipse">
            <a:avLst/>
          </a:prstGeom>
          <a:solidFill>
            <a:srgbClr val="BE9242"/>
          </a:solidFill>
          <a:ln>
            <a:solidFill>
              <a:srgbClr val="BE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69480" y="1737360"/>
            <a:ext cx="40690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FFFFFF"/>
                </a:solidFill>
                <a:latin typeface="Aptos"/>
              </a:defRPr>
            </a:pPr>
            <a:r>
              <a:t>Engages users before dismissing alarms</a:t>
            </a:r>
          </a:p>
        </p:txBody>
      </p:sp>
      <p:sp>
        <p:nvSpPr>
          <p:cNvPr id="9" name="Oval 8"/>
          <p:cNvSpPr/>
          <p:nvPr/>
        </p:nvSpPr>
        <p:spPr>
          <a:xfrm>
            <a:off x="7040880" y="2907792"/>
            <a:ext cx="100584" cy="100584"/>
          </a:xfrm>
          <a:prstGeom prst="ellipse">
            <a:avLst/>
          </a:prstGeom>
          <a:solidFill>
            <a:srgbClr val="BE9242"/>
          </a:solidFill>
          <a:ln>
            <a:solidFill>
              <a:srgbClr val="BE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69480" y="2798064"/>
            <a:ext cx="40690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FFFFFF"/>
                </a:solidFill>
                <a:latin typeface="Aptos"/>
              </a:defRPr>
            </a:pPr>
            <a:r>
              <a:t>Turns routine behavior into measurable signals</a:t>
            </a:r>
          </a:p>
        </p:txBody>
      </p:sp>
      <p:sp>
        <p:nvSpPr>
          <p:cNvPr id="11" name="Oval 10"/>
          <p:cNvSpPr/>
          <p:nvPr/>
        </p:nvSpPr>
        <p:spPr>
          <a:xfrm>
            <a:off x="7040880" y="3968496"/>
            <a:ext cx="100584" cy="100584"/>
          </a:xfrm>
          <a:prstGeom prst="ellipse">
            <a:avLst/>
          </a:prstGeom>
          <a:solidFill>
            <a:srgbClr val="BE9242"/>
          </a:solidFill>
          <a:ln>
            <a:solidFill>
              <a:srgbClr val="BE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69480" y="3858768"/>
            <a:ext cx="40690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FFFFFF"/>
                </a:solidFill>
                <a:latin typeface="Aptos"/>
              </a:defRPr>
            </a:pPr>
            <a:r>
              <a:t>Supports role-aware dashboards and reports</a:t>
            </a:r>
          </a:p>
        </p:txBody>
      </p:sp>
      <p:sp>
        <p:nvSpPr>
          <p:cNvPr id="13" name="Oval 12"/>
          <p:cNvSpPr/>
          <p:nvPr/>
        </p:nvSpPr>
        <p:spPr>
          <a:xfrm>
            <a:off x="7040880" y="5029200"/>
            <a:ext cx="100584" cy="100584"/>
          </a:xfrm>
          <a:prstGeom prst="ellipse">
            <a:avLst/>
          </a:prstGeom>
          <a:solidFill>
            <a:srgbClr val="BE9242"/>
          </a:solidFill>
          <a:ln>
            <a:solidFill>
              <a:srgbClr val="BE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69480" y="4919472"/>
            <a:ext cx="40690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FFFFFF"/>
                </a:solidFill>
                <a:latin typeface="Aptos"/>
              </a:defRPr>
            </a:pPr>
            <a:r>
              <a:t>Creates a foundation for future personalization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166360"/>
            <a:ext cx="3657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500" b="1" i="0">
                <a:solidFill>
                  <a:srgbClr val="BE9242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69280"/>
            <a:ext cx="3200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FFFFFF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C8D2CA"/>
                </a:solidFill>
                <a:latin typeface="Aptos"/>
              </a:defRPr>
            </a:pPr>
            <a:r>
              <a:t>INTELLIGENT COGNITIVE ALARM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0" y="6492240"/>
            <a:ext cx="731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C8D2CA"/>
                </a:solidFill>
                <a:latin typeface="Aptos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881</Words>
  <Application>Microsoft Office PowerPoint</Application>
  <PresentationFormat>Widescreen</PresentationFormat>
  <Paragraphs>213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anusha reddi</dc:creator>
  <cp:keywords/>
  <dc:description>generated using python-pptx</dc:description>
  <cp:lastModifiedBy>anusha reddi</cp:lastModifiedBy>
  <cp:revision>2</cp:revision>
  <dcterms:created xsi:type="dcterms:W3CDTF">2013-01-27T09:14:16Z</dcterms:created>
  <dcterms:modified xsi:type="dcterms:W3CDTF">2026-10-20T12:42:34Z</dcterms:modified>
  <cp:category/>
</cp:coreProperties>
</file>