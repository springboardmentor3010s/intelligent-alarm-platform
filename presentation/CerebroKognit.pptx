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17320" y="1051560"/>
            <a:ext cx="9354312" cy="4754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1051560"/>
            <a:ext cx="9354312" cy="82296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id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607" y="1600200"/>
            <a:ext cx="3840480" cy="8042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2971800"/>
            <a:ext cx="871423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4E28E0"/>
                </a:solidFill>
                <a:latin typeface="Plus Jakarta Sans"/>
              </a:rPr>
              <a:t>CerebroKognit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913632"/>
            <a:ext cx="8714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Plus Jakarta Sans"/>
              </a:rPr>
              <a:t>Intelligent Cognitive Alarm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4553712"/>
            <a:ext cx="8714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64748B"/>
                </a:solidFill>
                <a:latin typeface="Plus Jakarta Sans"/>
              </a:rPr>
              <a:t>Wake with purpose.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513892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6844FD"/>
                </a:solidFill>
                <a:latin typeface="JetBrains Mono"/>
              </a:rPr>
              <a:t>Infosys Virtual Internship 7.0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82296" cy="60350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6583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Plus Jakarta Sans"/>
              </a:rPr>
              <a:t>The Core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8638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6844FD"/>
                </a:solidFill>
                <a:latin typeface="JetBrains Mono"/>
              </a:rPr>
              <a:t>WHY MORNINGS FAIL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101434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Snooze addiction kills mornings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Groggy one-tap dismissals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Sleep inertia delays focus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Broken routines go unchecked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Oversleeping costs classes, work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No accountability after waking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Zero data on wake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82296" cy="60350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6583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Plus Jakarta Sans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8638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6844FD"/>
                </a:solidFill>
                <a:latin typeface="JetBrains Mono"/>
              </a:rPr>
              <a:t>SOLVE TO WAKE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101434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Solve to dismiss alarms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Personalized cognitive challenges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Adaptive difficulty engine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Daily habit scoring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Train your brain awake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Evidence-based techniques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Offline-first, works anywhere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82296" cy="60350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6583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Plus Jakarta Sans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8638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6844FD"/>
                </a:solidFill>
                <a:latin typeface="JetBrains Mono"/>
              </a:rPr>
              <a:t>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101434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200" b="1">
                <a:solidFill>
                  <a:srgbClr val="4E28E0"/>
                </a:solidFill>
                <a:latin typeface="JetBrains Mono"/>
              </a:rPr>
              <a:t>COGNITIVE ENGINE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7 challenge types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5 difficulty levels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Logic, math, memory, recall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200" b="1">
                <a:solidFill>
                  <a:srgbClr val="4E28E0"/>
                </a:solidFill>
                <a:latin typeface="JetBrains Mono"/>
              </a:rPr>
              <a:t>INTELLIGENCE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Adaptive difficulty selection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Weighted habit score (35/25/20/20)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Personalized recommendations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200" b="1">
                <a:solidFill>
                  <a:srgbClr val="4E28E0"/>
                </a:solidFill>
                <a:latin typeface="JetBrains Mono"/>
              </a:rPr>
              <a:t>PLATFORM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Offline-first sync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Smart notifications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PDF/Excel reports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Web + mobile dashboards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82296" cy="60350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6583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Plus Jakarta Sans"/>
              </a:rPr>
              <a:t>Tech Stack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8638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6844FD"/>
                </a:solidFill>
                <a:latin typeface="JetBrains Mono"/>
              </a:rPr>
              <a:t>BUILT WITH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101434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200" b="1">
                <a:solidFill>
                  <a:srgbClr val="4E28E0"/>
                </a:solidFill>
                <a:latin typeface="JetBrains Mono"/>
              </a:rPr>
              <a:t>BACKEND &amp; DATA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FastAPI, Python 3.11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PostgreSQL / SQLite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43+ REST endpoints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200" b="1">
                <a:solidFill>
                  <a:srgbClr val="4E28E0"/>
                </a:solidFill>
                <a:latin typeface="JetBrains Mono"/>
              </a:rPr>
              <a:t>CLIENTS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React 18 + Vite (web)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Expo SDK 58, React Native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200" b="1">
                <a:solidFill>
                  <a:srgbClr val="4E28E0"/>
                </a:solidFill>
                <a:latin typeface="JetBrains Mono"/>
              </a:rPr>
              <a:t>INTELLIGENCE &amp; OPS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AI: PyTorch + rules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Auth: JWT + Google OAuth2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Docker + GitHub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82296" cy="60350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6583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Plus Jakarta Sans"/>
              </a:rPr>
              <a:t>System Design /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8638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6844FD"/>
                </a:solidFill>
                <a:latin typeface="JetBrains Mono"/>
              </a:rPr>
              <a:t>HOW IT 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965960"/>
            <a:ext cx="246888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965960"/>
            <a:ext cx="2468880" cy="64008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2112264"/>
            <a:ext cx="217627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844FD"/>
                </a:solidFill>
                <a:latin typeface="JetBrains Mono"/>
              </a:rPr>
              <a:t>CLIENT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Expo Mobile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965960"/>
            <a:ext cx="246888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1965960"/>
            <a:ext cx="2468880" cy="64008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78224" y="2112264"/>
            <a:ext cx="217627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844FD"/>
                </a:solidFill>
                <a:latin typeface="JetBrains Mono"/>
              </a:rPr>
              <a:t>CLIENT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React Web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337560"/>
            <a:ext cx="530352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337560"/>
            <a:ext cx="5303520" cy="64008"/>
          </a:xfrm>
          <a:prstGeom prst="rect">
            <a:avLst/>
          </a:prstGeom>
          <a:solidFill>
            <a:srgbClr val="4E2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3483864"/>
            <a:ext cx="501091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E28E0"/>
                </a:solidFill>
                <a:latin typeface="JetBrains Mono"/>
              </a:rPr>
              <a:t>API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FastAPI + JWT + OAuth2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337560"/>
            <a:ext cx="237744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3337560"/>
            <a:ext cx="2377440" cy="64008"/>
          </a:xfrm>
          <a:prstGeom prst="rect">
            <a:avLst/>
          </a:prstGeom>
          <a:solidFill>
            <a:srgbClr val="4E2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3483864"/>
            <a:ext cx="208483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E28E0"/>
                </a:solidFill>
                <a:latin typeface="JetBrains Mono"/>
              </a:rPr>
              <a:t>AI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AI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709160"/>
            <a:ext cx="246888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709160"/>
            <a:ext cx="2468880" cy="64008"/>
          </a:xfrm>
          <a:prstGeom prst="rect">
            <a:avLst/>
          </a:prstGeom>
          <a:solidFill>
            <a:srgbClr val="58F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3584" y="4855464"/>
            <a:ext cx="217627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8F6CA"/>
                </a:solidFill>
                <a:latin typeface="JetBrains Mono"/>
              </a:rPr>
              <a:t>DATA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PostgreSQL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4709160"/>
            <a:ext cx="246888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4709160"/>
            <a:ext cx="2468880" cy="64008"/>
          </a:xfrm>
          <a:prstGeom prst="rect">
            <a:avLst/>
          </a:prstGeom>
          <a:solidFill>
            <a:srgbClr val="58F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78224" y="4855464"/>
            <a:ext cx="217627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8F6CA"/>
                </a:solidFill>
                <a:latin typeface="JetBrains Mono"/>
              </a:rPr>
              <a:t>DATA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Cache + Sync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231136" y="2834640"/>
            <a:ext cx="201168" cy="502919"/>
          </a:xfrm>
          <a:prstGeom prst="downArrow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065776" y="2834640"/>
            <a:ext cx="201168" cy="502919"/>
          </a:xfrm>
          <a:prstGeom prst="downArrow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6400800" y="3703320"/>
            <a:ext cx="548639" cy="201168"/>
          </a:xfrm>
          <a:prstGeom prst="rightArrow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2231136" y="4206240"/>
            <a:ext cx="201168" cy="502920"/>
          </a:xfrm>
          <a:prstGeom prst="downArrow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5065776" y="4206240"/>
            <a:ext cx="201168" cy="502920"/>
          </a:xfrm>
          <a:prstGeom prst="downArrow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82296" cy="60350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6583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Plus Jakarta Sans"/>
              </a:rPr>
              <a:t>Development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8638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6844FD"/>
                </a:solidFill>
                <a:latin typeface="JetBrains Mono"/>
              </a:rPr>
              <a:t>BUILD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101434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M1 Foundation: complete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M2 Cognitive engine: complete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M3 Adaptive intelligence: complete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M4 Polish and deploy: complete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Phases A-D: OAuth2, AI, announcements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Retro-futuristic redesign landed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Docs, PRD and reports written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82296" cy="60350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6583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Plus Jakarta Sans"/>
              </a:rPr>
              <a:t>Current Status &amp;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8638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6844FD"/>
                </a:solidFill>
                <a:latin typeface="JetBrains Mono"/>
              </a:rPr>
              <a:t>WHAT WORKS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101434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Functional prototype, about 92%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384 automated tests passing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87% backend coverage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Auth and RBAC working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Alarm-dismiss E2E verified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Google OAuth2 live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Docker validated end-to-end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Real data only, no mocks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82296" cy="60350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6583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Plus Jakarta Sans"/>
              </a:rPr>
              <a:t>Challenges Overcome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8638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6844FD"/>
                </a:solidFill>
                <a:latin typeface="JetBrains Mono"/>
              </a:rPr>
              <a:t>HARD PROBLEMS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101434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Fixed challenge answer leak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Env-driven JWT secrets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Solved LAN connectivity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Fixed Python 3.14 crash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Built tests from zero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Repaired Docker entrypoint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Eliminated all mock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82296" cy="60350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6583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Plus Jakarta Sans"/>
              </a:rPr>
              <a:t>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8638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6844FD"/>
                </a:solidFill>
                <a:latin typeface="JetBrains Mono"/>
              </a:rPr>
              <a:t>WHAT IS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101434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Public cloud deployment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Real-device alarm E2E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Sentry monitoring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Higher mobile coverage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Bedtime alert triggers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Learned recommendation ranker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Scale to 1000+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82296" cy="60350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6583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Plus Jakarta Sans"/>
              </a:rPr>
              <a:t>Practical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8638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6844FD"/>
                </a:solidFill>
                <a:latin typeface="JetBrains Mono"/>
              </a:rPr>
              <a:t>WHO IT HELPS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101434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200" b="1">
                <a:solidFill>
                  <a:srgbClr val="4E28E0"/>
                </a:solidFill>
                <a:latin typeface="JetBrains Mono"/>
              </a:rPr>
              <a:t>PERSONAS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Students: consistent wake-ups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Professionals: productive mornings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Fitness: training adherence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Wellness partners: API integration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200" b="1">
                <a:solidFill>
                  <a:srgbClr val="4E28E0"/>
                </a:solidFill>
                <a:latin typeface="JetBrains Mono"/>
              </a:rPr>
              <a:t>OUTCOMES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Fewer snoozes, better habits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6844FD"/>
                </a:solidFill>
                <a:latin typeface="Plus Jakarta Sans"/>
              </a:rPr>
              <a:t>•  </a:t>
            </a:r>
            <a:r>
              <a:rPr sz="1800" b="0">
                <a:solidFill>
                  <a:srgbClr val="0F172A"/>
                </a:solidFill>
                <a:latin typeface="Plus Jakarta Sans"/>
              </a:rPr>
              <a:t>Measurable, exportable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84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ust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267" y="1005840"/>
            <a:ext cx="1465161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2331720"/>
            <a:ext cx="87142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4E28E0"/>
                </a:solidFill>
                <a:latin typeface="Plus Jakarta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200400"/>
            <a:ext cx="8714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Plus Jakarta Sans"/>
              </a:rPr>
              <a:t>Questions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977639"/>
            <a:ext cx="871423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Plus Jakarta Sans"/>
              </a:rPr>
              <a:t>Built by Pawan Simha R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Plus Jakarta Sans"/>
              </a:rPr>
              <a:t>Guide: Shanmukha Priya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844FD"/>
                </a:solidFill>
                <a:latin typeface="JetBrains Mono"/>
              </a:rPr>
              <a:t>iampawansimha.2004@gmail.com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844FD"/>
                </a:solidFill>
                <a:latin typeface="JetBrains Mono"/>
              </a:rPr>
              <a:t>github.com/PawanSimha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844FD"/>
                </a:solidFill>
                <a:latin typeface="JetBrains Mono"/>
              </a:rPr>
              <a:t>linkedin.com/in/pawansimha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327648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JetBrains Mono"/>
              </a:rPr>
              <a:t>CerebroKognit  ·  Intelligent Cognitive Alarm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00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CerebroKognit - Intelligent Cognitive Alarm Platform</dc:title>
  <dc:subject>Infosys Virtual Internship 7.0</dc:subject>
  <dc:creator>Pawan Simha 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