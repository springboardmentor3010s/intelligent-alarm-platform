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1828800" cy="182880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97880"/>
            <a:ext cx="1371600" cy="137160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63840" y="1143000"/>
            <a:ext cx="2971800" cy="2971800"/>
          </a:xfrm>
          <a:prstGeom prst="ellipse">
            <a:avLst/>
          </a:prstGeom>
          <a:solidFill>
            <a:srgbClr val="1B2446"/>
          </a:solidFill>
          <a:ln w="50800">
            <a:solidFill>
              <a:srgbClr val="3F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32520" y="1874519"/>
            <a:ext cx="1234440" cy="123444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32520" y="1892807"/>
            <a:ext cx="123444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5F7FF"/>
                </a:solidFill>
              </a:defRPr>
            </a:pPr>
            <a:r>
              <a:t>AI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345168" y="1691640"/>
            <a:ext cx="0" cy="804672"/>
          </a:xfrm>
          <a:prstGeom prst="line">
            <a:avLst/>
          </a:prstGeom>
          <a:ln w="50800">
            <a:solidFill>
              <a:srgbClr val="F5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45168" y="2496312"/>
            <a:ext cx="576072" cy="338328"/>
          </a:xfrm>
          <a:prstGeom prst="line">
            <a:avLst/>
          </a:prstGeom>
          <a:ln w="50800">
            <a:solidFill>
              <a:srgbClr val="F5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1325880"/>
            <a:ext cx="6583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FD2DC"/>
                </a:solidFill>
              </a:defRPr>
            </a:pPr>
            <a:r>
              <a:t>MILESTONE 2</a:t>
            </a:r>
          </a:p>
          <a:p>
            <a:pPr>
              <a:defRPr sz="3400" b="1">
                <a:solidFill>
                  <a:srgbClr val="F5F7FF"/>
                </a:solidFill>
              </a:defRPr>
            </a:pPr>
            <a:r>
              <a:t>Cognitive Challenge</a:t>
            </a:r>
            <a:br/>
            <a:r>
              <a:t>&amp; Wake-Up Verification</a:t>
            </a:r>
          </a:p>
          <a:p>
            <a:pPr>
              <a:defRPr sz="1600">
                <a:solidFill>
                  <a:srgbClr val="AFB9D7"/>
                </a:solidFill>
              </a:defRPr>
            </a:pPr>
            <a:r>
              <a:t>Intelligent Cognitive Alarm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6309360" cy="123444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160520"/>
            <a:ext cx="64008" cy="1234440"/>
          </a:xfrm>
          <a:prstGeom prst="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315968"/>
            <a:ext cx="5961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F"/>
                </a:solidFill>
              </a:defRPr>
            </a:pPr>
            <a:r>
              <a:t>Milestone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754880"/>
            <a:ext cx="5943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FB9D7"/>
                </a:solidFill>
              </a:defRPr>
            </a:pPr>
            <a:r>
              <a:t>Challenge generation • wake-up verification • answer evaluation • performance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FB9D7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-594360" y="5897880"/>
            <a:ext cx="1371600" cy="137160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1. Cognitive Challenge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Seven challenge types are available in the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487168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64008" cy="1600200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75564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Math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94560"/>
            <a:ext cx="212140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Arithmetic &amp; expressions</a:t>
            </a:r>
          </a:p>
        </p:txBody>
      </p:sp>
      <p:sp>
        <p:nvSpPr>
          <p:cNvPr id="11" name="Oval 10"/>
          <p:cNvSpPr/>
          <p:nvPr/>
        </p:nvSpPr>
        <p:spPr>
          <a:xfrm>
            <a:off x="1572768" y="2404872"/>
            <a:ext cx="566928" cy="566928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00200"/>
            <a:ext cx="2487168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600200"/>
            <a:ext cx="64008" cy="1600200"/>
          </a:xfrm>
          <a:prstGeom prst="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175564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194560"/>
            <a:ext cx="212140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Sequences &amp; rules</a:t>
            </a:r>
          </a:p>
        </p:txBody>
      </p:sp>
      <p:sp>
        <p:nvSpPr>
          <p:cNvPr id="17" name="Oval 16"/>
          <p:cNvSpPr/>
          <p:nvPr/>
        </p:nvSpPr>
        <p:spPr>
          <a:xfrm>
            <a:off x="4361688" y="2404872"/>
            <a:ext cx="566928" cy="566928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1688" y="242316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rPr dirty="0"/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2487168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600200"/>
            <a:ext cx="64008" cy="1600200"/>
          </a:xfrm>
          <a:prstGeom prst="rect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175564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194560"/>
            <a:ext cx="212140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Recall &amp; position</a:t>
            </a:r>
          </a:p>
        </p:txBody>
      </p:sp>
      <p:sp>
        <p:nvSpPr>
          <p:cNvPr id="23" name="Oval 22"/>
          <p:cNvSpPr/>
          <p:nvPr/>
        </p:nvSpPr>
        <p:spPr>
          <a:xfrm>
            <a:off x="7150608" y="2404872"/>
            <a:ext cx="566928" cy="566928"/>
          </a:xfrm>
          <a:prstGeom prst="ellipse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50608" y="242316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39" y="1600200"/>
            <a:ext cx="2487168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06839" y="1600200"/>
            <a:ext cx="64008" cy="1600200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08007" y="175564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Word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7" y="2194560"/>
            <a:ext cx="212140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Unscramble words</a:t>
            </a:r>
          </a:p>
        </p:txBody>
      </p:sp>
      <p:sp>
        <p:nvSpPr>
          <p:cNvPr id="29" name="Oval 28"/>
          <p:cNvSpPr/>
          <p:nvPr/>
        </p:nvSpPr>
        <p:spPr>
          <a:xfrm>
            <a:off x="9939527" y="2404872"/>
            <a:ext cx="566928" cy="566928"/>
          </a:xfrm>
          <a:prstGeom prst="ellipse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39527" y="242316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566160"/>
            <a:ext cx="2487168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3566160"/>
            <a:ext cx="64008" cy="1600200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7" y="372160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Pattern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4160520"/>
            <a:ext cx="212140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Identify the rule</a:t>
            </a:r>
          </a:p>
        </p:txBody>
      </p:sp>
      <p:sp>
        <p:nvSpPr>
          <p:cNvPr id="35" name="Oval 34"/>
          <p:cNvSpPr/>
          <p:nvPr/>
        </p:nvSpPr>
        <p:spPr>
          <a:xfrm>
            <a:off x="1572768" y="4370832"/>
            <a:ext cx="566928" cy="566928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72768" y="438912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566160"/>
            <a:ext cx="2487168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429000" y="3566160"/>
            <a:ext cx="64008" cy="1600200"/>
          </a:xfrm>
          <a:prstGeom prst="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30168" y="372160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Riddle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160520"/>
            <a:ext cx="212140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Reason from clues</a:t>
            </a:r>
          </a:p>
        </p:txBody>
      </p:sp>
      <p:sp>
        <p:nvSpPr>
          <p:cNvPr id="41" name="Oval 40"/>
          <p:cNvSpPr/>
          <p:nvPr/>
        </p:nvSpPr>
        <p:spPr>
          <a:xfrm>
            <a:off x="4361688" y="4370832"/>
            <a:ext cx="566928" cy="566928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61688" y="438912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06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65522" y="3566160"/>
            <a:ext cx="2487168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6281928" y="3547577"/>
            <a:ext cx="64008" cy="1600200"/>
          </a:xfrm>
          <a:prstGeom prst="rect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3" y="3694471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rPr dirty="0"/>
              <a:t>Quiz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8609" y="3996543"/>
            <a:ext cx="212140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rPr dirty="0"/>
              <a:t>Multiple-choice knowledge</a:t>
            </a:r>
          </a:p>
        </p:txBody>
      </p:sp>
      <p:sp>
        <p:nvSpPr>
          <p:cNvPr id="47" name="Oval 46"/>
          <p:cNvSpPr/>
          <p:nvPr/>
        </p:nvSpPr>
        <p:spPr>
          <a:xfrm>
            <a:off x="7255762" y="4347677"/>
            <a:ext cx="566928" cy="566928"/>
          </a:xfrm>
          <a:prstGeom prst="ellipse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7241503" y="432054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FB9D7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1828800" cy="182880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97880"/>
            <a:ext cx="1371600" cy="137160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2. Puzzle Generation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Difficulty changes the complexity of the generated challenge.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37560" cy="2057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2057400"/>
          </a:xfrm>
          <a:prstGeom prst="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990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7FF"/>
                </a:solidFill>
              </a:defRPr>
            </a:pPr>
            <a:r>
              <a:t>EASY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94560"/>
            <a:ext cx="29718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FB9D7"/>
                </a:solidFill>
              </a:defRPr>
            </a:pPr>
            <a:r>
              <a:t>Simple arithmetic • short memory • basic clues</a:t>
            </a:r>
          </a:p>
        </p:txBody>
      </p:sp>
      <p:sp>
        <p:nvSpPr>
          <p:cNvPr id="11" name="Oval 10"/>
          <p:cNvSpPr/>
          <p:nvPr/>
        </p:nvSpPr>
        <p:spPr>
          <a:xfrm>
            <a:off x="2029967" y="2880360"/>
            <a:ext cx="685800" cy="68580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29967" y="2898648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5F7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00200"/>
            <a:ext cx="3337560" cy="2057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64008" cy="2057400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1755648"/>
            <a:ext cx="2990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7FF"/>
                </a:solidFill>
              </a:defRPr>
            </a:pPr>
            <a: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194560"/>
            <a:ext cx="29718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FB9D7"/>
                </a:solidFill>
              </a:defRPr>
            </a:pPr>
            <a:r>
              <a:t>Larger numbers • longer words • deeper rules</a:t>
            </a:r>
          </a:p>
        </p:txBody>
      </p:sp>
      <p:sp>
        <p:nvSpPr>
          <p:cNvPr id="17" name="Oval 16"/>
          <p:cNvSpPr/>
          <p:nvPr/>
        </p:nvSpPr>
        <p:spPr>
          <a:xfrm>
            <a:off x="5824728" y="2880360"/>
            <a:ext cx="685800" cy="68580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24728" y="2898648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5F7FF"/>
                </a:solidFill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600200"/>
            <a:ext cx="3337560" cy="2057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21040" y="1600200"/>
            <a:ext cx="64008" cy="2057400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755648"/>
            <a:ext cx="29900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7FF"/>
                </a:solidFill>
              </a:defRPr>
            </a:pPr>
            <a:r>
              <a:t>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194560"/>
            <a:ext cx="29718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FB9D7"/>
                </a:solidFill>
              </a:defRPr>
            </a:pPr>
            <a:r>
              <a:t>Multi-step reasoning • complex patterns • technical quiz</a:t>
            </a:r>
          </a:p>
        </p:txBody>
      </p:sp>
      <p:sp>
        <p:nvSpPr>
          <p:cNvPr id="23" name="Oval 22"/>
          <p:cNvSpPr/>
          <p:nvPr/>
        </p:nvSpPr>
        <p:spPr>
          <a:xfrm>
            <a:off x="9619488" y="2880360"/>
            <a:ext cx="685800" cy="685800"/>
          </a:xfrm>
          <a:prstGeom prst="ellipse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19488" y="2898648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5F7FF"/>
                </a:solidFill>
              </a:defRPr>
            </a:pPr>
            <a: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" y="4251960"/>
            <a:ext cx="640080" cy="64008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270248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7FF"/>
                </a:solidFill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206240"/>
            <a:ext cx="1508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F"/>
                </a:solidFill>
              </a:defRPr>
            </a:pPr>
            <a:r>
              <a:t>SELECT</a:t>
            </a:r>
          </a:p>
          <a:p>
            <a:pPr>
              <a:defRPr sz="1100">
                <a:solidFill>
                  <a:srgbClr val="AFB9D7"/>
                </a:solidFill>
              </a:defRPr>
            </a:pPr>
            <a:r>
              <a:t>Type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26080" y="4572000"/>
            <a:ext cx="658368" cy="0"/>
          </a:xfrm>
          <a:prstGeom prst="line">
            <a:avLst/>
          </a:prstGeom>
          <a:ln w="25400">
            <a:solidFill>
              <a:srgbClr val="AF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749039" y="4251960"/>
            <a:ext cx="640080" cy="64008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39" y="4270248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7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206240"/>
            <a:ext cx="1508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F"/>
                </a:solidFill>
              </a:defRPr>
            </a:pPr>
            <a:r>
              <a:t>SET</a:t>
            </a:r>
          </a:p>
          <a:p>
            <a:pPr>
              <a:defRPr sz="1100">
                <a:solidFill>
                  <a:srgbClr val="AFB9D7"/>
                </a:solidFill>
              </a:defRPr>
            </a:pPr>
            <a:r>
              <a:t>Difficulty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79" y="4572000"/>
            <a:ext cx="658369" cy="0"/>
          </a:xfrm>
          <a:prstGeom prst="line">
            <a:avLst/>
          </a:prstGeom>
          <a:ln w="25400">
            <a:solidFill>
              <a:srgbClr val="AF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270248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7FF"/>
                </a:solidFill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79" y="4206240"/>
            <a:ext cx="1508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F"/>
                </a:solidFill>
              </a:defRPr>
            </a:pPr>
            <a:r>
              <a:t>GENERATE</a:t>
            </a:r>
          </a:p>
          <a:p>
            <a:pPr>
              <a:defRPr sz="1100">
                <a:solidFill>
                  <a:srgbClr val="AFB9D7"/>
                </a:solidFill>
              </a:defRPr>
            </a:pPr>
            <a:r>
              <a:t>Question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12480" y="4572000"/>
            <a:ext cx="658368" cy="0"/>
          </a:xfrm>
          <a:prstGeom prst="line">
            <a:avLst/>
          </a:prstGeom>
          <a:ln w="25400">
            <a:solidFill>
              <a:srgbClr val="AF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235440" y="4251960"/>
            <a:ext cx="640080" cy="64008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0" y="4270248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7FF"/>
                </a:solidFill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4206240"/>
            <a:ext cx="1508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F"/>
                </a:solidFill>
              </a:defRPr>
            </a:pPr>
            <a:r>
              <a:t>SOLVE</a:t>
            </a:r>
          </a:p>
          <a:p>
            <a:pPr>
              <a:defRPr sz="1100">
                <a:solidFill>
                  <a:srgbClr val="AFB9D7"/>
                </a:solidFill>
              </a:defRPr>
            </a:pPr>
            <a:r>
              <a:t>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FB9D7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1828800" cy="182880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97880"/>
            <a:ext cx="1371600" cy="137160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3. Wake-Up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The alarm becomes a cognitive task instead of a simple dismiss button.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423160" cy="2057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64008" cy="2057400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29967"/>
            <a:ext cx="2075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ALARM 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68879"/>
            <a:ext cx="20574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Start alarm sound</a:t>
            </a:r>
          </a:p>
        </p:txBody>
      </p:sp>
      <p:sp>
        <p:nvSpPr>
          <p:cNvPr id="11" name="Oval 10"/>
          <p:cNvSpPr/>
          <p:nvPr/>
        </p:nvSpPr>
        <p:spPr>
          <a:xfrm>
            <a:off x="1490472" y="2788920"/>
            <a:ext cx="621792" cy="621792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90472" y="2807208"/>
            <a:ext cx="621792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7FF"/>
                </a:solidFill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44952" y="2880360"/>
            <a:ext cx="338327" cy="0"/>
          </a:xfrm>
          <a:prstGeom prst="line">
            <a:avLst/>
          </a:prstGeom>
          <a:ln w="25400">
            <a:solidFill>
              <a:srgbClr val="3F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1874519"/>
            <a:ext cx="2423160" cy="2057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1874519"/>
            <a:ext cx="64008" cy="2057400"/>
          </a:xfrm>
          <a:prstGeom prst="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7" y="2029967"/>
            <a:ext cx="2075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468879"/>
            <a:ext cx="20574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Generate a fresh task</a:t>
            </a:r>
          </a:p>
        </p:txBody>
      </p:sp>
      <p:sp>
        <p:nvSpPr>
          <p:cNvPr id="18" name="Oval 17"/>
          <p:cNvSpPr/>
          <p:nvPr/>
        </p:nvSpPr>
        <p:spPr>
          <a:xfrm>
            <a:off x="4370831" y="2788920"/>
            <a:ext cx="621792" cy="621792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1" y="2807208"/>
            <a:ext cx="621792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7FF"/>
                </a:solidFill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25312" y="2880360"/>
            <a:ext cx="338328" cy="0"/>
          </a:xfrm>
          <a:prstGeom prst="line">
            <a:avLst/>
          </a:prstGeom>
          <a:ln w="25400">
            <a:solidFill>
              <a:srgbClr val="3F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55080" y="1874519"/>
            <a:ext cx="2423160" cy="2057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64008" cy="2057400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2029967"/>
            <a:ext cx="2075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2468879"/>
            <a:ext cx="20574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User submits answer</a:t>
            </a:r>
          </a:p>
        </p:txBody>
      </p:sp>
      <p:sp>
        <p:nvSpPr>
          <p:cNvPr id="25" name="Oval 24"/>
          <p:cNvSpPr/>
          <p:nvPr/>
        </p:nvSpPr>
        <p:spPr>
          <a:xfrm>
            <a:off x="7251192" y="2788920"/>
            <a:ext cx="621792" cy="621792"/>
          </a:xfrm>
          <a:prstGeom prst="ellipse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51192" y="2807208"/>
            <a:ext cx="621792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7FF"/>
                </a:solidFill>
              </a:defRPr>
            </a:pPr>
            <a:r>
              <a:t>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05672" y="2880360"/>
            <a:ext cx="338328" cy="0"/>
          </a:xfrm>
          <a:prstGeom prst="line">
            <a:avLst/>
          </a:prstGeom>
          <a:ln w="25400">
            <a:solidFill>
              <a:srgbClr val="3F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35440" y="1874519"/>
            <a:ext cx="2423160" cy="2057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35440" y="1874519"/>
            <a:ext cx="64008" cy="2057400"/>
          </a:xfrm>
          <a:prstGeom prst="rect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36608" y="2029967"/>
            <a:ext cx="2075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DISMISS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2468879"/>
            <a:ext cx="205740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Correct → alarm stops</a:t>
            </a:r>
          </a:p>
        </p:txBody>
      </p:sp>
      <p:sp>
        <p:nvSpPr>
          <p:cNvPr id="32" name="Oval 31"/>
          <p:cNvSpPr/>
          <p:nvPr/>
        </p:nvSpPr>
        <p:spPr>
          <a:xfrm>
            <a:off x="10131552" y="2788920"/>
            <a:ext cx="621792" cy="621792"/>
          </a:xfrm>
          <a:prstGeom prst="ellipse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31552" y="2807208"/>
            <a:ext cx="621792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7FF"/>
                </a:solidFill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4617720"/>
            <a:ext cx="4297680" cy="914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463040" y="4617720"/>
            <a:ext cx="64008" cy="914400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64208" y="4773168"/>
            <a:ext cx="39502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F"/>
                </a:solidFill>
              </a:defRPr>
            </a:pPr>
            <a:r>
              <a:t>Wrong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4208" y="5212080"/>
            <a:ext cx="39319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Alarm continues • user can retry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617720"/>
            <a:ext cx="4297680" cy="9144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0" y="4617720"/>
            <a:ext cx="64008" cy="914400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01968" y="4773168"/>
            <a:ext cx="39502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F"/>
                </a:solidFill>
              </a:defRPr>
            </a:pPr>
            <a:r>
              <a:t>Snooze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5212080"/>
            <a:ext cx="39319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5-minute snooze → fresh challenge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FB9D7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1828800" cy="182880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97880"/>
            <a:ext cx="1371600" cy="137160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4. Challenge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Fast backend verification with persistent result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66360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1600200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F"/>
                </a:solidFill>
              </a:defRPr>
            </a:pPr>
            <a:r>
              <a:t>ANSWER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94560"/>
            <a:ext cx="48006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Submitted answer is compared with the stored correct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166360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64008" cy="1600200"/>
          </a:xfrm>
          <a:prstGeom prst="rect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755648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F"/>
                </a:solidFill>
              </a:defRPr>
            </a:pPr>
            <a:r>
              <a:t>CORRECT /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94560"/>
            <a:ext cx="48006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Result is recorded as successful or unsuccessful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166360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64008" cy="1600200"/>
          </a:xfrm>
          <a:prstGeom prst="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21608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F"/>
                </a:solidFill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160520"/>
            <a:ext cx="48006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Repeated submissions are counted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566160"/>
            <a:ext cx="5166360" cy="160020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566160"/>
            <a:ext cx="64008" cy="1600200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3721608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F"/>
                </a:solidFill>
              </a:defRPr>
            </a:pPr>
            <a:r>
              <a:t>TIME TAKEN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160520"/>
            <a:ext cx="48006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Time required to solve the challenge is stored</a:t>
            </a:r>
          </a:p>
        </p:txBody>
      </p:sp>
      <p:sp>
        <p:nvSpPr>
          <p:cNvPr id="23" name="Can 22"/>
          <p:cNvSpPr/>
          <p:nvPr/>
        </p:nvSpPr>
        <p:spPr>
          <a:xfrm>
            <a:off x="5349240" y="5440680"/>
            <a:ext cx="1508760" cy="640080"/>
          </a:xfrm>
          <a:prstGeom prst="can">
            <a:avLst/>
          </a:prstGeom>
          <a:solidFill>
            <a:srgbClr val="141C3A"/>
          </a:solidFill>
          <a:ln w="25400">
            <a:solidFill>
              <a:srgbClr val="3F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5588317"/>
            <a:ext cx="1783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rPr dirty="0"/>
              <a:t>PostgreSQL  →  Challenge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FB9D7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1828800" cy="182880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97880"/>
            <a:ext cx="1371600" cy="137160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5. Challenge History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Stored results are converted into useful performance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66360" cy="132588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1325880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64207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8006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Correct vs. incorrect 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5166360" cy="132588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64008" cy="1325880"/>
          </a:xfrm>
          <a:prstGeom prst="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664207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AVG.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03120"/>
            <a:ext cx="48006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Average solving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166360" cy="132588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64008" cy="1325880"/>
          </a:xfrm>
          <a:prstGeom prst="rect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310128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BY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749040"/>
            <a:ext cx="48006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Performance across 7 challenge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154680"/>
            <a:ext cx="5166360" cy="132588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154680"/>
            <a:ext cx="64008" cy="1325880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3310128"/>
            <a:ext cx="48188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</a:defRPr>
            </a:pPr>
            <a:r>
              <a:t>BY DIFFICULTY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749040"/>
            <a:ext cx="48006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FB9D7"/>
                </a:solidFill>
              </a:defRPr>
            </a:pPr>
            <a:r>
              <a:t>Performance at Easy / Medium / Hard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7FF"/>
                </a:solidFill>
              </a:defRPr>
            </a:pPr>
            <a:r>
              <a:t>Performance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FB9D7"/>
                </a:solidFill>
              </a:defRPr>
            </a:pPr>
            <a:r>
              <a:t>Math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5440680"/>
            <a:ext cx="3200400" cy="164592"/>
          </a:xfrm>
          <a:prstGeom prst="round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73328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FB9D7"/>
                </a:solidFill>
              </a:defRPr>
            </a:pPr>
            <a:r>
              <a:t>Logic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5733288"/>
            <a:ext cx="2468880" cy="164592"/>
          </a:xfrm>
          <a:prstGeom prst="round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60258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FB9D7"/>
                </a:solidFill>
              </a:defRPr>
            </a:pPr>
            <a:r>
              <a:t>Quiz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8760" y="6025896"/>
            <a:ext cx="3749039" cy="164592"/>
          </a:xfrm>
          <a:prstGeom prst="roundRect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FB9D7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502920"/>
            <a:ext cx="1828800" cy="182880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94360" y="5897880"/>
            <a:ext cx="1371600" cy="137160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Milestone 2 —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9D7"/>
                </a:solidFill>
              </a:defRPr>
            </a:pPr>
            <a:r>
              <a:t>Cognitive wake-up workflow is now operational.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90472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F"/>
                </a:solidFill>
              </a:defRPr>
            </a:pPr>
            <a:r>
              <a:t>Challenge engine operational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67712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F"/>
                </a:solidFill>
              </a:defRPr>
            </a:pPr>
            <a:r>
              <a:t>Puzzle generation workflows implemented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063239"/>
            <a:ext cx="502920" cy="502920"/>
          </a:xfrm>
          <a:prstGeom prst="ellipse">
            <a:avLst/>
          </a:prstGeom>
          <a:solidFill>
            <a:srgbClr val="4A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7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44951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F"/>
                </a:solidFill>
              </a:defRPr>
            </a:pPr>
            <a:r>
              <a:t>Wake-up verification functional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840479"/>
            <a:ext cx="502920" cy="502920"/>
          </a:xfrm>
          <a:prstGeom prst="ellipse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7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22191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F"/>
                </a:solidFill>
              </a:defRPr>
            </a:pPr>
            <a:r>
              <a:t>Challenge evaluation completed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617720"/>
            <a:ext cx="502920" cy="502920"/>
          </a:xfrm>
          <a:prstGeom prst="ellipse">
            <a:avLst/>
          </a:prstGeom>
          <a:solidFill>
            <a:srgbClr val="7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636007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9432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F"/>
                </a:solidFill>
              </a:defRPr>
            </a:pPr>
            <a:r>
              <a:t>History &amp; analytics implemented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417320"/>
            <a:ext cx="2834640" cy="3474720"/>
          </a:xfrm>
          <a:prstGeom prst="roundRect">
            <a:avLst/>
          </a:prstGeom>
          <a:solidFill>
            <a:srgbClr val="1B2446"/>
          </a:solidFill>
          <a:ln w="12700">
            <a:solidFill>
              <a:srgbClr val="34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1417320"/>
            <a:ext cx="64008" cy="3474720"/>
          </a:xfrm>
          <a:prstGeom prst="rect">
            <a:avLst/>
          </a:prstGeom>
          <a:solidFill>
            <a:srgbClr val="3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59368" y="1572768"/>
            <a:ext cx="2487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F"/>
                </a:solidFill>
              </a:defRPr>
            </a:pPr>
            <a:r>
              <a:t>NEXT → MILESTONE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2011680"/>
            <a:ext cx="246888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FB9D7"/>
                </a:solidFill>
              </a:defRPr>
            </a:pPr>
            <a:r>
              <a:t>Adaptive Difficulty</a:t>
            </a:r>
            <a:br/>
            <a:br/>
            <a:r>
              <a:t>Behavioral Analytics</a:t>
            </a:r>
            <a:br/>
            <a:br/>
            <a:r>
              <a:t>Habit Scoring</a:t>
            </a:r>
            <a:br/>
            <a:br/>
            <a:r>
              <a:t>Recommendation Engine</a:t>
            </a:r>
            <a:br/>
            <a:br/>
            <a:r>
              <a:t>Habit &amp; Performance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71500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FB9D7"/>
                </a:solidFill>
              </a:defRPr>
            </a:pPr>
            <a:r>
              <a:t>Intelligent Cognitive Alarm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FB9D7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365</Words>
  <Application>Microsoft Office PowerPoint</Application>
  <PresentationFormat>Widescreen</PresentationFormat>
  <Paragraphs>117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Lekhana .....</dc:creator>
  <cp:keywords/>
  <dc:description>generated using python-pptx</dc:description>
  <cp:lastModifiedBy>lbhugar21@gmail.com</cp:lastModifiedBy>
  <cp:revision>2</cp:revision>
  <dcterms:created xsi:type="dcterms:W3CDTF">2013-01-27T09:14:16Z</dcterms:created>
  <dcterms:modified xsi:type="dcterms:W3CDTF">2026-09-14T12:25:37Z</dcterms:modified>
  <cp:category/>
</cp:coreProperties>
</file>