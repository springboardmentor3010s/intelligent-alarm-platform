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5" r:id="rId3"/>
    <p:sldId id="257" r:id="rId4"/>
    <p:sldId id="258" r:id="rId5"/>
    <p:sldId id="259" r:id="rId6"/>
    <p:sldId id="260" r:id="rId7"/>
    <p:sldId id="28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1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685800"/>
            <a:ext cx="146304" cy="5440680"/>
          </a:xfrm>
          <a:prstGeom prst="rect">
            <a:avLst/>
          </a:prstGeom>
          <a:solidFill>
            <a:srgbClr val="3FCDE1"/>
          </a:solidFill>
          <a:ln w="17780">
            <a:solidFill>
              <a:srgbClr val="3F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95277"/>
            <a:ext cx="99669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3FCDE1"/>
                </a:solidFill>
                <a:latin typeface="Aptos"/>
              </a:rPr>
              <a:t>• |  INFOSYS PROJECT</a:t>
            </a:r>
            <a:r>
              <a:rPr lang="en-GB" sz="1000" b="1" dirty="0">
                <a:solidFill>
                  <a:srgbClr val="3FCDE1"/>
                </a:solidFill>
                <a:latin typeface="Aptos"/>
              </a:rPr>
              <a:t> PPT</a:t>
            </a:r>
            <a:endParaRPr sz="1000" b="1" dirty="0">
              <a:solidFill>
                <a:srgbClr val="3FCDE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94195"/>
            <a:ext cx="98755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2F7FF"/>
                </a:solidFill>
                <a:latin typeface="Aptos"/>
              </a:rPr>
              <a:t>HABITFLOW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3299"/>
            <a:ext cx="9875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 dirty="0">
                <a:solidFill>
                  <a:srgbClr val="F2F7FF"/>
                </a:solidFill>
                <a:latin typeface="Aptos"/>
              </a:rPr>
              <a:t>Intelligent Cognitive Alarm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01737"/>
            <a:ext cx="9784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B4C2D7"/>
                </a:solidFill>
                <a:latin typeface="Aptos"/>
              </a:rPr>
              <a:t>A cognitive wake-up workflow with habit insights and adaptive challenge experiences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3401568"/>
            <a:ext cx="4681728" cy="932688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3F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 dirty="0">
                <a:solidFill>
                  <a:srgbClr val="F2F7FF"/>
                </a:solidFill>
                <a:latin typeface="Aptos"/>
              </a:rPr>
              <a:t>MILESTONE 1</a:t>
            </a:r>
            <a:r>
              <a:rPr lang="en-GB" sz="1000" b="0" dirty="0">
                <a:solidFill>
                  <a:srgbClr val="F2F7FF"/>
                </a:solidFill>
                <a:latin typeface="Aptos"/>
              </a:rPr>
              <a:t> -</a:t>
            </a:r>
            <a:r>
              <a:rPr sz="1000" b="0" dirty="0">
                <a:solidFill>
                  <a:srgbClr val="F2F7FF"/>
                </a:solidFill>
                <a:latin typeface="Aptos"/>
              </a:rPr>
              <a:t>Foundation &amp; Access
Authentication • Profiles • Habits • Alarm scheduling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62472" y="3401568"/>
            <a:ext cx="4681728" cy="932688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5C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 dirty="0">
                <a:solidFill>
                  <a:srgbClr val="F2F7FF"/>
                </a:solidFill>
                <a:latin typeface="Aptos"/>
              </a:rPr>
              <a:t>MILESTONE 2</a:t>
            </a:r>
            <a:r>
              <a:rPr lang="en-GB" sz="1000" b="0" dirty="0">
                <a:solidFill>
                  <a:srgbClr val="F2F7FF"/>
                </a:solidFill>
                <a:latin typeface="Aptos"/>
              </a:rPr>
              <a:t>-</a:t>
            </a:r>
            <a:r>
              <a:rPr sz="1000" b="0" dirty="0">
                <a:solidFill>
                  <a:srgbClr val="F2F7FF"/>
                </a:solidFill>
                <a:latin typeface="Aptos"/>
              </a:rPr>
              <a:t>Cognitive Wake-up
Challenge generation • Answer evaluation • Wake-up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4544568"/>
            <a:ext cx="4681728" cy="932688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A9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 dirty="0">
                <a:solidFill>
                  <a:srgbClr val="F2F7FF"/>
                </a:solidFill>
                <a:latin typeface="Aptos"/>
              </a:rPr>
              <a:t>MILESTONE 3</a:t>
            </a:r>
            <a:r>
              <a:rPr lang="en-GB" sz="1000" b="0" dirty="0">
                <a:solidFill>
                  <a:srgbClr val="F2F7FF"/>
                </a:solidFill>
                <a:latin typeface="Aptos"/>
              </a:rPr>
              <a:t>-</a:t>
            </a:r>
            <a:r>
              <a:rPr sz="1000" b="0" dirty="0">
                <a:solidFill>
                  <a:srgbClr val="F2F7FF"/>
                </a:solidFill>
                <a:latin typeface="Aptos"/>
              </a:rPr>
              <a:t>Adaptive Intelligence
Behavior analysis • Difficulty adaptation • Habit scoring •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2472" y="4544568"/>
            <a:ext cx="4681728" cy="932688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51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 dirty="0">
                <a:solidFill>
                  <a:srgbClr val="F2F7FF"/>
                </a:solidFill>
                <a:latin typeface="Aptos"/>
              </a:rPr>
              <a:t>MILESTONE 4</a:t>
            </a:r>
            <a:r>
              <a:rPr lang="en-GB" sz="1000" b="0" dirty="0">
                <a:solidFill>
                  <a:srgbClr val="F2F7FF"/>
                </a:solidFill>
                <a:latin typeface="Aptos"/>
              </a:rPr>
              <a:t>-</a:t>
            </a:r>
            <a:r>
              <a:rPr sz="1000" b="0" dirty="0">
                <a:solidFill>
                  <a:srgbClr val="F2F7FF"/>
                </a:solidFill>
                <a:latin typeface="Aptos"/>
              </a:rPr>
              <a:t>Delivery &amp; Validation
Dashboard/reporting • Testing • Documentation • Deployment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990880"/>
            <a:ext cx="98755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2F7FF"/>
                </a:solidFill>
                <a:latin typeface="Aptos"/>
              </a:rPr>
              <a:t>Presented by: Gagandeep </a:t>
            </a:r>
            <a:r>
              <a:rPr sz="1400" b="1" dirty="0" err="1">
                <a:solidFill>
                  <a:srgbClr val="F2F7FF"/>
                </a:solidFill>
                <a:latin typeface="Aptos"/>
              </a:rPr>
              <a:t>Chandrakar</a:t>
            </a:r>
            <a:r>
              <a:rPr sz="1400" b="1" dirty="0">
                <a:solidFill>
                  <a:srgbClr val="F2F7FF"/>
                </a:solidFill>
                <a:latin typeface="Aptos"/>
              </a:rP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336792"/>
            <a:ext cx="9875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dirty="0">
                <a:solidFill>
                  <a:srgbClr val="B4C2D7"/>
                </a:solidFill>
                <a:latin typeface="Aptos"/>
              </a:rPr>
              <a:t>Institution / guide details can be added before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FCDE1"/>
                </a:solidFill>
                <a:latin typeface="Aptos"/>
              </a:rP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2F7FF"/>
                </a:solidFill>
                <a:latin typeface="Aptos"/>
              </a:rPr>
              <a:t>Four milestones • from foundation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4C2D7"/>
                </a:solidFill>
                <a:latin typeface="Aptos"/>
              </a:rPr>
              <a:t>Each phase builds on the capabilities established in the previous phase.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530352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3F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200" b="1">
                <a:solidFill>
                  <a:srgbClr val="F2F7FF"/>
                </a:solidFill>
                <a:latin typeface="Aptos"/>
              </a:rPr>
              <a:t>MILESTONE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40"/>
            <a:ext cx="2514600" cy="1005840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3F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>
                <a:solidFill>
                  <a:srgbClr val="F2F7FF"/>
                </a:solidFill>
                <a:latin typeface="Aptos"/>
              </a:rPr>
              <a:t>Foundation &amp; Access
Authentication • Profiles • Habits • Alarm scheduling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44952" y="2093976"/>
            <a:ext cx="310896" cy="0"/>
          </a:xfrm>
          <a:prstGeom prst="line">
            <a:avLst/>
          </a:prstGeom>
          <a:ln w="25400">
            <a:solidFill>
              <a:srgbClr val="3F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10712" y="1828800"/>
            <a:ext cx="2514600" cy="530352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5C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200" b="1">
                <a:solidFill>
                  <a:srgbClr val="F2F7FF"/>
                </a:solidFill>
                <a:latin typeface="Aptos"/>
              </a:rPr>
              <a:t>MILESTONE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606040"/>
            <a:ext cx="2514600" cy="1005840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5C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>
                <a:solidFill>
                  <a:srgbClr val="F2F7FF"/>
                </a:solidFill>
                <a:latin typeface="Aptos"/>
              </a:rPr>
              <a:t>Cognitive Wake-up
Challenge generation • Answer evaluation • Wake-up verification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2744" y="2093976"/>
            <a:ext cx="310896" cy="0"/>
          </a:xfrm>
          <a:prstGeom prst="line">
            <a:avLst/>
          </a:prstGeom>
          <a:ln w="25400">
            <a:solidFill>
              <a:srgbClr val="5C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18504" y="1828800"/>
            <a:ext cx="2514600" cy="530352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A9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200" b="1">
                <a:solidFill>
                  <a:srgbClr val="F2F7FF"/>
                </a:solidFill>
                <a:latin typeface="Aptos"/>
              </a:rPr>
              <a:t>MILESTONE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2606040"/>
            <a:ext cx="2514600" cy="1005840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A9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>
                <a:solidFill>
                  <a:srgbClr val="F2F7FF"/>
                </a:solidFill>
                <a:latin typeface="Aptos"/>
              </a:rPr>
              <a:t>Adaptive Intelligence
Behavior analysis • Difficulty adaptation • Habit scoring • Recommendations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0536" y="2093976"/>
            <a:ext cx="310896" cy="0"/>
          </a:xfrm>
          <a:prstGeom prst="line">
            <a:avLst/>
          </a:prstGeom>
          <a:ln w="25400">
            <a:solidFill>
              <a:srgbClr val="A9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26296" y="1828800"/>
            <a:ext cx="2514600" cy="530352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51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200" b="1">
                <a:solidFill>
                  <a:srgbClr val="F2F7FF"/>
                </a:solidFill>
                <a:latin typeface="Aptos"/>
              </a:rPr>
              <a:t>MILESTONE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2606040"/>
            <a:ext cx="2514600" cy="1005840"/>
          </a:xfrm>
          <a:prstGeom prst="roundRect">
            <a:avLst/>
          </a:prstGeom>
          <a:solidFill>
            <a:srgbClr val="17243C"/>
          </a:solidFill>
          <a:ln w="17780">
            <a:solidFill>
              <a:srgbClr val="51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0">
                <a:solidFill>
                  <a:srgbClr val="F2F7FF"/>
                </a:solidFill>
                <a:latin typeface="Aptos"/>
              </a:rPr>
              <a:t>Delivery &amp; Validation
Dashboard/reporting • Testing • Documentation • Deployment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60520"/>
            <a:ext cx="10972800" cy="749808"/>
          </a:xfrm>
          <a:prstGeom prst="roundRect">
            <a:avLst/>
          </a:prstGeom>
          <a:solidFill>
            <a:srgbClr val="23273A"/>
          </a:solidFill>
          <a:ln w="1778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200" b="0">
                <a:solidFill>
                  <a:srgbClr val="F2F7FF"/>
                </a:solidFill>
                <a:latin typeface="Aptos"/>
              </a:rPr>
              <a:t>STATUS NOTE  •  Milestones describe the project plan and implemented/target capabilities. Deployment and model performance must be presented only where verified by the current code and test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The idea in one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cognitive alarm changes the wake-up moment from passive dismissal into an active, measurable flow.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57400"/>
            <a:ext cx="2514600" cy="98755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130552"/>
            <a:ext cx="2295144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400" b="1">
                <a:solidFill>
                  <a:srgbClr val="36D3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606040"/>
            <a:ext cx="2295144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project milestones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057400"/>
            <a:ext cx="2514600" cy="98755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2130552"/>
            <a:ext cx="2295144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400" b="1">
                <a:solidFill>
                  <a:srgbClr val="9770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606040"/>
            <a:ext cx="2295144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challenge categories in reference deck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2057400"/>
            <a:ext cx="2514600" cy="98755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2130552"/>
            <a:ext cx="2295144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400" b="1">
                <a:solidFill>
                  <a:srgbClr val="4AD399"/>
                </a:solidFill>
                <a:latin typeface="Aptos"/>
              </a:defRPr>
            </a:pPr>
            <a:r>
              <a:t>0–100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606040"/>
            <a:ext cx="2295144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habit score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3104" y="2057400"/>
            <a:ext cx="2514600" cy="98755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42832" y="2130552"/>
            <a:ext cx="2295144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400" b="1">
                <a:solidFill>
                  <a:srgbClr val="FFBE5C"/>
                </a:solidFill>
                <a:latin typeface="Aptos"/>
              </a:defRPr>
            </a:pPr>
            <a:r>
              <a:t>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606040"/>
            <a:ext cx="2295144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delivery &amp; deployment in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8404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38862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ALARM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245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Scheduled trigger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4361688"/>
            <a:ext cx="6858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49039" y="38404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22191" y="38862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79" y="42245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Cognitive task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60720" y="4361688"/>
            <a:ext cx="6858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92240" y="38404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38862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42245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Answer + timing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03920" y="4361688"/>
            <a:ext cx="6858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235440" y="38404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08592" y="38862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2245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Behavior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303520"/>
            <a:ext cx="987552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A9B7CF"/>
                </a:solidFill>
                <a:latin typeface="Aptos"/>
              </a:defRPr>
            </a:pPr>
            <a:r>
              <a:t>Design intent: encourage active wake-up behavior and make patterns visible — not a clinically validated outcome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4793"/>
            <a:ext cx="2743200" cy="18466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rPr dirty="0"/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rPr dirty="0"/>
              <a:t>Why a cognitive alarm?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Three gaps motivate the system; these are design observations, not results from a controlled study.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148840"/>
            <a:ext cx="64008" cy="196596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258568"/>
            <a:ext cx="31363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600" b="1">
                <a:solidFill>
                  <a:srgbClr val="F4F7FF"/>
                </a:solidFill>
                <a:latin typeface="Aptos"/>
              </a:defRPr>
            </a:pPr>
            <a:r>
              <a:t>01  PASSIVE DISMISSAL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79192"/>
            <a:ext cx="3118104" cy="1344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300" b="0">
                <a:solidFill>
                  <a:srgbClr val="A9B7CF"/>
                </a:solidFill>
                <a:latin typeface="Aptos"/>
              </a:defRPr>
            </a:pPr>
            <a:r>
              <a:t>A standard alarm can be silenced with minimal 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488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48840"/>
            <a:ext cx="64008" cy="196596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2258568"/>
            <a:ext cx="31363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600" b="1">
                <a:solidFill>
                  <a:srgbClr val="F4F7FF"/>
                </a:solidFill>
                <a:latin typeface="Aptos"/>
              </a:defRPr>
            </a:pPr>
            <a:r>
              <a:t>02  REPEATED SNOOZING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679192"/>
            <a:ext cx="3118104" cy="1344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300" b="0">
                <a:solidFill>
                  <a:srgbClr val="A9B7CF"/>
                </a:solidFill>
                <a:latin typeface="Aptos"/>
              </a:defRPr>
            </a:pPr>
            <a:r>
              <a:t>The user may delay getting up without seeing a pattern over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1488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148840"/>
            <a:ext cx="64008" cy="196596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2258568"/>
            <a:ext cx="31363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600" b="1">
                <a:solidFill>
                  <a:srgbClr val="F4F7FF"/>
                </a:solidFill>
                <a:latin typeface="Aptos"/>
              </a:defRPr>
            </a:pPr>
            <a:r>
              <a:t>03  LIMITED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679192"/>
            <a:ext cx="3118104" cy="1344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300" b="0">
                <a:solidFill>
                  <a:srgbClr val="A9B7CF"/>
                </a:solidFill>
                <a:latin typeface="Aptos"/>
              </a:defRPr>
            </a:pPr>
            <a:r>
              <a:t>A basic alarm rarely links wake-up behavior to habit insights.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241280" cy="6858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36D3DC"/>
                </a:solidFill>
                <a:latin typeface="Aptos"/>
              </a:defRPr>
            </a:pPr>
            <a:r>
              <a:t>PRODUCT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F4F7FF"/>
                </a:solidFill>
                <a:latin typeface="Aptos"/>
              </a:defRPr>
            </a:pPr>
            <a:r>
              <a:t>Schedule → Solve → Verify → Record → Adapt → Recommend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Product goals &amp; success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The four goals map to a connected user journey rather than isolated features.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304288"/>
            <a:ext cx="594360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36D3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249424"/>
            <a:ext cx="384048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600" b="1">
                <a:solidFill>
                  <a:srgbClr val="F4F7FF"/>
                </a:solidFill>
                <a:latin typeface="Aptos"/>
              </a:defRPr>
            </a:pPr>
            <a:r>
              <a:t>Reliable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70048"/>
            <a:ext cx="3840480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Identity, roles, profiles, habits and alarms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10312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304288"/>
            <a:ext cx="594360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9770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2249424"/>
            <a:ext cx="384048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600" b="1">
                <a:solidFill>
                  <a:srgbClr val="F4F7FF"/>
                </a:solidFill>
                <a:latin typeface="Aptos"/>
              </a:defRPr>
            </a:pPr>
            <a:r>
              <a:t>Active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670048"/>
            <a:ext cx="3840480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Generate and evaluate a cognitive challenge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4903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950207"/>
            <a:ext cx="594360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4AD3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895344"/>
            <a:ext cx="384048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600" b="1">
                <a:solidFill>
                  <a:srgbClr val="F4F7FF"/>
                </a:solidFill>
                <a:latin typeface="Aptos"/>
              </a:defRPr>
            </a:pPr>
            <a:r>
              <a:t>Behavior-aware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315968"/>
            <a:ext cx="3840480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Summarize patterns and adapt difficulty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74903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950207"/>
            <a:ext cx="594360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895344"/>
            <a:ext cx="384048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600" b="1">
                <a:solidFill>
                  <a:srgbClr val="F4F7FF"/>
                </a:solidFill>
                <a:latin typeface="Aptos"/>
              </a:defRPr>
            </a:pPr>
            <a:r>
              <a:t>Clear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4315968"/>
            <a:ext cx="3840480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Dashboards, reports, tests and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Milestone roadmap — from setup to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The sequence follows the project brief: weeks 1–2, 3–4, 5–6 and 7–8.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4440" y="3063240"/>
            <a:ext cx="9692640" cy="0"/>
          </a:xfrm>
          <a:prstGeom prst="line">
            <a:avLst/>
          </a:prstGeom>
          <a:ln w="635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435607" y="2724912"/>
            <a:ext cx="658368" cy="65836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201168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400" b="1">
                <a:solidFill>
                  <a:srgbClr val="36D3DC"/>
                </a:solidFill>
                <a:latin typeface="Aptos"/>
              </a:defRPr>
            </a:pPr>
            <a:r>
              <a:t>M1 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210312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WEEK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237744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Architecture • Auth • Profiles • Alarms</a:t>
            </a:r>
          </a:p>
        </p:txBody>
      </p:sp>
      <p:sp>
        <p:nvSpPr>
          <p:cNvPr id="16" name="Oval 15"/>
          <p:cNvSpPr/>
          <p:nvPr/>
        </p:nvSpPr>
        <p:spPr>
          <a:xfrm>
            <a:off x="4224528" y="2724912"/>
            <a:ext cx="658368" cy="658368"/>
          </a:xfrm>
          <a:prstGeom prst="ellipse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201168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400" b="1">
                <a:solidFill>
                  <a:srgbClr val="9770FF"/>
                </a:solidFill>
                <a:latin typeface="Aptos"/>
              </a:defRPr>
            </a:pPr>
            <a:r>
              <a:t>M2  COGNITIVE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11880"/>
            <a:ext cx="210312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WEEK 3–4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69080"/>
            <a:ext cx="237744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Challenge engine • Verification • Attempts</a:t>
            </a:r>
          </a:p>
        </p:txBody>
      </p:sp>
      <p:sp>
        <p:nvSpPr>
          <p:cNvPr id="20" name="Oval 19"/>
          <p:cNvSpPr/>
          <p:nvPr/>
        </p:nvSpPr>
        <p:spPr>
          <a:xfrm>
            <a:off x="7013447" y="2724912"/>
            <a:ext cx="658368" cy="658368"/>
          </a:xfrm>
          <a:prstGeom prst="ellipse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79" y="1965960"/>
            <a:ext cx="201168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400" b="1">
                <a:solidFill>
                  <a:srgbClr val="4AD399"/>
                </a:solidFill>
                <a:latin typeface="Aptos"/>
              </a:defRPr>
            </a:pPr>
            <a:r>
              <a:t>M3  ADAPTIVE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611880"/>
            <a:ext cx="210312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WEEK 5–6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4069080"/>
            <a:ext cx="237744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Analytics • Habit score • Recommendations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9802367" y="2724912"/>
            <a:ext cx="658368" cy="658368"/>
          </a:xfrm>
          <a:prstGeom prst="ellipse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3999" y="1965960"/>
            <a:ext cx="201168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400" b="1">
                <a:solidFill>
                  <a:srgbClr val="FFBE5C"/>
                </a:solidFill>
                <a:latin typeface="Aptos"/>
              </a:defRPr>
            </a:pPr>
            <a:r>
              <a:t>M4 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3611880"/>
            <a:ext cx="210312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WEEK 7–8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4069080"/>
            <a:ext cx="237744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Reports • QA • Docker • Cloud •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05840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FFBE5C"/>
                </a:solidFill>
                <a:latin typeface="Aptos"/>
              </a:defRPr>
            </a:pPr>
            <a:r>
              <a:t>Status note: M4 remains in progress; build/deployment success is not claimed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2286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900" b="1">
                <a:solidFill>
                  <a:srgbClr val="3FCDE1"/>
                </a:solidFill>
                <a:latin typeface="Aptos"/>
              </a:rPr>
              <a:t>HABITFLOW / ICAP • ARCHITECTURE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500" b="1">
                <a:solidFill>
                  <a:srgbClr val="F1F6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06424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950" b="0">
                <a:solidFill>
                  <a:srgbClr val="B1BFD5"/>
                </a:solidFill>
                <a:latin typeface="Aptos"/>
              </a:rPr>
              <a:t>Logical view of the client, API, core services, intelligence modules and data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11173968" cy="658368"/>
          </a:xfrm>
          <a:prstGeom prst="roundRect">
            <a:avLst/>
          </a:prstGeom>
          <a:solidFill>
            <a:srgbClr val="162239"/>
          </a:solidFill>
          <a:ln w="15875">
            <a:solidFill>
              <a:srgbClr val="3F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1208" y="1463040"/>
            <a:ext cx="50292" cy="438912"/>
          </a:xfrm>
          <a:prstGeom prst="rect">
            <a:avLst/>
          </a:prstGeom>
          <a:solidFill>
            <a:srgbClr val="3F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08176"/>
            <a:ext cx="10963656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200" b="1">
                <a:solidFill>
                  <a:srgbClr val="F1F6FF"/>
                </a:solidFill>
                <a:latin typeface="Aptos"/>
              </a:rPr>
              <a:t>01  CLIENT / PRESENTATION  •  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945368" cy="26517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B1BFD5"/>
                </a:solidFill>
                <a:latin typeface="Aptos"/>
              </a:rPr>
              <a:t>Web dashboard  •  Alarm &amp; challenge UI  •  Habit analytics  •  Coach/Admin views  •  Client token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1173968" cy="658368"/>
          </a:xfrm>
          <a:prstGeom prst="roundRect">
            <a:avLst/>
          </a:prstGeom>
          <a:solidFill>
            <a:srgbClr val="162239"/>
          </a:solidFill>
          <a:ln w="15875">
            <a:solidFill>
              <a:srgbClr val="5C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2377440"/>
            <a:ext cx="50292" cy="438912"/>
          </a:xfrm>
          <a:prstGeom prst="rect">
            <a:avLst/>
          </a:prstGeom>
          <a:solidFill>
            <a:srgbClr val="5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22576"/>
            <a:ext cx="10963656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200" b="1">
                <a:solidFill>
                  <a:srgbClr val="F1F6FF"/>
                </a:solidFill>
                <a:latin typeface="Aptos"/>
              </a:rPr>
              <a:t>02  API GATEWAY &amp; SECURITY  • 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8"/>
            <a:ext cx="10945368" cy="26517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B1BFD5"/>
                </a:solidFill>
                <a:latin typeface="Aptos"/>
              </a:rPr>
              <a:t>REST/JSON endpoints  •  CORS middleware  •  Request timing  •  JWT bearer validation  •  Role-based access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9904" y="2011680"/>
            <a:ext cx="0" cy="228600"/>
          </a:xfrm>
          <a:prstGeom prst="line">
            <a:avLst/>
          </a:prstGeom>
          <a:ln w="22860">
            <a:solidFill>
              <a:srgbClr val="3FC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3026664"/>
            <a:ext cx="1097280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00" b="1">
                <a:solidFill>
                  <a:srgbClr val="FFBE5C"/>
                </a:solidFill>
                <a:latin typeface="Aptos"/>
              </a:rPr>
              <a:t>03  CORE APPLICATION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73552"/>
            <a:ext cx="2084831" cy="768096"/>
          </a:xfrm>
          <a:prstGeom prst="roundRect">
            <a:avLst/>
          </a:prstGeom>
          <a:solidFill>
            <a:srgbClr val="1C2B45"/>
          </a:solidFill>
          <a:ln w="15875">
            <a:solidFill>
              <a:srgbClr val="3F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50292" cy="548640"/>
          </a:xfrm>
          <a:prstGeom prst="rect">
            <a:avLst/>
          </a:prstGeom>
          <a:solidFill>
            <a:srgbClr val="3F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328416"/>
            <a:ext cx="1874519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50" b="1">
                <a:solidFill>
                  <a:srgbClr val="F1F6FF"/>
                </a:solidFill>
                <a:latin typeface="Aptos"/>
              </a:rPr>
              <a:t>User &amp;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630168"/>
            <a:ext cx="1856231" cy="3749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Accounts, profile
preferences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572767" y="2926080"/>
            <a:ext cx="4517137" cy="320040"/>
          </a:xfrm>
          <a:prstGeom prst="line">
            <a:avLst/>
          </a:prstGeom>
          <a:ln w="11430">
            <a:solidFill>
              <a:srgbClr val="5B7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70632" y="3273552"/>
            <a:ext cx="2084831" cy="768096"/>
          </a:xfrm>
          <a:prstGeom prst="roundRect">
            <a:avLst/>
          </a:prstGeom>
          <a:solidFill>
            <a:srgbClr val="1C2B45"/>
          </a:solidFill>
          <a:ln w="15875">
            <a:solidFill>
              <a:srgbClr val="5C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88920" y="3383280"/>
            <a:ext cx="50292" cy="548640"/>
          </a:xfrm>
          <a:prstGeom prst="rect">
            <a:avLst/>
          </a:prstGeom>
          <a:solidFill>
            <a:srgbClr val="5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07791" y="3328416"/>
            <a:ext cx="1874519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50" b="1">
                <a:solidFill>
                  <a:srgbClr val="F1F6FF"/>
                </a:solidFill>
                <a:latin typeface="Aptos"/>
              </a:rPr>
              <a:t>Alarm 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1" y="3630168"/>
            <a:ext cx="1856231" cy="3749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Schedules, wake-up
sessions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813048" y="2926080"/>
            <a:ext cx="2276856" cy="320040"/>
          </a:xfrm>
          <a:prstGeom prst="line">
            <a:avLst/>
          </a:prstGeom>
          <a:ln w="11430">
            <a:solidFill>
              <a:srgbClr val="5B7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10912" y="3273552"/>
            <a:ext cx="2084831" cy="768096"/>
          </a:xfrm>
          <a:prstGeom prst="roundRect">
            <a:avLst/>
          </a:prstGeom>
          <a:solidFill>
            <a:srgbClr val="1C2B45"/>
          </a:solidFill>
          <a:ln w="15875">
            <a:solidFill>
              <a:srgbClr val="A9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0" y="3383280"/>
            <a:ext cx="50292" cy="548640"/>
          </a:xfrm>
          <a:prstGeom prst="rect">
            <a:avLst/>
          </a:prstGeom>
          <a:solidFill>
            <a:srgbClr val="A9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8072" y="3328416"/>
            <a:ext cx="1874519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50" b="1">
                <a:solidFill>
                  <a:srgbClr val="F1F6FF"/>
                </a:solidFill>
                <a:latin typeface="Aptos"/>
              </a:rPr>
              <a:t>Challenge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3630168"/>
            <a:ext cx="1856231" cy="3749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Questions, attempts,
verification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053328" y="2926080"/>
            <a:ext cx="36576" cy="320040"/>
          </a:xfrm>
          <a:prstGeom prst="line">
            <a:avLst/>
          </a:prstGeom>
          <a:ln w="11430">
            <a:solidFill>
              <a:srgbClr val="5B7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51192" y="3273552"/>
            <a:ext cx="2084831" cy="768096"/>
          </a:xfrm>
          <a:prstGeom prst="roundRect">
            <a:avLst/>
          </a:prstGeom>
          <a:solidFill>
            <a:srgbClr val="1C2B45"/>
          </a:solidFill>
          <a:ln w="15875">
            <a:solidFill>
              <a:srgbClr val="51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69479" y="3383280"/>
            <a:ext cx="50292" cy="548640"/>
          </a:xfrm>
          <a:prstGeom prst="rect">
            <a:avLst/>
          </a:prstGeom>
          <a:solidFill>
            <a:srgbClr val="51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88352" y="3328416"/>
            <a:ext cx="1874519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50" b="1">
                <a:solidFill>
                  <a:srgbClr val="F1F6FF"/>
                </a:solidFill>
                <a:latin typeface="Aptos"/>
              </a:rPr>
              <a:t>Habits &amp; Coach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3630168"/>
            <a:ext cx="1856231" cy="3749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Habits, streaks,
coach communication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9904" y="2926080"/>
            <a:ext cx="2203704" cy="320040"/>
          </a:xfrm>
          <a:prstGeom prst="line">
            <a:avLst/>
          </a:prstGeom>
          <a:ln w="11430">
            <a:solidFill>
              <a:srgbClr val="5B7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91472" y="3273552"/>
            <a:ext cx="2084831" cy="768096"/>
          </a:xfrm>
          <a:prstGeom prst="roundRect">
            <a:avLst/>
          </a:prstGeom>
          <a:solidFill>
            <a:srgbClr val="1C2B45"/>
          </a:solidFill>
          <a:ln w="15875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09760" y="3383280"/>
            <a:ext cx="50292" cy="54864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28632" y="3328416"/>
            <a:ext cx="1874519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50" b="1">
                <a:solidFill>
                  <a:srgbClr val="F1F6FF"/>
                </a:solidFill>
                <a:latin typeface="Aptos"/>
              </a:rPr>
              <a:t>Reports &amp; Notices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8632" y="3630168"/>
            <a:ext cx="1856231" cy="3749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Notifications, broadcasts,
exports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89904" y="2926080"/>
            <a:ext cx="4443984" cy="320040"/>
          </a:xfrm>
          <a:prstGeom prst="line">
            <a:avLst/>
          </a:prstGeom>
          <a:ln w="11430">
            <a:solidFill>
              <a:srgbClr val="5B7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4370832"/>
            <a:ext cx="6839712" cy="868680"/>
          </a:xfrm>
          <a:prstGeom prst="roundRect">
            <a:avLst/>
          </a:prstGeom>
          <a:solidFill>
            <a:srgbClr val="162239"/>
          </a:solidFill>
          <a:ln w="15875">
            <a:solidFill>
              <a:srgbClr val="A9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4480560"/>
            <a:ext cx="50292" cy="649224"/>
          </a:xfrm>
          <a:prstGeom prst="rect">
            <a:avLst/>
          </a:prstGeom>
          <a:solidFill>
            <a:srgbClr val="A9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4425696"/>
            <a:ext cx="662940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>
                <a:solidFill>
                  <a:srgbClr val="F1F6FF"/>
                </a:solidFill>
                <a:latin typeface="Aptos"/>
              </a:rPr>
              <a:t>04  INTELLIGENCE / ADAPTIVE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4727448"/>
            <a:ext cx="6611112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B1BFD5"/>
                </a:solidFill>
                <a:latin typeface="Aptos"/>
              </a:rPr>
              <a:t>Habit score (35/25/20/20)  •  Behavior trends  •  RF/XGBoost performance classification  •  Q-learning difficulty selection  •  Recommendation / sequence models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44383" y="4370832"/>
            <a:ext cx="3931920" cy="868680"/>
          </a:xfrm>
          <a:prstGeom prst="roundRect">
            <a:avLst/>
          </a:prstGeom>
          <a:solidFill>
            <a:srgbClr val="162239"/>
          </a:solidFill>
          <a:ln w="15875">
            <a:solidFill>
              <a:srgbClr val="51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662671" y="4480560"/>
            <a:ext cx="50292" cy="649224"/>
          </a:xfrm>
          <a:prstGeom prst="rect">
            <a:avLst/>
          </a:prstGeom>
          <a:solidFill>
            <a:srgbClr val="51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81544" y="4446670"/>
            <a:ext cx="3721607" cy="232371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 dirty="0">
                <a:solidFill>
                  <a:srgbClr val="F1F6FF"/>
                </a:solidFill>
                <a:latin typeface="Aptos"/>
              </a:rPr>
              <a:t>05  DATA ACC</a:t>
            </a:r>
            <a:r>
              <a:rPr lang="en-GB" sz="1150" b="1" dirty="0">
                <a:solidFill>
                  <a:srgbClr val="F1F6FF"/>
                </a:solidFill>
                <a:latin typeface="Aptos"/>
              </a:rPr>
              <a:t>ESS</a:t>
            </a:r>
            <a:endParaRPr sz="1150" b="1" dirty="0">
              <a:solidFill>
                <a:srgbClr val="F1F6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81544" y="4727448"/>
            <a:ext cx="370332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B1BFD5"/>
                </a:solidFill>
                <a:latin typeface="Aptos"/>
              </a:rPr>
              <a:t>SQLAlchemy session layer
Dialect configuration &amp; schema checks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383280" y="4050791"/>
            <a:ext cx="502920" cy="292609"/>
          </a:xfrm>
          <a:prstGeom prst="line">
            <a:avLst/>
          </a:prstGeom>
          <a:ln w="15240">
            <a:solidFill>
              <a:srgbClr val="A9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75320" y="4050791"/>
            <a:ext cx="1097280" cy="292609"/>
          </a:xfrm>
          <a:prstGeom prst="line">
            <a:avLst/>
          </a:prstGeom>
          <a:ln w="15240">
            <a:solidFill>
              <a:srgbClr val="51D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30352" y="5468112"/>
            <a:ext cx="5303520" cy="566928"/>
          </a:xfrm>
          <a:prstGeom prst="roundRect">
            <a:avLst/>
          </a:prstGeom>
          <a:solidFill>
            <a:srgbClr val="1C2B45"/>
          </a:solidFill>
          <a:ln w="15875">
            <a:solidFill>
              <a:srgbClr val="3F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48640" y="5577840"/>
            <a:ext cx="50292" cy="347472"/>
          </a:xfrm>
          <a:prstGeom prst="rect">
            <a:avLst/>
          </a:prstGeom>
          <a:solidFill>
            <a:srgbClr val="3F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" y="5522976"/>
            <a:ext cx="5093207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en-IN" sz="1000" b="1" dirty="0">
                <a:solidFill>
                  <a:srgbClr val="F1F6FF"/>
                </a:solidFill>
                <a:latin typeface="Aptos"/>
              </a:rPr>
              <a:t>SQLite • </a:t>
            </a:r>
            <a:r>
              <a:rPr sz="1000" b="1" dirty="0">
                <a:solidFill>
                  <a:srgbClr val="F1F6FF"/>
                </a:solidFill>
                <a:latin typeface="Aptos"/>
              </a:rPr>
              <a:t>Local / development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" y="5824728"/>
            <a:ext cx="5074920" cy="1737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cognitive_alarm.db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80760" y="5468112"/>
            <a:ext cx="5495544" cy="566928"/>
          </a:xfrm>
          <a:prstGeom prst="roundRect">
            <a:avLst/>
          </a:prstGeom>
          <a:solidFill>
            <a:srgbClr val="1C2B45"/>
          </a:solidFill>
          <a:ln w="15875">
            <a:solidFill>
              <a:srgbClr val="5C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099048" y="5577840"/>
            <a:ext cx="50292" cy="347472"/>
          </a:xfrm>
          <a:prstGeom prst="rect">
            <a:avLst/>
          </a:prstGeom>
          <a:solidFill>
            <a:srgbClr val="5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0" y="5522976"/>
            <a:ext cx="5285231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00" b="1">
                <a:solidFill>
                  <a:srgbClr val="F1F6FF"/>
                </a:solidFill>
                <a:latin typeface="Aptos"/>
              </a:rPr>
              <a:t>PostgreSQL • Production-capable target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824728"/>
            <a:ext cx="5266944" cy="1737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Only active when DATABASE_URL points to PostgreSQL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8869680" y="5257800"/>
            <a:ext cx="731520" cy="182880"/>
          </a:xfrm>
          <a:prstGeom prst="line">
            <a:avLst/>
          </a:prstGeom>
          <a:ln w="13970">
            <a:solidFill>
              <a:srgbClr val="51D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48640" y="6199632"/>
            <a:ext cx="1097280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800" b="0">
                <a:solidFill>
                  <a:srgbClr val="B1BFD5"/>
                </a:solidFill>
                <a:latin typeface="Aptos"/>
              </a:rPr>
              <a:t>Request path: browser → FastAPI validation/auth → domain services → intelligence and/or persistence → JSON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Database ER diagram — core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Conceptual ERD based on project materials. Verify exact names, columns and foreign keys against active SQLAlchemy models before submission.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57400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130552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96312"/>
            <a:ext cx="1911095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PK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05740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2130552"/>
            <a:ext cx="200253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user_profiles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496312"/>
            <a:ext cx="2002536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FK user_id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867912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alarms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233672"/>
            <a:ext cx="1911095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FK user_id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794760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76472" y="3867912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4233672"/>
            <a:ext cx="1911095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FK user_id / alarm_id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79476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867912"/>
            <a:ext cx="200253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alarm_challenges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33672"/>
            <a:ext cx="2002536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FK alarm_id / challenge_id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79476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17152" y="3867912"/>
            <a:ext cx="200253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challenge_attempts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4233672"/>
            <a:ext cx="2002536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FK challenge_id / user_id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57400"/>
            <a:ext cx="2148840" cy="8229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130552"/>
            <a:ext cx="200253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habits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496312"/>
            <a:ext cx="2002536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FK user_id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16352" y="2468880"/>
            <a:ext cx="384048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98064" y="2148840"/>
            <a:ext cx="45720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800" b="1">
                <a:solidFill>
                  <a:srgbClr val="36D3DC"/>
                </a:solidFill>
                <a:latin typeface="Aptos"/>
              </a:defRPr>
            </a:pPr>
            <a:r>
              <a:t>1:1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37360" y="2907792"/>
            <a:ext cx="0" cy="82296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47088" y="3182112"/>
            <a:ext cx="914400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1">
                <a:solidFill>
                  <a:srgbClr val="36D3DC"/>
                </a:solidFill>
                <a:latin typeface="Aptos"/>
              </a:defRPr>
            </a:pPr>
            <a:r>
              <a:t>1:N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51760" y="4187952"/>
            <a:ext cx="960120" cy="0"/>
          </a:xfrm>
          <a:prstGeom prst="line">
            <a:avLst/>
          </a:prstGeom>
          <a:ln w="25400">
            <a:solidFill>
              <a:srgbClr val="97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60720" y="4187952"/>
            <a:ext cx="594360" cy="0"/>
          </a:xfrm>
          <a:prstGeom prst="line">
            <a:avLst/>
          </a:prstGeom>
          <a:ln w="25400">
            <a:solidFill>
              <a:srgbClr val="97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95360" y="4187952"/>
            <a:ext cx="502920" cy="0"/>
          </a:xfrm>
          <a:prstGeom prst="line">
            <a:avLst/>
          </a:prstGeom>
          <a:ln w="254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77440" y="2907792"/>
            <a:ext cx="4846320" cy="0"/>
          </a:xfrm>
          <a:prstGeom prst="line">
            <a:avLst/>
          </a:prstGeom>
          <a:ln w="127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23760" y="2907792"/>
            <a:ext cx="0" cy="822960"/>
          </a:xfrm>
          <a:prstGeom prst="line">
            <a:avLst/>
          </a:prstGeom>
          <a:ln w="127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FFBE5C"/>
                </a:solidFill>
                <a:latin typeface="Aptos"/>
              </a:defRPr>
            </a:pPr>
            <a:r>
              <a:t>Relationships are illustrative at presentation level; no database was modified to create this diagram.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Data lifecycle — event to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Operational events become structured records that can later support analytics.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1" y="2606039"/>
            <a:ext cx="168249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44368"/>
            <a:ext cx="1645920" cy="6126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Alarm rings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87168" y="3063240"/>
            <a:ext cx="438912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256032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44952" y="2606039"/>
            <a:ext cx="168249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44368"/>
            <a:ext cx="1645920" cy="6126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Challenge + answer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63240"/>
            <a:ext cx="438912" cy="0"/>
          </a:xfrm>
          <a:prstGeom prst="line">
            <a:avLst/>
          </a:prstGeom>
          <a:ln w="25400">
            <a:solidFill>
              <a:srgbClr val="97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03520" y="256032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76672" y="2606039"/>
            <a:ext cx="168249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944368"/>
            <a:ext cx="1645920" cy="6126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Correctness + 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0608" y="3063240"/>
            <a:ext cx="438912" cy="0"/>
          </a:xfrm>
          <a:prstGeom prst="line">
            <a:avLst/>
          </a:prstGeom>
          <a:ln w="254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35240" y="256032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08392" y="2606039"/>
            <a:ext cx="168249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944368"/>
            <a:ext cx="1645920" cy="6126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Attempt / alarm state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82328" y="3063240"/>
            <a:ext cx="438912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66959" y="2560320"/>
            <a:ext cx="1828800" cy="1024128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1" y="2606039"/>
            <a:ext cx="168249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9" y="2944368"/>
            <a:ext cx="1645920" cy="6126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Trend / habit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343400"/>
            <a:ext cx="457200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5840" y="4343400"/>
            <a:ext cx="64008" cy="105156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4453128"/>
            <a:ext cx="42793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873752"/>
            <a:ext cx="426110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single attempt is an event; repeated events form a behavioral pattern.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343400"/>
            <a:ext cx="457200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4343400"/>
            <a:ext cx="64008" cy="105156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453128"/>
            <a:ext cx="42793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DATA QUALITY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873752"/>
            <a:ext cx="426110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Metrics should be computed from real records, not sample numbers presented as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UX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User experience — the wake-up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storyboard view of the primary experience from sign-in to a verified dismissal.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028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8952" y="2450592"/>
            <a:ext cx="1636776" cy="86868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596896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36D3DC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F4F7FF"/>
                </a:solidFill>
                <a:latin typeface="Aptos"/>
              </a:defRPr>
            </a:pPr>
            <a:r>
              <a:t>Identity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78608" y="3218688"/>
            <a:ext cx="283464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26079" y="224028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090672" y="2450592"/>
            <a:ext cx="1636776" cy="86868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08960" y="2596896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9770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4747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F4F7FF"/>
                </a:solidFill>
                <a:latin typeface="Aptos"/>
              </a:defRPr>
            </a:pPr>
            <a:r>
              <a:t>Overview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10327" y="3218688"/>
            <a:ext cx="283465" cy="0"/>
          </a:xfrm>
          <a:prstGeom prst="line">
            <a:avLst/>
          </a:prstGeom>
          <a:ln w="25400">
            <a:solidFill>
              <a:srgbClr val="97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57800" y="224028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22392" y="2450592"/>
            <a:ext cx="1636776" cy="86868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0680" y="2596896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FFBE5C"/>
                </a:solidFill>
                <a:latin typeface="Aptos"/>
              </a:defRPr>
            </a:pPr>
            <a:r>
              <a:t>ALARM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4747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F4F7FF"/>
                </a:solidFill>
                <a:latin typeface="Aptos"/>
              </a:defRPr>
            </a:pPr>
            <a:r>
              <a:t>Scheduled 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42048" y="3218688"/>
            <a:ext cx="283464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89519" y="224028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54111" y="2450592"/>
            <a:ext cx="1636776" cy="86868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399" y="2596896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FF6F91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399" y="34747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F4F7FF"/>
                </a:solidFill>
                <a:latin typeface="Aptos"/>
              </a:defRPr>
            </a:pPr>
            <a:r>
              <a:t>Solve task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73767" y="3218688"/>
            <a:ext cx="283465" cy="0"/>
          </a:xfrm>
          <a:prstGeom prst="line">
            <a:avLst/>
          </a:prstGeom>
          <a:ln w="25400">
            <a:solidFill>
              <a:srgbClr val="FF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21240" y="224028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085832" y="2450592"/>
            <a:ext cx="1636776" cy="86868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04119" y="2596896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4AD399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34747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F4F7FF"/>
                </a:solidFill>
                <a:latin typeface="Aptos"/>
              </a:defRPr>
            </a:pPr>
            <a:r>
              <a:t>Dismissal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A9B7CF"/>
                </a:solidFill>
                <a:latin typeface="Aptos"/>
              </a:defRPr>
            </a:pPr>
            <a:r>
              <a:t>Presentation concept — use genuine app screenshots for the final viva version where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M1 •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MILESTONE 1  / 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Weeks 1–2  |  Establish the application structure and core user flows.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68879"/>
            <a:ext cx="20939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600" b="1">
                <a:solidFill>
                  <a:srgbClr val="F4F7FF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07208"/>
            <a:ext cx="205740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Login • JWT • 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90088" y="3035808"/>
            <a:ext cx="438912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0439" y="242316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1" y="2468879"/>
            <a:ext cx="20939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600" b="1">
                <a:solidFill>
                  <a:srgbClr val="F4F7F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807208"/>
            <a:ext cx="205740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Sleep / wake preferences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79008" y="3035808"/>
            <a:ext cx="438912" cy="0"/>
          </a:xfrm>
          <a:prstGeom prst="line">
            <a:avLst/>
          </a:prstGeom>
          <a:ln w="25400">
            <a:solidFill>
              <a:srgbClr val="97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59" y="242316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2468879"/>
            <a:ext cx="20939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600" b="1">
                <a:solidFill>
                  <a:srgbClr val="F4F7FF"/>
                </a:solidFill>
                <a:latin typeface="Aptos"/>
              </a:defRPr>
            </a:pPr>
            <a:r>
              <a:t>HABITS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2807208"/>
            <a:ext cx="205740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Create • track • manage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67928" y="3035808"/>
            <a:ext cx="438912" cy="0"/>
          </a:xfrm>
          <a:prstGeom prst="line">
            <a:avLst/>
          </a:prstGeom>
          <a:ln w="254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98280" y="242316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71432" y="2468879"/>
            <a:ext cx="20939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600" b="1">
                <a:solidFill>
                  <a:srgbClr val="F4F7FF"/>
                </a:solidFill>
                <a:latin typeface="Aptos"/>
              </a:defRPr>
            </a:pPr>
            <a:r>
              <a:t>ALARMS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807208"/>
            <a:ext cx="2057400" cy="8229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Time • recurrence • snooze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8912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389120"/>
            <a:ext cx="64008" cy="91440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498848"/>
            <a:ext cx="446227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M1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919472"/>
            <a:ext cx="4443984" cy="29260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Working base for identity, personal settings and scheduled alarms.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38912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4389120"/>
            <a:ext cx="64008" cy="91440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4498848"/>
            <a:ext cx="446227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M1 DEPENDENCY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919472"/>
            <a:ext cx="4443984" cy="29260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Later challenge and analytics features build on these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M1 •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Authentication &amp; 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Conceptual request flow; use repository routes and security settings as the implementation source of truth.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68879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07208"/>
            <a:ext cx="178308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Email + password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89864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24231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2468879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807208"/>
            <a:ext cx="178308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Validate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57800" y="289864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60720" y="24231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33872" y="2468879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807208"/>
            <a:ext cx="178308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Hash / JWT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289864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75320" y="24231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2468879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ROLE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807208"/>
            <a:ext cx="178308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User / Coach /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160520"/>
            <a:ext cx="306324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160520"/>
            <a:ext cx="64008" cy="105156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270248"/>
            <a:ext cx="277063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690872"/>
            <a:ext cx="275234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Passwords should never be stored as plain text.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160520"/>
            <a:ext cx="306324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0" y="4160520"/>
            <a:ext cx="64008" cy="105156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4270248"/>
            <a:ext cx="277063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4690872"/>
            <a:ext cx="275234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Role-aware screens must still be enforced by API permissions.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160520"/>
            <a:ext cx="306324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4160520"/>
            <a:ext cx="64008" cy="105156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94192" y="4270248"/>
            <a:ext cx="277063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690872"/>
            <a:ext cx="275234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Frontend sends a bearer token for protected requests.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M1 •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Alarm scheduling — configuration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Visual map of the main decisions a user configures when creating an alarm.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2860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24328"/>
            <a:ext cx="187451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Time +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22860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624328"/>
            <a:ext cx="187451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Alarm title /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1032" y="22860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624328"/>
            <a:ext cx="187451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Type + difficulty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31352" y="22860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624328"/>
            <a:ext cx="187451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Snooze limit / tone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52928" y="2724912"/>
            <a:ext cx="438912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13248" y="2724912"/>
            <a:ext cx="438912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73568" y="2724912"/>
            <a:ext cx="438912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83080" y="3273552"/>
            <a:ext cx="0" cy="566928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64040" y="3273552"/>
            <a:ext cx="0" cy="566928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011680" y="3886200"/>
            <a:ext cx="726948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4560" y="4005072"/>
            <a:ext cx="6903720" cy="6583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600" b="1">
                <a:solidFill>
                  <a:srgbClr val="F4F7FF"/>
                </a:solidFill>
                <a:latin typeface="Aptos"/>
              </a:defRPr>
            </a:pPr>
            <a:r>
              <a:t>Saved alarm configuration → scheduled trigger → challenge workflow (M2)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49240"/>
            <a:ext cx="1014984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Actual persisted field names and allowed values should be checked in the Alarm SQLAlchemy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M1 •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Milestone 1 — foundation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capability view rather than an unsupported performance chart.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57400"/>
            <a:ext cx="10241280" cy="62179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057400"/>
            <a:ext cx="109728" cy="621792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121408"/>
            <a:ext cx="228600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21408"/>
            <a:ext cx="704088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0">
                <a:solidFill>
                  <a:srgbClr val="A9B7CF"/>
                </a:solidFill>
                <a:latin typeface="Aptos"/>
              </a:defRPr>
            </a:pPr>
            <a:r>
              <a:t>Account lifecycle and protected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98648"/>
            <a:ext cx="10241280" cy="62179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2898648"/>
            <a:ext cx="109728" cy="621792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2962656"/>
            <a:ext cx="228600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62656"/>
            <a:ext cx="704088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0">
                <a:solidFill>
                  <a:srgbClr val="A9B7CF"/>
                </a:solidFill>
                <a:latin typeface="Aptos"/>
              </a:defRPr>
            </a:pPr>
            <a:r>
              <a:t>Sleep / wake preference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39896"/>
            <a:ext cx="10241280" cy="62179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739896"/>
            <a:ext cx="109728" cy="621792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803904"/>
            <a:ext cx="228600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Habits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03904"/>
            <a:ext cx="704088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0">
                <a:solidFill>
                  <a:srgbClr val="A9B7CF"/>
                </a:solidFill>
                <a:latin typeface="Aptos"/>
              </a:defRPr>
            </a:pPr>
            <a:r>
              <a:t>Habit creation and completion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81144"/>
            <a:ext cx="10241280" cy="62179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4581144"/>
            <a:ext cx="109728" cy="621792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645152"/>
            <a:ext cx="228600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Alarm 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45152"/>
            <a:ext cx="704088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0">
                <a:solidFill>
                  <a:srgbClr val="A9B7CF"/>
                </a:solidFill>
                <a:latin typeface="Aptos"/>
              </a:defRPr>
            </a:pPr>
            <a:r>
              <a:t>Recurring schedule and per-alarm 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987552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FFBE5C"/>
                </a:solidFill>
                <a:latin typeface="Aptos"/>
              </a:defRPr>
            </a:pPr>
            <a:r>
              <a:t>Evidence to attach: real UI screens, API responses and test logs.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M2 • COGNITIVE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MILESTONE 2  /  Cognitive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Weeks 3–4  |  Add the task engine and a controlled answer-verification loop.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5146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529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Alarm activates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971800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08960" y="24688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82112" y="25146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529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Select challenge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0" y="2971800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32120" y="24688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5272" y="25146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59" y="28529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Check response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2971800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55279" y="246888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2514600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DISMISS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2852928"/>
            <a:ext cx="1783080" cy="6400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If verified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92240" y="3566160"/>
            <a:ext cx="0" cy="502920"/>
          </a:xfrm>
          <a:prstGeom prst="line">
            <a:avLst/>
          </a:prstGeom>
          <a:ln w="25400">
            <a:solidFill>
              <a:srgbClr val="FF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160520" y="4069080"/>
            <a:ext cx="233172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97680" y="4160520"/>
            <a:ext cx="1828800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F6F91"/>
                </a:solidFill>
                <a:latin typeface="Aptos"/>
              </a:defRPr>
            </a:pPr>
            <a:r>
              <a:t>Incorrect → retry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800600"/>
            <a:ext cx="4663440" cy="822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" y="4800600"/>
            <a:ext cx="64008" cy="82296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0432" y="4910328"/>
            <a:ext cx="4370831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330952"/>
            <a:ext cx="4352544" cy="201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Attempt, correctness and solve time.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800600"/>
            <a:ext cx="4663440" cy="822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4800600"/>
            <a:ext cx="64008" cy="82296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4910328"/>
            <a:ext cx="4370831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330952"/>
            <a:ext cx="4352544" cy="201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Retry and snooze policies are explicit guardrails.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M2 • COGNITIVE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Challenge bank — seven cognitive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The reference deck groups challenge content into seven categories; examples below are descriptive.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57400"/>
            <a:ext cx="2514600" cy="117043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203704"/>
            <a:ext cx="50292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700" b="1">
                <a:solidFill>
                  <a:srgbClr val="36D3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219456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624328"/>
            <a:ext cx="16002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Arithmetic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057400"/>
            <a:ext cx="2514600" cy="117043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2203704"/>
            <a:ext cx="50292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700" b="1">
                <a:solidFill>
                  <a:srgbClr val="9770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219456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2624328"/>
            <a:ext cx="16002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Deduction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057400"/>
            <a:ext cx="2514600" cy="117043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203704"/>
            <a:ext cx="50292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700" b="1">
                <a:solidFill>
                  <a:srgbClr val="4AD3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19456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624328"/>
            <a:ext cx="16002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Sequence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057400"/>
            <a:ext cx="2514600" cy="117043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203704"/>
            <a:ext cx="50292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700" b="1">
                <a:solidFill>
                  <a:srgbClr val="FFBE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219456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Word games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2624328"/>
            <a:ext cx="16002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Anagram / spelling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566160"/>
            <a:ext cx="2514600" cy="117043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712463"/>
            <a:ext cx="50292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700" b="1">
                <a:solidFill>
                  <a:srgbClr val="FF6F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37033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133087"/>
            <a:ext cx="16002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Number / shape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40" y="3566160"/>
            <a:ext cx="2514600" cy="117043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0" y="3712463"/>
            <a:ext cx="50292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700" b="1">
                <a:solidFill>
                  <a:srgbClr val="36D3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3672" y="37033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Riddles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4133087"/>
            <a:ext cx="16002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Lateral thinking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66160"/>
            <a:ext cx="2514600" cy="1170432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3712463"/>
            <a:ext cx="50292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700" b="1">
                <a:solidFill>
                  <a:srgbClr val="9770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3703320"/>
            <a:ext cx="16002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400" b="1">
                <a:solidFill>
                  <a:srgbClr val="F4F7FF"/>
                </a:solidFill>
                <a:latin typeface="Aptos"/>
              </a:defRPr>
            </a:pPr>
            <a:r>
              <a:t>Quiz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4133087"/>
            <a:ext cx="16002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Knowledge recall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M2 • COGNITIVE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Difficulty — a controlled progression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Challenge difficulty can be represented as a ladder; the exact labels should match the current UI and backend.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54679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264408"/>
            <a:ext cx="1728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36D3DC"/>
                </a:solidFill>
                <a:latin typeface="Aptos"/>
              </a:defRPr>
            </a:pPr>
            <a:r>
              <a:t>BEGINNER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30168"/>
            <a:ext cx="1655064" cy="548639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One-step • generous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834639"/>
            <a:ext cx="1874519" cy="137160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2" y="2944368"/>
            <a:ext cx="1728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9770FF"/>
                </a:solidFill>
                <a:latin typeface="Aptos"/>
              </a:defRPr>
            </a:pPr>
            <a:r>
              <a:t>EASY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10127"/>
            <a:ext cx="1655064" cy="8686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Light reasoning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514600"/>
            <a:ext cx="1874519" cy="1691639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30952" y="2624328"/>
            <a:ext cx="1728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4AD399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990088"/>
            <a:ext cx="1655064" cy="1188719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Balanced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2194560"/>
            <a:ext cx="1874519" cy="2011679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2" y="2304288"/>
            <a:ext cx="1728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FFBE5C"/>
                </a:solidFill>
                <a:latin typeface="Aptos"/>
              </a:defRPr>
            </a:pPr>
            <a:r>
              <a:t>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670048"/>
            <a:ext cx="1655064" cy="1508759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Multi-step reasoning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1874519"/>
            <a:ext cx="1874519" cy="23317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11512" y="1984248"/>
            <a:ext cx="1728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1">
                <a:solidFill>
                  <a:srgbClr val="FF6F91"/>
                </a:solidFill>
                <a:latin typeface="Aptos"/>
              </a:defRPr>
            </a:pPr>
            <a:r>
              <a:t>EXPERT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2350008"/>
            <a:ext cx="1655064" cy="1828799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Highest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14984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0">
                <a:solidFill>
                  <a:srgbClr val="FFBE5C"/>
                </a:solidFill>
                <a:latin typeface="Aptos"/>
              </a:defRPr>
            </a:pPr>
            <a:r>
              <a:t>Adaptive changes belong to M3; a difficulty label alone is not evidence that adaptation is active.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M2 • COGNITIVE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Wake-up verification — 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correct response can complete the flow; an incorrect or expired attempt follows a controlled retry path.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468879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ALARM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07208"/>
            <a:ext cx="178308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Challenge shown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89864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91840" y="24231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64992" y="2468879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807208"/>
            <a:ext cx="178308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User submits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289864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806440" y="24231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2468879"/>
            <a:ext cx="181965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79" y="2807208"/>
            <a:ext cx="178308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Correct?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818120" y="2377440"/>
            <a:ext cx="411480" cy="365760"/>
          </a:xfrm>
          <a:prstGeom prst="line">
            <a:avLst/>
          </a:prstGeom>
          <a:ln w="254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75320" y="1965960"/>
            <a:ext cx="2331720" cy="7772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2011679"/>
            <a:ext cx="21854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50008"/>
            <a:ext cx="2148839" cy="365759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Verify / dismiss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18120" y="3090672"/>
            <a:ext cx="411480" cy="612648"/>
          </a:xfrm>
          <a:prstGeom prst="line">
            <a:avLst/>
          </a:prstGeom>
          <a:ln w="25400">
            <a:solidFill>
              <a:srgbClr val="FF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75320" y="3429000"/>
            <a:ext cx="2331720" cy="7772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3474720"/>
            <a:ext cx="21854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NO / TIMEOUT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813048"/>
            <a:ext cx="2148839" cy="365759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Retry / limit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72000"/>
            <a:ext cx="2148840" cy="4572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0">
                <a:solidFill>
                  <a:srgbClr val="A9B7CF"/>
                </a:solidFill>
                <a:latin typeface="Aptos"/>
              </a:defRPr>
            </a:pPr>
            <a:r>
              <a:t>Every attempt should be logged.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M2 • COGNITIVE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Challenge engine — service and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Conceptual backend sequence; exact endpoint names should be verified against routers/challenges.py.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377439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1576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Generate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816352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0" y="23317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73552" y="2377439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CHALLENGE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1576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Select / create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57800" y="2816352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0" y="23317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2432" y="2377439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VALIDATOR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71576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Answer + 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26679" y="2816352"/>
            <a:ext cx="365761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8160" y="23317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2" y="2377439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Attempt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160520"/>
            <a:ext cx="301752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160520"/>
            <a:ext cx="64008" cy="105156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270248"/>
            <a:ext cx="27249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690872"/>
            <a:ext cx="270662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Question, type, difficulty and lifecycle.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160520"/>
            <a:ext cx="301752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0" y="4160520"/>
            <a:ext cx="64008" cy="105156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4270248"/>
            <a:ext cx="27249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4690872"/>
            <a:ext cx="270662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Alarm-to-challenge relationship, where used.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160520"/>
            <a:ext cx="301752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4160520"/>
            <a:ext cx="64008" cy="105156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94192" y="4270248"/>
            <a:ext cx="27249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ATTEMPTS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690872"/>
            <a:ext cx="270662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Answer outcome and response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M2 • COGNITIVE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Challenge analytics — what should be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Illustrative chart layout only — values are placeholders, not measured project results.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6675120" cy="352044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612648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EXAMPLE VISUAL: METRICS BY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703320"/>
            <a:ext cx="438912" cy="1280160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5074920"/>
            <a:ext cx="53035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A9B7C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0552" y="3383280"/>
            <a:ext cx="438912" cy="1600200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84832" y="5074920"/>
            <a:ext cx="53035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A9B7C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4023360"/>
            <a:ext cx="438912" cy="960119"/>
          </a:xfrm>
          <a:prstGeom prst="roundRect">
            <a:avLst>
              <a:gd name="adj" fmla="val 12000"/>
            </a:avLst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9504" y="5074920"/>
            <a:ext cx="53035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A9B7CF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39896" y="3063240"/>
            <a:ext cx="438912" cy="1920239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94176" y="5074920"/>
            <a:ext cx="53035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A9B7C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3383280"/>
            <a:ext cx="438912" cy="1600200"/>
          </a:xfrm>
          <a:prstGeom prst="roundRect">
            <a:avLst>
              <a:gd name="adj" fmla="val 12000"/>
            </a:avLst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5074920"/>
            <a:ext cx="53035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A9B7C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2743200"/>
            <a:ext cx="438912" cy="2240279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5074920"/>
            <a:ext cx="53035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A9B7C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3063240"/>
            <a:ext cx="438912" cy="1920239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08192" y="5074920"/>
            <a:ext cx="53035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A9B7C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21808"/>
            <a:ext cx="585216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800" b="0">
                <a:solidFill>
                  <a:srgbClr val="FFBE5C"/>
                </a:solidFill>
                <a:latin typeface="Aptos"/>
              </a:defRPr>
            </a:pPr>
            <a:r>
              <a:t>Illustrative counts only • replace with real records before presenting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14884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09560" y="2148840"/>
            <a:ext cx="64008" cy="82296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74152" y="2258568"/>
            <a:ext cx="299923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2679192"/>
            <a:ext cx="2980944" cy="201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Correct attempts / total attempts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24612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09560" y="3246120"/>
            <a:ext cx="64008" cy="82296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74152" y="3355848"/>
            <a:ext cx="299923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3776472"/>
            <a:ext cx="2980944" cy="201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Median solve time by challenge type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434340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09560" y="4343400"/>
            <a:ext cx="64008" cy="82296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74152" y="4453128"/>
            <a:ext cx="299923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COMPLETION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4873752"/>
            <a:ext cx="2980944" cy="2011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Verified alarms / triggered alarms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M3 • 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MILESTONE 3  /  Adaptive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Weeks 5–6  |  Turn repeated events into understandable feedback and personalized next steps.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2057400" cy="10058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146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1874519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Wake / snooze / attempts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2971800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2468880"/>
            <a:ext cx="2057400" cy="10058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25146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852928"/>
            <a:ext cx="1874519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Patterns over time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49240" y="2971800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60720" y="2468880"/>
            <a:ext cx="2057400" cy="10058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33872" y="25146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852928"/>
            <a:ext cx="1874519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Habit score 0–100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0" y="2971800"/>
            <a:ext cx="36576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75320" y="2468880"/>
            <a:ext cx="2057400" cy="100584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2514600"/>
            <a:ext cx="191109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852928"/>
            <a:ext cx="1874519" cy="5943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Next useful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200" b="0">
                <a:solidFill>
                  <a:srgbClr val="A9B7CF"/>
                </a:solidFill>
                <a:latin typeface="Aptos"/>
              </a:defRPr>
            </a:pPr>
            <a:r>
              <a:t>The design combines measured signals with decision logic; model names alone do not prove model quality or deployment.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M3 • 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Adaptive difficulty — feedback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Conceptual policy loop based on challenge outcomes and response time.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7744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423160"/>
            <a:ext cx="19568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61488"/>
            <a:ext cx="192023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Correctness + time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85292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66160" y="237744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2" y="2423160"/>
            <a:ext cx="19568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61488"/>
            <a:ext cx="192023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Recent performance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15000" y="285292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0" y="237744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2423160"/>
            <a:ext cx="19568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ADJUST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761488"/>
            <a:ext cx="192023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Difficulty level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852928"/>
            <a:ext cx="45720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69680" y="237744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42832" y="2423160"/>
            <a:ext cx="19568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2761488"/>
            <a:ext cx="1920239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Next attempt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21240" y="3429000"/>
            <a:ext cx="0" cy="685800"/>
          </a:xfrm>
          <a:prstGeom prst="line">
            <a:avLst/>
          </a:prstGeom>
          <a:ln w="25400">
            <a:solidFill>
              <a:srgbClr val="FF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965960" y="4114800"/>
            <a:ext cx="7955280" cy="0"/>
          </a:xfrm>
          <a:prstGeom prst="line">
            <a:avLst/>
          </a:prstGeom>
          <a:ln w="25400">
            <a:solidFill>
              <a:srgbClr val="FF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65960" y="3401568"/>
            <a:ext cx="0" cy="713232"/>
          </a:xfrm>
          <a:prstGeom prst="line">
            <a:avLst/>
          </a:prstGeom>
          <a:ln w="25400">
            <a:solidFill>
              <a:srgbClr val="FF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49039" y="4251960"/>
            <a:ext cx="411480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F6F91"/>
                </a:solidFill>
                <a:latin typeface="Aptos"/>
              </a:defRPr>
            </a:pPr>
            <a:r>
              <a:t>Feedback loop • policy must have safe min/max difficulty bounds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937760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" y="4937760"/>
            <a:ext cx="64008" cy="77724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61872" y="5047488"/>
            <a:ext cx="418795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5468112"/>
            <a:ext cx="4169664" cy="15544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Accuracy, time, retry pattern.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937760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4937760"/>
            <a:ext cx="64008" cy="77724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5047488"/>
            <a:ext cx="418795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5468112"/>
            <a:ext cx="4169664" cy="15544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Avoid abrupt changes from one noisy attempt.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M3 • 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Behavioral analytics — temporal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sequence model is meaningful only when ordered observations are available and data leakage is avoided.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2395728"/>
            <a:ext cx="1271016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36D3DC"/>
                </a:solidFill>
                <a:latin typeface="Aptos"/>
              </a:defRPr>
            </a:pPr>
            <a:r>
              <a:t>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743200"/>
            <a:ext cx="1271016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1 snooze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27248"/>
            <a:ext cx="1271016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on 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9968" y="2971800"/>
            <a:ext cx="192024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58568" y="228600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2395728"/>
            <a:ext cx="1271016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9770FF"/>
                </a:solidFill>
                <a:latin typeface="Aptos"/>
              </a:defRPr>
            </a:pPr>
            <a:r>
              <a:t>D2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743200"/>
            <a:ext cx="1271016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2 snoozes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127248"/>
            <a:ext cx="1271016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late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94176" y="2971800"/>
            <a:ext cx="192024" cy="0"/>
          </a:xfrm>
          <a:prstGeom prst="line">
            <a:avLst/>
          </a:prstGeom>
          <a:ln w="25400">
            <a:solidFill>
              <a:srgbClr val="97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22776" y="228600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95928" y="2395728"/>
            <a:ext cx="1271016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4AD399"/>
                </a:solidFill>
                <a:latin typeface="Aptos"/>
              </a:defRPr>
            </a:pPr>
            <a:r>
              <a:t>D3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928" y="2743200"/>
            <a:ext cx="1271016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0 snooze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8" y="3127248"/>
            <a:ext cx="1271016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on 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971800"/>
            <a:ext cx="192024" cy="0"/>
          </a:xfrm>
          <a:prstGeom prst="line">
            <a:avLst/>
          </a:prstGeom>
          <a:ln w="254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86984" y="228600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0136" y="2395728"/>
            <a:ext cx="1271016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FFBE5C"/>
                </a:solidFill>
                <a:latin typeface="Aptos"/>
              </a:defRPr>
            </a:pPr>
            <a:r>
              <a:t>D4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0136" y="2743200"/>
            <a:ext cx="1271016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1 snooze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0136" y="3127248"/>
            <a:ext cx="1271016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+5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22592" y="2971800"/>
            <a:ext cx="192024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51192" y="228600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24344" y="2395728"/>
            <a:ext cx="1271016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FF6F91"/>
                </a:solidFill>
                <a:latin typeface="Aptos"/>
              </a:defRPr>
            </a:pPr>
            <a:r>
              <a:t>D5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2743200"/>
            <a:ext cx="1271016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0 snooze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3127248"/>
            <a:ext cx="1271016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on time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2971800"/>
            <a:ext cx="192024" cy="0"/>
          </a:xfrm>
          <a:prstGeom prst="line">
            <a:avLst/>
          </a:prstGeom>
          <a:ln w="25400">
            <a:solidFill>
              <a:srgbClr val="FF6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915400" y="228600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88552" y="2395728"/>
            <a:ext cx="1271016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36D3DC"/>
                </a:solidFill>
                <a:latin typeface="Aptos"/>
              </a:defRPr>
            </a:pPr>
            <a:r>
              <a:t>D6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2" y="2743200"/>
            <a:ext cx="1271016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1 snooze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3127248"/>
            <a:ext cx="1271016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+2 min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351008" y="2971800"/>
            <a:ext cx="192024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579608" y="228600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52760" y="2395728"/>
            <a:ext cx="1271016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4AD399"/>
                </a:solidFill>
                <a:latin typeface="Aptos"/>
              </a:defRPr>
            </a:pPr>
            <a:r>
              <a:t>D7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2760" y="2743200"/>
            <a:ext cx="1271016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4F7FF"/>
                </a:solidFill>
                <a:latin typeface="Aptos"/>
              </a:defRPr>
            </a:pPr>
            <a:r>
              <a:t>0 snooze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127248"/>
            <a:ext cx="1271016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on time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2519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68680" y="4251960"/>
            <a:ext cx="64008" cy="105156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3271" y="4361688"/>
            <a:ext cx="29535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1" y="4782312"/>
            <a:ext cx="293522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Consistent units, missing-value handling and windowing.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60" y="42519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480560" y="4251960"/>
            <a:ext cx="64008" cy="105156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45152" y="4361688"/>
            <a:ext cx="29535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SEQUENCE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5152" y="4782312"/>
            <a:ext cx="293522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LSTM is a possible approach only if trained and evaluated.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40" y="42519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092440" y="4251960"/>
            <a:ext cx="64008" cy="105156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57031" y="4361688"/>
            <a:ext cx="29535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7031" y="4782312"/>
            <a:ext cx="2935224" cy="42976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Use held-out time periods and compare to a baseline.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623560"/>
            <a:ext cx="10241280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FFBE5C"/>
                </a:solidFill>
                <a:latin typeface="Aptos"/>
              </a:defRPr>
            </a:pPr>
            <a:r>
              <a:t>Sequence above is illustrative, not actual user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M3 • 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Habit score — weighted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The reference specification describes a 100-point composite; verify weights and formulas against the implemented scoring function.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423160"/>
            <a:ext cx="3664458" cy="914400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606040"/>
            <a:ext cx="3591306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500" b="1">
                <a:solidFill>
                  <a:srgbClr val="070C18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3138" y="2423160"/>
            <a:ext cx="2617470" cy="914400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9714" y="2606040"/>
            <a:ext cx="2544318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500" b="1">
                <a:solidFill>
                  <a:srgbClr val="070C18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2423160"/>
            <a:ext cx="2093976" cy="914400"/>
          </a:xfrm>
          <a:prstGeom prst="roundRect">
            <a:avLst>
              <a:gd name="adj" fmla="val 12000"/>
            </a:avLst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7184" y="2606040"/>
            <a:ext cx="2020824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500" b="1">
                <a:solidFill>
                  <a:srgbClr val="070C18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584" y="2423160"/>
            <a:ext cx="2093976" cy="914400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59" y="2606040"/>
            <a:ext cx="2020824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500" b="1">
                <a:solidFill>
                  <a:srgbClr val="070C18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86200"/>
            <a:ext cx="4800600" cy="5943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3886200"/>
            <a:ext cx="109728" cy="59436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959352"/>
            <a:ext cx="333756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Wake-up 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59352"/>
            <a:ext cx="73152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1100" b="1">
                <a:solidFill>
                  <a:srgbClr val="36D3DC"/>
                </a:solidFill>
                <a:latin typeface="Aptos"/>
              </a:defRPr>
            </a:pPr>
            <a:r>
              <a:t>35 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86200"/>
            <a:ext cx="4800600" cy="5943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3886200"/>
            <a:ext cx="109728" cy="59436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959352"/>
            <a:ext cx="333756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Challenge 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959352"/>
            <a:ext cx="73152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1100" b="1">
                <a:solidFill>
                  <a:srgbClr val="9770FF"/>
                </a:solidFill>
                <a:latin typeface="Aptos"/>
              </a:defRPr>
            </a:pPr>
            <a:r>
              <a:t>25 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709160"/>
            <a:ext cx="4800600" cy="5943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4709160"/>
            <a:ext cx="109728" cy="59436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782312"/>
            <a:ext cx="333756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Snooze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782312"/>
            <a:ext cx="73152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1100" b="1">
                <a:solidFill>
                  <a:srgbClr val="4AD399"/>
                </a:solidFill>
                <a:latin typeface="Aptos"/>
              </a:defRPr>
            </a:pPr>
            <a:r>
              <a:t>20 pts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709160"/>
            <a:ext cx="4800600" cy="59436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4709160"/>
            <a:ext cx="109728" cy="59436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333756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Sleep routine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782312"/>
            <a:ext cx="731520" cy="4114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1100" b="1">
                <a:solidFill>
                  <a:srgbClr val="FFBE5C"/>
                </a:solidFill>
                <a:latin typeface="Aptos"/>
              </a:defRPr>
            </a:pPr>
            <a:r>
              <a:t>20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60720"/>
            <a:ext cx="10058400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FFBE5C"/>
                </a:solidFill>
                <a:latin typeface="Aptos"/>
              </a:defRPr>
            </a:pPr>
            <a:r>
              <a:t>Composition shown from project planning material; not a verified score distribution from live users.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M3 • 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Recommendation engine — from signal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useful recommendation should be explainable and traceable to a pattern.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6148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Score • snooze • trends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852928"/>
            <a:ext cx="41148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237744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2423160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6148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Rules / model 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2852928"/>
            <a:ext cx="41148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60720" y="237744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33872" y="2423160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76148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Why this suggestion?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18120" y="2852928"/>
            <a:ext cx="411480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75320" y="237744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2423160"/>
            <a:ext cx="186537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1">
                <a:solidFill>
                  <a:srgbClr val="F4F7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761488"/>
            <a:ext cx="1828800" cy="5486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Small next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160520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160520"/>
            <a:ext cx="64008" cy="96012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270248"/>
            <a:ext cx="26791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690872"/>
            <a:ext cx="2660904" cy="3383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“Try moving alarm 10 minutes earlier.”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160520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4160520"/>
            <a:ext cx="64008" cy="96012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82312" y="4270248"/>
            <a:ext cx="26791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4690872"/>
            <a:ext cx="2660904" cy="3383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“Choose a shorter task after repeated timeouts.”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160520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4160520"/>
            <a:ext cx="64008" cy="96012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85632" y="4270248"/>
            <a:ext cx="267919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4690872"/>
            <a:ext cx="2660904" cy="3383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“Keep current difficulty after steady accuracy.”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M3 • 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Dashboard — a visual hierarchy for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Recommended information hierarchy; use real application screenshots in the final submission.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11680"/>
            <a:ext cx="6995160" cy="34747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2194560"/>
            <a:ext cx="6629400" cy="41148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1A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1">
                <a:solidFill>
                  <a:srgbClr val="F4F7FF"/>
                </a:solidFill>
                <a:latin typeface="Aptos"/>
              </a:defRPr>
            </a:pPr>
            <a:r>
              <a:t>OVERVIEW  /  THIS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78892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070C18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52928"/>
            <a:ext cx="1737360" cy="329184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800" b="1">
                <a:solidFill>
                  <a:srgbClr val="36D3DC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18688"/>
            <a:ext cx="173736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Habit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78892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070C18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2852928"/>
            <a:ext cx="1737360" cy="329184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800" b="1">
                <a:solidFill>
                  <a:srgbClr val="4AD399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218688"/>
            <a:ext cx="173736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On-time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78892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070C18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2852928"/>
            <a:ext cx="1737360" cy="329184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800" b="1">
                <a:solidFill>
                  <a:srgbClr val="FFBE5C"/>
                </a:solidFill>
                <a:latin typeface="Aptos"/>
              </a:defRPr>
            </a:pPr>
            <a:r>
              <a:t>1.2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218688"/>
            <a:ext cx="173736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A9B7CF"/>
                </a:solidFill>
                <a:latin typeface="Aptos"/>
              </a:defRPr>
            </a:pPr>
            <a:r>
              <a:t>Avg snoozes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0" y="4247388"/>
            <a:ext cx="109728" cy="10972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975104" y="4096512"/>
            <a:ext cx="109728" cy="10972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1188720" y="4151376"/>
            <a:ext cx="841248" cy="150875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761488" y="4176979"/>
            <a:ext cx="109728" cy="10972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1975104" y="4151376"/>
            <a:ext cx="841248" cy="80467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547872" y="3975811"/>
            <a:ext cx="109728" cy="10972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V="1">
            <a:off x="2761488" y="4030675"/>
            <a:ext cx="841248" cy="201168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34256" y="4036161"/>
            <a:ext cx="109728" cy="10972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3547872" y="4030675"/>
            <a:ext cx="841248" cy="6035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120640" y="3895344"/>
            <a:ext cx="109728" cy="10972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V="1">
            <a:off x="4334256" y="3950207"/>
            <a:ext cx="841247" cy="140818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07024" y="3945635"/>
            <a:ext cx="109728" cy="109728"/>
          </a:xfrm>
          <a:prstGeom prst="ellipse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120640" y="3950207"/>
            <a:ext cx="841248" cy="50292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138160" y="214884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60" y="2148840"/>
            <a:ext cx="64008" cy="86868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2752" y="2258568"/>
            <a:ext cx="27249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SCORE 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2679192"/>
            <a:ext cx="2706624" cy="24688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One score with transparent components.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29184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3291840"/>
            <a:ext cx="64008" cy="86868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02752" y="3401568"/>
            <a:ext cx="27249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TREND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3822191"/>
            <a:ext cx="2706624" cy="24688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Show a time window, not one isolated number.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43484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38160" y="4434840"/>
            <a:ext cx="64008" cy="86868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02752" y="4544568"/>
            <a:ext cx="272491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NEXT 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4965192"/>
            <a:ext cx="2706624" cy="246887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000" b="0">
                <a:solidFill>
                  <a:srgbClr val="A9B7CF"/>
                </a:solidFill>
                <a:latin typeface="Aptos"/>
              </a:defRPr>
            </a:pPr>
            <a:r>
              <a:t>Explain why each recommendation appears.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715000"/>
            <a:ext cx="1014984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0">
                <a:solidFill>
                  <a:srgbClr val="FFBE5C"/>
                </a:solidFill>
                <a:latin typeface="Aptos"/>
              </a:defRPr>
            </a:pPr>
            <a:r>
              <a:t>All dashboard values in this wireframe are mock values for layout demonstration only.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M4 • 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Milestone 4 — delivery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Weeks 7–8  |  Reports, final integration, test evidence, deployment and documentation.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57400"/>
            <a:ext cx="502920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222199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221992"/>
            <a:ext cx="141732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176272"/>
            <a:ext cx="2971800" cy="6583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F4F7FF"/>
                </a:solidFill>
                <a:latin typeface="Aptos"/>
              </a:defRPr>
            </a:pPr>
            <a:r>
              <a:t>Executive overview • habit trends • wake-up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57400"/>
            <a:ext cx="502920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46520" y="222199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221992"/>
            <a:ext cx="141732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EXPORTS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176272"/>
            <a:ext cx="2971800" cy="6583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F4F7FF"/>
                </a:solidFill>
                <a:latin typeface="Aptos"/>
              </a:defRPr>
            </a:pPr>
            <a:r>
              <a:t>PDF / Excel output and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83280"/>
            <a:ext cx="502920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354787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547872"/>
            <a:ext cx="141732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CONTAINERS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02152"/>
            <a:ext cx="2971800" cy="6583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F4F7FF"/>
                </a:solidFill>
                <a:latin typeface="Aptos"/>
              </a:defRPr>
            </a:pPr>
            <a:r>
              <a:t>Reproducible Docker build and startup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383280"/>
            <a:ext cx="5029200" cy="96012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354787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547872"/>
            <a:ext cx="141732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502152"/>
            <a:ext cx="2971800" cy="6583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F4F7FF"/>
                </a:solidFill>
                <a:latin typeface="Aptos"/>
              </a:defRPr>
            </a:pPr>
            <a:r>
              <a:t>Deployment URL, health check and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983480"/>
            <a:ext cx="10241280" cy="658368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084064"/>
            <a:ext cx="9875520" cy="43891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000" b="1">
                <a:solidFill>
                  <a:srgbClr val="FFBE5C"/>
                </a:solidFill>
                <a:latin typeface="Aptos"/>
              </a:defRPr>
            </a:pPr>
            <a:r>
              <a:t>Known blocker from prior work: Docker build failed on pinned keras==3.15.1; resolve compatibility and re-run before claiming success.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Testing &amp; validation — evidence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 project presentation should separate historical test claims from current verified evidence.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48840"/>
            <a:ext cx="64008" cy="137160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258568"/>
            <a:ext cx="309067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500" b="1">
                <a:solidFill>
                  <a:srgbClr val="F4F7FF"/>
                </a:solidFill>
                <a:latin typeface="Aptos"/>
              </a:defRPr>
            </a:pPr>
            <a:r>
              <a:t>UNIT / API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679192"/>
            <a:ext cx="3072384" cy="74980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Auth • profile • habits • alarms • challenge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488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48840"/>
            <a:ext cx="64008" cy="1371600"/>
          </a:xfrm>
          <a:prstGeom prst="rect">
            <a:avLst/>
          </a:prstGeom>
          <a:solidFill>
            <a:srgbClr val="9770FF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2258568"/>
            <a:ext cx="309067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500" b="1">
                <a:solidFill>
                  <a:srgbClr val="F4F7FF"/>
                </a:solidFill>
                <a:latin typeface="Aptos"/>
              </a:defRPr>
            </a:pPr>
            <a:r>
              <a:t>INTEGRATION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679192"/>
            <a:ext cx="3072384" cy="74980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Frontend request → API response → database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1488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2148840"/>
            <a:ext cx="64008" cy="1371600"/>
          </a:xfrm>
          <a:prstGeom prst="rect">
            <a:avLst/>
          </a:prstGeom>
          <a:solidFill>
            <a:srgbClr val="4AD399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5592" y="2258568"/>
            <a:ext cx="3090672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500" b="1">
                <a:solidFill>
                  <a:srgbClr val="F4F7FF"/>
                </a:solidFill>
                <a:latin typeface="Aptos"/>
              </a:defRPr>
            </a:pPr>
            <a:r>
              <a:t>DEPLOYMENT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679192"/>
            <a:ext cx="3072384" cy="74980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Container build • startup • health check • persistence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069080"/>
            <a:ext cx="2103120" cy="438912"/>
          </a:xfrm>
          <a:prstGeom prst="rect">
            <a:avLst/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114800"/>
            <a:ext cx="19568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1">
                <a:solidFill>
                  <a:srgbClr val="F4F7FF"/>
                </a:solidFill>
                <a:latin typeface="Aptos"/>
              </a:defRPr>
            </a:pPr>
            <a:r>
              <a:t>Area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4069080"/>
            <a:ext cx="4663440" cy="438912"/>
          </a:xfrm>
          <a:prstGeom prst="rect">
            <a:avLst/>
          </a:prstGeom>
          <a:solidFill>
            <a:srgbClr val="1A2945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82112" y="4114800"/>
            <a:ext cx="451713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000" b="1">
                <a:solidFill>
                  <a:srgbClr val="F4F7FF"/>
                </a:solidFill>
                <a:latin typeface="Aptos"/>
              </a:defRPr>
            </a:pPr>
            <a:r>
              <a:t>Evidence to capture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553712"/>
            <a:ext cx="2103120" cy="411480"/>
          </a:xfrm>
          <a:prstGeom prst="rect">
            <a:avLst/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657975"/>
            <a:ext cx="1956815" cy="18466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rPr dirty="0"/>
              <a:t>M1–M</a:t>
            </a:r>
            <a:r>
              <a:rPr lang="en-GB" dirty="0"/>
              <a:t>4</a:t>
            </a:r>
            <a:r>
              <a:rPr dirty="0"/>
              <a:t>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4553712"/>
            <a:ext cx="4663440" cy="411480"/>
          </a:xfrm>
          <a:prstGeom prst="rect">
            <a:avLst/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82112" y="4590288"/>
            <a:ext cx="451713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0">
                <a:solidFill>
                  <a:srgbClr val="A9B7CF"/>
                </a:solidFill>
                <a:latin typeface="Aptos"/>
              </a:defRPr>
            </a:pPr>
            <a:r>
              <a:t>Current test output / logs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992624"/>
            <a:ext cx="2103120" cy="411480"/>
          </a:xfrm>
          <a:prstGeom prst="rect">
            <a:avLst/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" y="5029200"/>
            <a:ext cx="1956815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4992624"/>
            <a:ext cx="4663440" cy="411480"/>
          </a:xfrm>
          <a:prstGeom prst="rect">
            <a:avLst/>
          </a:prstGeom>
          <a:solidFill>
            <a:srgbClr val="141F36"/>
          </a:solidFill>
          <a:ln>
            <a:solidFill>
              <a:srgbClr val="36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82112" y="5029200"/>
            <a:ext cx="4517136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0">
                <a:solidFill>
                  <a:srgbClr val="A9B7CF"/>
                </a:solidFill>
                <a:latin typeface="Aptos"/>
              </a:defRPr>
            </a:pPr>
            <a:r>
              <a:t>Successful clean build log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47472"/>
            <a:ext cx="109728" cy="402336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27432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900" b="1">
                <a:solidFill>
                  <a:srgbClr val="A9B7CF"/>
                </a:solidFill>
                <a:latin typeface="Aptos"/>
              </a:defRPr>
            </a:pPr>
            <a:r>
              <a:t>HABITFLOW  /  INTELLIGENT COGNITIVE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02368" y="310896"/>
            <a:ext cx="196596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900" b="1">
                <a:solidFill>
                  <a:srgbClr val="070C1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106424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2700" b="1">
                <a:solidFill>
                  <a:srgbClr val="F4F7FF"/>
                </a:solidFill>
                <a:latin typeface="Aptos"/>
              </a:defRPr>
            </a:pPr>
            <a:r>
              <a:t>One connected system — one measurable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0972800" cy="34747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1100" b="0">
                <a:solidFill>
                  <a:srgbClr val="A9B7CF"/>
                </a:solidFill>
                <a:latin typeface="Aptos"/>
              </a:defRPr>
            </a:pPr>
            <a:r>
              <a:t>HabitFlow links scheduled alarms to active verification, structured event records and personalized feedback.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764792"/>
            <a:ext cx="11000232" cy="0"/>
          </a:xfrm>
          <a:prstGeom prst="line">
            <a:avLst/>
          </a:prstGeom>
          <a:ln w="12700">
            <a:solidFill>
              <a:srgbClr val="36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>
              <a:defRPr sz="800" b="0">
                <a:solidFill>
                  <a:srgbClr val="A9B7CF"/>
                </a:solidFill>
                <a:latin typeface="Aptos"/>
              </a:defRPr>
            </a:pPr>
            <a:r>
              <a:t>INTELLIGENT COGNITIVE ALARM PLATFORM  •  VISUAL PROJECT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defRPr sz="900" b="1">
                <a:solidFill>
                  <a:srgbClr val="A9B7CF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0574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36D3DC"/>
                </a:solidFill>
                <a:latin typeface="Aptos"/>
              </a:defRPr>
            </a:pPr>
            <a:r>
              <a:rPr dirty="0"/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0574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FOUNDATION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81528" y="2907792"/>
            <a:ext cx="438912" cy="0"/>
          </a:xfrm>
          <a:prstGeom prst="line">
            <a:avLst/>
          </a:prstGeom>
          <a:ln w="25400">
            <a:solidFill>
              <a:srgbClr val="36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11879" y="2331720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9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2468880"/>
            <a:ext cx="20574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9770FF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80360"/>
            <a:ext cx="20574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VERIFICATION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0448" y="2907792"/>
            <a:ext cx="438912" cy="0"/>
          </a:xfrm>
          <a:prstGeom prst="line">
            <a:avLst/>
          </a:prstGeom>
          <a:ln w="25400">
            <a:solidFill>
              <a:srgbClr val="97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2331720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4A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20574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4AD399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20574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ADAPTATION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59368" y="2907792"/>
            <a:ext cx="438912" cy="0"/>
          </a:xfrm>
          <a:prstGeom prst="line">
            <a:avLst/>
          </a:prstGeom>
          <a:ln w="25400">
            <a:solidFill>
              <a:srgbClr val="4A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19" y="2331720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1A29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59" y="2468880"/>
            <a:ext cx="205740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200" b="1">
                <a:solidFill>
                  <a:srgbClr val="FFBE5C"/>
                </a:solidFill>
                <a:latin typeface="Aptos"/>
              </a:defRPr>
            </a:pPr>
            <a: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880360"/>
            <a:ext cx="205740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43400"/>
            <a:ext cx="9966960" cy="6858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2500" b="1">
                <a:solidFill>
                  <a:srgbClr val="F4F7FF"/>
                </a:solidFill>
                <a:latin typeface="Aptos"/>
              </a:defRPr>
            </a:pPr>
            <a:r>
              <a:t>RISE. SOLVE. STAY PRODUCTIVE.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12080"/>
            <a:ext cx="996696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defRPr sz="1300" b="0">
                <a:solidFill>
                  <a:srgbClr val="A9B7CF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1E230E8-938D-1A00-B3C2-C9ABF4C3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2559</Words>
  <Application>Microsoft Office PowerPoint</Application>
  <PresentationFormat>Widescreen</PresentationFormat>
  <Paragraphs>549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Victus</dc:creator>
  <cp:keywords/>
  <dc:description>generated using python-pptx</dc:description>
  <cp:lastModifiedBy>Gagan Deep</cp:lastModifiedBy>
  <cp:revision>2</cp:revision>
  <dcterms:created xsi:type="dcterms:W3CDTF">2013-01-27T09:14:16Z</dcterms:created>
  <dcterms:modified xsi:type="dcterms:W3CDTF">2026-10-18T21:20:54Z</dcterms:modified>
  <cp:category/>
</cp:coreProperties>
</file>