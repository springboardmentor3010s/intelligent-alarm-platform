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78992"/>
            <a:ext cx="667512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37CFD8"/>
                </a:solidFill>
                <a:latin typeface="Aptos"/>
              </a:defRPr>
            </a:pPr>
            <a:r>
              <a:t>INTELLIGENT COGNITIVE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6949440" cy="7772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3400" b="1">
                <a:solidFill>
                  <a:srgbClr val="F4F6FF"/>
                </a:solidFill>
                <a:latin typeface="Aptos"/>
              </a:defRPr>
            </a:pPr>
            <a:r>
              <a:t>ALARM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640080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0">
                <a:solidFill>
                  <a:srgbClr val="AEB8D2"/>
                </a:solidFill>
                <a:latin typeface="Aptos"/>
              </a:defRPr>
            </a:pPr>
            <a:r>
              <a:t>AI-powered wake-up assistance and habit improvement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794760"/>
            <a:ext cx="5943600" cy="10515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8" y="3867912"/>
            <a:ext cx="54864" cy="905255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3950208"/>
            <a:ext cx="5596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61688"/>
            <a:ext cx="5559552" cy="39319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Adaptive alarms • Cognitive challenges • Behavioral analytics • Personalized recommendations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371600"/>
            <a:ext cx="2926080" cy="2926080"/>
          </a:xfrm>
          <a:prstGeom prst="ellipse">
            <a:avLst/>
          </a:prstGeom>
          <a:solidFill>
            <a:srgbClr val="182041"/>
          </a:solidFill>
          <a:ln w="38100">
            <a:solidFill>
              <a:srgbClr val="37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32520" y="2286000"/>
            <a:ext cx="1097280" cy="1097280"/>
          </a:xfrm>
          <a:prstGeom prst="ellipse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4272" y="2615184"/>
            <a:ext cx="5029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100" b="1">
                <a:solidFill>
                  <a:srgbClr val="F4F6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17152" y="1810512"/>
            <a:ext cx="54864" cy="105156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1800000">
            <a:off x="9217152" y="2724912"/>
            <a:ext cx="868680" cy="54864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Problem &amp;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Why a cognitive alarm platform?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2578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73352"/>
            <a:ext cx="54864" cy="168249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55648"/>
            <a:ext cx="49103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F4F6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48737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0">
                <a:solidFill>
                  <a:srgbClr val="AEB8D2"/>
                </a:solidFill>
                <a:latin typeface="Aptos"/>
              </a:defRPr>
            </a:pPr>
            <a:r>
              <a:t>Traditional alarms can be dismissed or snoozed without ensuring that the user is fully engaged or follows a consistent wake-up routine.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578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73352"/>
            <a:ext cx="54864" cy="168249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755648"/>
            <a:ext cx="49103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F4F6FF"/>
                </a:solidFill>
                <a:latin typeface="Aptos"/>
              </a:defRPr>
            </a:pPr>
            <a:r>
              <a:t>OUR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48737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0">
                <a:solidFill>
                  <a:srgbClr val="AEB8D2"/>
                </a:solidFill>
                <a:latin typeface="Aptos"/>
              </a:defRPr>
            </a:pPr>
            <a:r>
              <a:t>Require users to solve personalized cognitive challenges before dismissing alarms, and adapt difficulty using wake-up behavior and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37CFD8"/>
                </a:solidFill>
                <a:latin typeface="Aptos"/>
              </a:defRPr>
            </a:pPr>
            <a:r>
              <a:t>Designed for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246888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70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22860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480560"/>
            <a:ext cx="246888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37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4690872"/>
            <a:ext cx="22860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Professionals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4480560"/>
            <a:ext cx="246888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4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19" y="4690872"/>
            <a:ext cx="22860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Fitness &amp; wellness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3999" y="4480560"/>
            <a:ext cx="246888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FFA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39" y="4690872"/>
            <a:ext cx="22860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Productivity-focused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A web application with API services, databases and AI/analytics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5146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4864" cy="168249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24328"/>
            <a:ext cx="21305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React.js • JavaScript</a:t>
            </a:r>
            <a:br/>
            <a:r>
              <a:t>Dashboard &amp; user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1" y="269748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4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057400"/>
            <a:ext cx="25146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0439" y="2130552"/>
            <a:ext cx="54864" cy="168249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7" y="22128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7" y="2624328"/>
            <a:ext cx="21305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FastAPI • Python</a:t>
            </a:r>
            <a:br/>
            <a:r>
              <a:t>Authentication &amp; 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1" y="269748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4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57400"/>
            <a:ext cx="25146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130552"/>
            <a:ext cx="54864" cy="168249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2128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24328"/>
            <a:ext cx="21305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PostgreSQL</a:t>
            </a:r>
            <a:br/>
            <a: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69748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4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59" y="2057400"/>
            <a:ext cx="25146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81159" y="2130552"/>
            <a:ext cx="54864" cy="168249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2328" y="22128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AI /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2624328"/>
            <a:ext cx="21305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Scikit-learn • XGBoost</a:t>
            </a:r>
            <a:br/>
            <a:r>
              <a:t>TensorFlow • PyTorch • RL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617720"/>
            <a:ext cx="4389120" cy="7772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34440" y="4690872"/>
            <a:ext cx="54864" cy="63093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35608" y="4773168"/>
            <a:ext cx="40416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6360" y="5006340"/>
            <a:ext cx="400507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rPr dirty="0"/>
              <a:t>Firebase Cloud Messaging (FCM)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617720"/>
            <a:ext cx="4389120" cy="7772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46520" y="4690872"/>
            <a:ext cx="54864" cy="63093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47688" y="4773168"/>
            <a:ext cx="40416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CONTAINERIZATION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5029053"/>
            <a:ext cx="400507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rPr dirty="0"/>
              <a:t>Docker /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Core Platform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Main functional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73352"/>
            <a:ext cx="54864" cy="136245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5564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Registration, login, JWT and role-based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0020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673352"/>
            <a:ext cx="54864" cy="136245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75564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User &amp; Habit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67128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Sleep schedule, wake-up goals and preferences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60020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673352"/>
            <a:ext cx="54864" cy="136245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75564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Alarm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167128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One-time and recurring alarm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639312"/>
            <a:ext cx="54864" cy="136245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72160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Cognitive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133087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Generate, present and validate challenge answers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3639312"/>
            <a:ext cx="54864" cy="136245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372160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Behavioral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133087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Track wake-up patterns and challenge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566160"/>
            <a:ext cx="338328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3639312"/>
            <a:ext cx="54864" cy="136245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6488" y="3721608"/>
            <a:ext cx="30358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133087"/>
            <a:ext cx="299923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Personalized guidance based on tracked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Alarm &amp; Wake-Up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A cognitive task replaces a simple dismiss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468880" cy="15544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84832"/>
            <a:ext cx="54864" cy="140817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67128"/>
            <a:ext cx="2121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ALARM 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78608"/>
            <a:ext cx="2084832" cy="8961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Alarm event starts</a:t>
            </a:r>
          </a:p>
        </p:txBody>
      </p:sp>
      <p:sp>
        <p:nvSpPr>
          <p:cNvPr id="13" name="Oval 12"/>
          <p:cNvSpPr/>
          <p:nvPr/>
        </p:nvSpPr>
        <p:spPr>
          <a:xfrm>
            <a:off x="1527048" y="3886200"/>
            <a:ext cx="685800" cy="685800"/>
          </a:xfrm>
          <a:prstGeom prst="ellipse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4096512"/>
            <a:ext cx="4572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606040"/>
            <a:ext cx="32004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3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011680"/>
            <a:ext cx="2468880" cy="15544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38728" y="2084832"/>
            <a:ext cx="54864" cy="140817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9896" y="2167128"/>
            <a:ext cx="2121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2578608"/>
            <a:ext cx="2084832" cy="8961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A cognitive task is shown</a:t>
            </a:r>
          </a:p>
        </p:txBody>
      </p:sp>
      <p:sp>
        <p:nvSpPr>
          <p:cNvPr id="20" name="Oval 19"/>
          <p:cNvSpPr/>
          <p:nvPr/>
        </p:nvSpPr>
        <p:spPr>
          <a:xfrm>
            <a:off x="4407408" y="3886200"/>
            <a:ext cx="685800" cy="685800"/>
          </a:xfrm>
          <a:prstGeom prst="ellipse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4096512"/>
            <a:ext cx="4572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2606040"/>
            <a:ext cx="32004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3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011680"/>
            <a:ext cx="2468880" cy="15544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19088" y="2084832"/>
            <a:ext cx="54864" cy="140817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0255" y="2167128"/>
            <a:ext cx="2121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5" y="2578608"/>
            <a:ext cx="2084832" cy="8961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User submits an answer</a:t>
            </a:r>
          </a:p>
        </p:txBody>
      </p:sp>
      <p:sp>
        <p:nvSpPr>
          <p:cNvPr id="27" name="Oval 26"/>
          <p:cNvSpPr/>
          <p:nvPr/>
        </p:nvSpPr>
        <p:spPr>
          <a:xfrm>
            <a:off x="7287768" y="3886200"/>
            <a:ext cx="685800" cy="685800"/>
          </a:xfrm>
          <a:prstGeom prst="ellipse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4096512"/>
            <a:ext cx="4572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2606040"/>
            <a:ext cx="32004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2300" b="1">
                <a:solidFill>
                  <a:srgbClr val="37CF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2011680"/>
            <a:ext cx="2468880" cy="15544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99448" y="2084832"/>
            <a:ext cx="54864" cy="140817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0616" y="2167128"/>
            <a:ext cx="2121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DISMISS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6" y="2578608"/>
            <a:ext cx="2084832" cy="8961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Correct answer stops alarm</a:t>
            </a:r>
          </a:p>
        </p:txBody>
      </p:sp>
      <p:sp>
        <p:nvSpPr>
          <p:cNvPr id="34" name="Oval 33"/>
          <p:cNvSpPr/>
          <p:nvPr/>
        </p:nvSpPr>
        <p:spPr>
          <a:xfrm>
            <a:off x="10168128" y="3886200"/>
            <a:ext cx="685800" cy="685800"/>
          </a:xfrm>
          <a:prstGeom prst="ellipse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87000" y="4096512"/>
            <a:ext cx="4572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300" b="1">
                <a:solidFill>
                  <a:srgbClr val="F4F6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983480"/>
            <a:ext cx="4754880" cy="7772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5056632"/>
            <a:ext cx="54864" cy="63093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5568" y="5138928"/>
            <a:ext cx="4407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WRONG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550408"/>
            <a:ext cx="437083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Alarm continues and user can retry.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83480"/>
            <a:ext cx="4754880" cy="7772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5056632"/>
            <a:ext cx="54864" cy="63093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01968" y="5138928"/>
            <a:ext cx="440740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SNOOZE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550408"/>
            <a:ext cx="4370832" cy="118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A later attempt can present a fresh challenge.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Cognitive Challenge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Seven challenge types included in the project specification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73352"/>
            <a:ext cx="54864" cy="117957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556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Arithmetic &amp; expressions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60020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38728" y="1673352"/>
            <a:ext cx="54864" cy="117957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9896" y="17556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16712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Sequences &amp;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60020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91656" y="1673352"/>
            <a:ext cx="54864" cy="117957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2824" y="17556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16712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Recall &amp;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160020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44584" y="1673352"/>
            <a:ext cx="54864" cy="117957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5752" y="175564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16712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Unscramble 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7472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547872"/>
            <a:ext cx="54864" cy="117957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63016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04164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Identify the rule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8728" y="347472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38728" y="3547872"/>
            <a:ext cx="54864" cy="117957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39896" y="363016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Riddle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9896" y="404164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Reason from clues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91656" y="3474720"/>
            <a:ext cx="2514600" cy="132588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91656" y="3547872"/>
            <a:ext cx="54864" cy="117957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92824" y="3630168"/>
            <a:ext cx="21671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2824" y="4041648"/>
            <a:ext cx="2130552" cy="6675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Multiple-choice knowledge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Adaptive Difficulty &amp;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Model implementations and behavioral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3337560" cy="164592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810512"/>
            <a:ext cx="54864" cy="149961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892807"/>
            <a:ext cx="29900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F4F6FF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04288"/>
            <a:ext cx="2953512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Simple arithmetic • short memory • basic clues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37360"/>
            <a:ext cx="3337560" cy="164592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1810512"/>
            <a:ext cx="54864" cy="149961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1892807"/>
            <a:ext cx="29900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F4F6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304288"/>
            <a:ext cx="2953512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Larger numbers • longer words • deeper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737360"/>
            <a:ext cx="3337560" cy="164592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1810512"/>
            <a:ext cx="54864" cy="149961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1892807"/>
            <a:ext cx="29900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700" b="1">
                <a:solidFill>
                  <a:srgbClr val="F4F6FF"/>
                </a:solidFill>
                <a:latin typeface="Aptos"/>
              </a:defRPr>
            </a:pPr>
            <a:r>
              <a:t>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304288"/>
            <a:ext cx="2953512" cy="9875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Multi-step reasoning • complex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5074920" cy="12344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050791"/>
            <a:ext cx="54864" cy="108813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133087"/>
            <a:ext cx="4727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MODEL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544568"/>
            <a:ext cx="4690872" cy="5760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Scikit-learn • XGBoost • TensorFlow • PyTorch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77639"/>
            <a:ext cx="5074920" cy="123444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050791"/>
            <a:ext cx="54864" cy="108813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4133087"/>
            <a:ext cx="4727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F4F6FF"/>
                </a:solidFill>
                <a:latin typeface="Aptos"/>
              </a:defRPr>
            </a:pPr>
            <a:r>
              <a:t>ADAPTATION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544568"/>
            <a:ext cx="4690872" cy="5760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Correctness • attempts • time taken • wake-up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Behavioral Analytics &amp; Habit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Turn interaction history into understandable progress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029200" cy="141732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19072"/>
            <a:ext cx="54864" cy="127101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01368"/>
            <a:ext cx="46817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BEHAVIORAL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4645152" cy="7589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Snooze patterns • wake-up consistency • challenge completion • sleep schedule adherence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029200" cy="141732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719072"/>
            <a:ext cx="54864" cy="127101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801368"/>
            <a:ext cx="46817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ANALYTICS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212848"/>
            <a:ext cx="4645152" cy="7589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Accuracy • average solving time • performance by challenge type and difficulty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585216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Weighted habit score in the project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Wake-up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178807"/>
            <a:ext cx="4023360" cy="164592"/>
          </a:xfrm>
          <a:prstGeom prst="round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1">
                <a:solidFill>
                  <a:srgbClr val="F4F6FF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44568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Challenge completion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562855"/>
            <a:ext cx="2873828" cy="164592"/>
          </a:xfrm>
          <a:prstGeom prst="round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544568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1">
                <a:solidFill>
                  <a:srgbClr val="F4F6FF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Snooze reduction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4946903"/>
            <a:ext cx="2299062" cy="164592"/>
          </a:xfrm>
          <a:prstGeom prst="round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4928616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1">
                <a:solidFill>
                  <a:srgbClr val="F4F6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12664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Sleep schedule adherence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5330951"/>
            <a:ext cx="2299062" cy="164592"/>
          </a:xfrm>
          <a:prstGeom prst="round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5312664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1">
                <a:solidFill>
                  <a:srgbClr val="F4F6FF"/>
                </a:solidFill>
                <a:latin typeface="Aptos"/>
              </a:defRPr>
            </a:pPr>
            <a:r>
              <a:t>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Recommendations &amp; 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Support habit improvement with summaries and personalized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19072"/>
            <a:ext cx="54864" cy="168249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01368"/>
            <a:ext cx="30815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USER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30449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Alarm history</a:t>
            </a:r>
            <a:br/>
            <a:r>
              <a:t>Wake-up statistics</a:t>
            </a:r>
            <a:br/>
            <a:r>
              <a:t>Habit score</a:t>
            </a:r>
            <a:br/>
            <a:r>
              <a:t>Challenge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719072"/>
            <a:ext cx="54864" cy="168249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815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12848"/>
            <a:ext cx="30449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Accuracy and average time</a:t>
            </a:r>
            <a:br/>
            <a:r>
              <a:t>Performance by type</a:t>
            </a:r>
            <a:br/>
            <a:r>
              <a:t>Performance by difficulty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719072"/>
            <a:ext cx="54864" cy="168249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801368"/>
            <a:ext cx="308152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212848"/>
            <a:ext cx="3044952" cy="11704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Sleep improvement</a:t>
            </a:r>
            <a:br/>
            <a:r>
              <a:t>Wake-up optimization</a:t>
            </a:r>
            <a:br/>
            <a:r>
              <a:t>Habit and productivity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20116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00" b="1">
                <a:solidFill>
                  <a:srgbClr val="37CFD8"/>
                </a:solidFill>
                <a:latin typeface="Aptos"/>
              </a:defRPr>
            </a:pPr>
            <a:r>
              <a:t>Visualization libraries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17720"/>
            <a:ext cx="256032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70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818888"/>
            <a:ext cx="23317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400" b="1">
                <a:solidFill>
                  <a:srgbClr val="F4F6FF"/>
                </a:solidFill>
                <a:latin typeface="Aptos"/>
              </a:defRPr>
            </a:pPr>
            <a:r>
              <a:t>Chart.js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4617720"/>
            <a:ext cx="256032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FFA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04488" y="4818888"/>
            <a:ext cx="23317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400" b="1">
                <a:solidFill>
                  <a:srgbClr val="F4F6FF"/>
                </a:solidFill>
                <a:latin typeface="Aptos"/>
              </a:defRPr>
            </a:pPr>
            <a:r>
              <a:t>Plotly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617720"/>
            <a:ext cx="2560320" cy="685800"/>
          </a:xfrm>
          <a:prstGeom prst="roundRect">
            <a:avLst/>
          </a:prstGeom>
          <a:solidFill>
            <a:srgbClr val="1C264C"/>
          </a:solidFill>
          <a:ln>
            <a:solidFill>
              <a:srgbClr val="37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76288" y="4818888"/>
            <a:ext cx="23317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400" b="1">
                <a:solidFill>
                  <a:srgbClr val="F4F6FF"/>
                </a:solidFill>
                <a:latin typeface="Aptos"/>
              </a:defRPr>
            </a:pPr>
            <a:r>
              <a:t>React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Notifications, Authentication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Platform services supporting reliable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19072"/>
            <a:ext cx="54864" cy="1362456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01368"/>
            <a:ext cx="477316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473659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JWT-based access, login/registration and role checks in backend APIs.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12064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19072"/>
            <a:ext cx="54864" cy="1362456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801368"/>
            <a:ext cx="477316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PUSH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212848"/>
            <a:ext cx="473659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Firebase Cloud Messaging, browser token registration and backend send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12064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76472"/>
            <a:ext cx="54864" cy="1362456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58768"/>
            <a:ext cx="477316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70248"/>
            <a:ext cx="473659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PostgreSQL for core records; MongoDB for supporting behavioral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120640" cy="1508760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76472"/>
            <a:ext cx="54864" cy="1362456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858768"/>
            <a:ext cx="477316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600" b="1">
                <a:solidFill>
                  <a:srgbClr val="F4F6FF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270248"/>
            <a:ext cx="4736592" cy="850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300" b="0">
                <a:solidFill>
                  <a:srgbClr val="AEB8D2"/>
                </a:solidFill>
                <a:latin typeface="Aptos"/>
              </a:defRPr>
            </a:pPr>
            <a:r>
              <a:t>API, end-to-end, performance and security test suites are included.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84048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2700" b="1">
                <a:solidFill>
                  <a:srgbClr val="F4F6FF"/>
                </a:solidFill>
                <a:latin typeface="Aptos"/>
              </a:defRPr>
            </a:pPr>
            <a:r>
              <a:t>Technology Stack &amp; Local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50976"/>
            <a:ext cx="105156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200" b="0">
                <a:solidFill>
                  <a:srgbClr val="AEB8D2"/>
                </a:solidFill>
                <a:latin typeface="Aptos"/>
              </a:defRPr>
            </a:pPr>
            <a:r>
              <a:t>Based on the uploaded source files and your reported Docker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81912"/>
            <a:ext cx="54864" cy="877824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64207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75688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React.js • JavaScript •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581912"/>
            <a:ext cx="54864" cy="877824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664207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075688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Python • FastAPI • 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62072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35224"/>
            <a:ext cx="54864" cy="877824"/>
          </a:xfrm>
          <a:prstGeom prst="rect">
            <a:avLst/>
          </a:prstGeom>
          <a:solidFill>
            <a:srgbClr val="4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017520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29000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PostgreSQL • MongoDB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62072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935224"/>
            <a:ext cx="54864" cy="877824"/>
          </a:xfrm>
          <a:prstGeom prst="rect">
            <a:avLst/>
          </a:prstGeom>
          <a:solidFill>
            <a:srgbClr val="FF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017520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429000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Scikit-learn • XGBoost • TensorFlow • PyTorch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15383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288536"/>
            <a:ext cx="54864" cy="877824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370831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782312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Firebase Cloud Messaging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15383"/>
            <a:ext cx="5166360" cy="1024128"/>
          </a:xfrm>
          <a:prstGeom prst="roundRect">
            <a:avLst/>
          </a:prstGeom>
          <a:solidFill>
            <a:srgbClr val="1C264C"/>
          </a:solidFill>
          <a:ln w="10160">
            <a:solidFill>
              <a:srgbClr val="3B4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288536"/>
            <a:ext cx="54864" cy="877824"/>
          </a:xfrm>
          <a:prstGeom prst="rect">
            <a:avLst/>
          </a:prstGeom>
          <a:solidFill>
            <a:srgbClr val="37C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8" y="4370831"/>
            <a:ext cx="481888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400" b="1">
                <a:solidFill>
                  <a:srgbClr val="F4F6FF"/>
                </a:solidFill>
                <a:latin typeface="Aptos"/>
              </a:defRPr>
            </a:pPr>
            <a:r>
              <a:t>Deployment &amp;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782312"/>
            <a:ext cx="4782312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100" b="0">
                <a:solidFill>
                  <a:srgbClr val="AEB8D2"/>
                </a:solidFill>
                <a:latin typeface="Aptos"/>
              </a:defRPr>
            </a:pPr>
            <a:r>
              <a:t>Docker • Docker Compose • GitHub • VS Code • Postman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0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67091F-91A1-4D51-AD88-D889AE220852}"/>
              </a:ext>
            </a:extLst>
          </p:cNvPr>
          <p:cNvSpPr/>
          <p:nvPr/>
        </p:nvSpPr>
        <p:spPr>
          <a:xfrm>
            <a:off x="3215148" y="2241755"/>
            <a:ext cx="5594555" cy="15189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612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lbhugar21@gmail.com</cp:lastModifiedBy>
  <cp:revision>2</cp:revision>
  <dcterms:created xsi:type="dcterms:W3CDTF">2013-01-27T09:14:16Z</dcterms:created>
  <dcterms:modified xsi:type="dcterms:W3CDTF">2026-10-16T12:22:52Z</dcterms:modified>
  <cp:category/>
</cp:coreProperties>
</file>