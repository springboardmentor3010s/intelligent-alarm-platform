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5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62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74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857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3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40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9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469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9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321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11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70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9424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192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526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313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88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329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97F0743-4593-47DE-8593-E61C0B1EB1CA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8B1CF-69D0-417A-8CEF-6F984CAA3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0468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3F06-6B3B-F30D-1F8F-103AFDD9C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6515" y="1709024"/>
            <a:ext cx="9404723" cy="332415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5400" b="1" dirty="0">
                <a:latin typeface="Algerian" panose="04020705040A02060702" pitchFamily="82" charset="0"/>
                <a:ea typeface="Segoe UI Black" panose="020B0A02040204020203" pitchFamily="34" charset="0"/>
              </a:rPr>
              <a:t>MILESTONE 3:</a:t>
            </a:r>
            <a:br>
              <a:rPr lang="en-IN" dirty="0"/>
            </a:br>
            <a:r>
              <a:rPr lang="en-IN" dirty="0"/>
              <a:t>  </a:t>
            </a:r>
            <a:r>
              <a:rPr lang="en-IN" b="1" dirty="0"/>
              <a:t>Adaptive Intelligence   &amp;  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003375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5CEC96-3944-205E-EF3F-E5EA8D33CD13}"/>
              </a:ext>
            </a:extLst>
          </p:cNvPr>
          <p:cNvSpPr txBox="1"/>
          <p:nvPr/>
        </p:nvSpPr>
        <p:spPr>
          <a:xfrm>
            <a:off x="962107" y="944249"/>
            <a:ext cx="11911053" cy="4194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Objective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Main Goals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user wake-up </a:t>
            </a:r>
            <a:r>
              <a:rPr lang="en-IN" dirty="0" err="1"/>
              <a:t>behavior</a:t>
            </a:r>
            <a:endParaRPr lang="en-IN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Track challenge performance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Calculate habit performance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Automatically adjust challenge difficulty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 personalized recommendations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Display </a:t>
            </a:r>
            <a:r>
              <a:rPr lang="en-IN" dirty="0" err="1"/>
              <a:t>behavioral</a:t>
            </a:r>
            <a:r>
              <a:rPr lang="en-IN" dirty="0"/>
              <a:t> insights through analytics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Workflow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User </a:t>
            </a:r>
            <a:r>
              <a:rPr lang="en-IN" b="1" dirty="0" err="1"/>
              <a:t>Behavior</a:t>
            </a:r>
            <a:r>
              <a:rPr lang="en-IN" b="1" dirty="0"/>
              <a:t> → Analysis → Habit Score → Difficulty Adaptation → Recommendations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306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0F7EA4-9A3D-161F-1F6D-B80855035614}"/>
              </a:ext>
            </a:extLst>
          </p:cNvPr>
          <p:cNvSpPr txBox="1"/>
          <p:nvPr/>
        </p:nvSpPr>
        <p:spPr>
          <a:xfrm>
            <a:off x="4691270" y="170528"/>
            <a:ext cx="7500730" cy="6271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 err="1"/>
              <a:t>Behavioral</a:t>
            </a:r>
            <a:r>
              <a:rPr lang="en-IN" b="1" dirty="0"/>
              <a:t> Analytics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COGNIA collects and </a:t>
            </a:r>
            <a:r>
              <a:rPr lang="en-IN" dirty="0" err="1"/>
              <a:t>analyzes</a:t>
            </a:r>
            <a:r>
              <a:rPr lang="en-IN" dirty="0"/>
              <a:t> user </a:t>
            </a:r>
            <a:r>
              <a:rPr lang="en-IN" dirty="0" err="1"/>
              <a:t>behavior</a:t>
            </a:r>
            <a:r>
              <a:rPr lang="en-IN" dirty="0"/>
              <a:t> during wake-up sessions.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Data Tracked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Total wake-ups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Successful wake-ups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Snooze frequency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Snooze count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Challenge completion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Correct and incorrect answers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Challenge accuracy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Challenge difficulty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Wake-up history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Example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4 challenges → 100% accuracy → Good performance detected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BBA31F-9099-46EE-CFE0-33B4B62D4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322"/>
          <a:stretch>
            <a:fillRect/>
          </a:stretch>
        </p:blipFill>
        <p:spPr>
          <a:xfrm>
            <a:off x="190832" y="1903109"/>
            <a:ext cx="4500438" cy="280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857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E1C27C-BA94-A724-C9C2-B791CC5C79F0}"/>
              </a:ext>
            </a:extLst>
          </p:cNvPr>
          <p:cNvSpPr txBox="1"/>
          <p:nvPr/>
        </p:nvSpPr>
        <p:spPr>
          <a:xfrm>
            <a:off x="733509" y="289679"/>
            <a:ext cx="6557198" cy="609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b="1" dirty="0"/>
              <a:t>Habit Scoring</a:t>
            </a:r>
          </a:p>
          <a:p>
            <a:pPr>
              <a:lnSpc>
                <a:spcPct val="200000"/>
              </a:lnSpc>
              <a:buNone/>
            </a:pPr>
            <a:r>
              <a:rPr lang="en-IN" dirty="0"/>
              <a:t>COGNIA calculates an overall </a:t>
            </a:r>
            <a:r>
              <a:rPr lang="en-IN" b="1" dirty="0"/>
              <a:t>Habit Score</a:t>
            </a:r>
            <a:r>
              <a:rPr lang="en-IN" dirty="0"/>
              <a:t> using multiple </a:t>
            </a:r>
            <a:r>
              <a:rPr lang="en-IN" dirty="0" err="1"/>
              <a:t>behavioral</a:t>
            </a:r>
            <a:r>
              <a:rPr lang="en-IN" dirty="0"/>
              <a:t> factors.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Weighted Scoring Model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Current Example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Wake-up Consistency:</a:t>
            </a:r>
            <a:r>
              <a:rPr lang="en-IN" dirty="0"/>
              <a:t> 100%</a:t>
            </a:r>
            <a:br>
              <a:rPr lang="en-IN" dirty="0"/>
            </a:br>
            <a:r>
              <a:rPr lang="en-IN" b="1" dirty="0"/>
              <a:t>Challenge Completion:</a:t>
            </a:r>
            <a:r>
              <a:rPr lang="en-IN" dirty="0"/>
              <a:t> 100%</a:t>
            </a:r>
            <a:br>
              <a:rPr lang="en-IN" dirty="0"/>
            </a:br>
            <a:r>
              <a:rPr lang="en-IN" b="1" dirty="0"/>
              <a:t>Snooze Reduction:</a:t>
            </a:r>
            <a:r>
              <a:rPr lang="en-IN" dirty="0"/>
              <a:t> 100%</a:t>
            </a:r>
            <a:br>
              <a:rPr lang="en-IN" dirty="0"/>
            </a:br>
            <a:r>
              <a:rPr lang="en-IN" b="1" dirty="0"/>
              <a:t>Sleep Schedule:</a:t>
            </a:r>
            <a:r>
              <a:rPr lang="en-IN" dirty="0"/>
              <a:t> 100%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Overall Habit Score</a:t>
            </a:r>
          </a:p>
          <a:p>
            <a:pPr>
              <a:lnSpc>
                <a:spcPct val="200000"/>
              </a:lnSpc>
              <a:buNone/>
            </a:pPr>
            <a:r>
              <a:rPr lang="en-IN" b="1" dirty="0"/>
              <a:t>100%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7754B-2BA4-575C-8FCE-6BF93E12E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296" y="2130950"/>
            <a:ext cx="6782462" cy="286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021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56E296-6816-F53F-978A-FD7339DCD980}"/>
              </a:ext>
            </a:extLst>
          </p:cNvPr>
          <p:cNvSpPr txBox="1"/>
          <p:nvPr/>
        </p:nvSpPr>
        <p:spPr>
          <a:xfrm>
            <a:off x="5255812" y="453224"/>
            <a:ext cx="6864625" cy="6687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Adaptive Difficulty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COGNIA automatically adjusts the next challenge difficulty based on user performance.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Difficulty Levels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Beginner → Easy → Medium → Hard → Expert</a:t>
            </a: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Example from COGNIA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4 challenges completed</a:t>
            </a: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dirty="0"/>
              <a:t>↓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100% challenge accuracy</a:t>
            </a: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dirty="0"/>
              <a:t>↓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High performance detected</a:t>
            </a: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dirty="0"/>
              <a:t>↓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Next Challenge: HARD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This helps maintain appropriate cognitive engagement.</a:t>
            </a:r>
          </a:p>
          <a:p>
            <a:pPr>
              <a:lnSpc>
                <a:spcPct val="150000"/>
              </a:lnSpc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8218C2-102F-79F1-E651-BBEA0E9B5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0" y="2106240"/>
            <a:ext cx="4861981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327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6B8B41-E767-20DB-C9E2-9A0545528A83}"/>
              </a:ext>
            </a:extLst>
          </p:cNvPr>
          <p:cNvSpPr txBox="1"/>
          <p:nvPr/>
        </p:nvSpPr>
        <p:spPr>
          <a:xfrm>
            <a:off x="590385" y="85167"/>
            <a:ext cx="6094674" cy="6687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COGNIA AI Insights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The Recommendation Engine generates suggestions using the user's </a:t>
            </a:r>
            <a:r>
              <a:rPr lang="en-IN" dirty="0" err="1"/>
              <a:t>behavioral</a:t>
            </a:r>
            <a:r>
              <a:rPr lang="en-IN" dirty="0"/>
              <a:t> data.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Current Recommendations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Try harder cognitive challenges to improve engagement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Maintain a consistent sleep and wake-up schedule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No snooze events detected in recorded wake-up sessions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Purpose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Recommendations help users: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 wake-up habits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Maintain consistency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 challenge engagement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Follow better routines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2FE63-E303-CE99-23BA-09DB470D1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927" y="4028385"/>
            <a:ext cx="5953393" cy="25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6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80C830-483C-EAA6-36EC-371F3D30CC18}"/>
              </a:ext>
            </a:extLst>
          </p:cNvPr>
          <p:cNvSpPr txBox="1"/>
          <p:nvPr/>
        </p:nvSpPr>
        <p:spPr>
          <a:xfrm>
            <a:off x="414462" y="988628"/>
            <a:ext cx="11363075" cy="4194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Smart Analytics Dashboard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Key Results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Tracks </a:t>
            </a:r>
            <a:r>
              <a:rPr lang="en-IN" b="1" dirty="0"/>
              <a:t>challenge performance and wake-up </a:t>
            </a:r>
            <a:r>
              <a:rPr lang="en-IN" b="1" dirty="0" err="1"/>
              <a:t>behavior</a:t>
            </a:r>
            <a:endParaRPr lang="en-IN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Calculates a </a:t>
            </a:r>
            <a:r>
              <a:rPr lang="en-IN" b="1" dirty="0"/>
              <a:t>personalized Habit Score</a:t>
            </a:r>
            <a:endParaRPr lang="en-IN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Monitors </a:t>
            </a:r>
            <a:r>
              <a:rPr lang="en-IN" b="1" dirty="0"/>
              <a:t>snooze and wake-up consistency</a:t>
            </a:r>
            <a:endParaRPr lang="en-IN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Automatically determines the </a:t>
            </a:r>
            <a:r>
              <a:rPr lang="en-IN" b="1" dirty="0"/>
              <a:t>next challenge difficulty</a:t>
            </a:r>
            <a:endParaRPr lang="en-IN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Generates </a:t>
            </a:r>
            <a:r>
              <a:rPr lang="en-IN" b="1" dirty="0" err="1"/>
              <a:t>behavior</a:t>
            </a:r>
            <a:r>
              <a:rPr lang="en-IN" b="1" dirty="0"/>
              <a:t>-based AI recommendations</a:t>
            </a: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🎯 Result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The dashboard provides a clear view of the user's cognitive performance and wake-up habits, enabling COGNIA to deliver a personalized alarm experience.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6633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64D35-A0CD-6A83-F448-AFDE2D377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803" y="2820858"/>
            <a:ext cx="9404723" cy="1400530"/>
          </a:xfrm>
        </p:spPr>
        <p:txBody>
          <a:bodyPr/>
          <a:lstStyle/>
          <a:p>
            <a:r>
              <a:rPr lang="en-IN" sz="5400" b="1" dirty="0">
                <a:latin typeface="Calisto MT" panose="0204060305050503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736950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</TotalTime>
  <Words>304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Calisto MT</vt:lpstr>
      <vt:lpstr>Century Gothic</vt:lpstr>
      <vt:lpstr>Wingdings 3</vt:lpstr>
      <vt:lpstr>Ion</vt:lpstr>
      <vt:lpstr>MILESTONE 3:   Adaptive Intelligence   &amp;   Recommendations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Kavinayaa murugesan</dc:creator>
  <cp:lastModifiedBy>Kavinayaa murugesan</cp:lastModifiedBy>
  <cp:revision>1</cp:revision>
  <dcterms:created xsi:type="dcterms:W3CDTF">2026-09-29T10:49:37Z</dcterms:created>
  <dcterms:modified xsi:type="dcterms:W3CDTF">2026-09-29T11:24:29Z</dcterms:modified>
</cp:coreProperties>
</file>