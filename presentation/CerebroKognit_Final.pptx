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presenting CerebroKognit — an intelligent cognitive alarm platform we built as our internship capstone. It turns the most common daily annoyance, hitting snooze, into a brain-training signal. We spent 8 milestones across mobile, backend, web, and ML, delivering a production-shaped, fully tested system. Over the next few minutes I'll show the problem, the architecture, what we built, how we validated it, and what's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roadmap. I'll frame the problem first, then the product and architecture, walk through the four delivered frontends and the ML engine, show the testing and quality backbone, and end with impact and the roadmap ahead. The through-line: everything I claim is backed by automated tests and verified end-to-end flows.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brains are slowest right after waking. Existing alarm apps treat that as a non-issue — they ring and stop, and snooze teaches the brain to ignore the signal. There's no personalization and no feedback loop. CerebroKognit attacks this directly: the act of verifying you're awake becomes a short cognitive challenge, so waking engages your brain immediately and builds a measurable habit.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is a loop. A smart alarm wakes you. Before you can dismiss it you complete a short cognitive challenge verified on the server. Performance feeds adaptive difficulty, a daily habit score, and coach-level recommendations for sleep and wake-up timing. This loop repeats daily, compounding better habits.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clients — a React Native mobile app, a React web dashboard, and an ML engine — are fronted by one authoritative FastAPI backend over PostgreSQL. A gateway middleware enforces rate limiting, structured logging, and error envelopes. The ML engine adapts difficulty using a trained PyTorch model with a rule-based fallback so a lean runtime can still function without the heavy dependency.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executed in eight milestone-driven phases. M1 locked auth, RBAC, profiles, and timezone-aware alarms. M2 built the server-authoritative challenge engine — the security backbone so answers can't leak. M3 added adaptive difficulty via a trained PyTorch model, recommendations, and real-data dashboards. M4 hardened everything: structured errors, CI, Docker deployment, an admin console, PDF/Excel reports, mobile test coverage, and an offline sync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exposes 30+ REST endpoints across auth, users, alarms, challenges, habits, analytics, recommendations, reports, sync, and notifications. Security is first-class: env-driven secrets, RBAC on every protected route, and a server-authoritative challenge engine so answers are never exposed to the client. Reliability comes from structured error envelopes, rate limiting, request tracking, migrations, and idempotent sync.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mobile app drives the core loop and is designed to keep working when connectivity is lost: it caches alarms, challenges, and habit scores, falls back to that cache with a visible banner, and syncs via an idempotent engine when it reconnects. Push-token registration is wired on login. Because these modules are pure and injectable, they're covered by 31 jest tests, making the offline behavior verifiable in CI even without a phone.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ML layer makes difficulty genuinely personal. A PyTorch model — trained to 93.7% validation accuracy on a synthetic rule-based dataset — takes your success rate, response time, snooze count, and streak, and picks the next challenge level. If the heavy runtime isn't available, a deterministic fallback keeps everything working. Result: challenges stay in the sweet spot — hard enough to engage, easy enough not to frustrate.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 dashboard is organized by Track, Plan, and Account. Track pages show live habit-history charts and recommendations from real data. Plan delivers reports in four formats. Account includes an RBAC-gated Admin console. A nice quality story: our own Vitest suite caught a bug where charts were silently plotting empty data because of a field-name casing mismatch — exactly the kind of regression automated coverage is meant to catch.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was a first-class deliverable, not an afterthought. We have 32 backend pytest tests, 31 mobile jest tests, and 8 web Vitest tests, plus two in-process smoke suites covering the full flows. GitHub Actions runs ruff, pytest, both smokes, the web build and tests, and the mobile suite on every push. We verified the entire stack over HTTP and confirmed PDF and Excel exports inside the container, and tested the Docker deployment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engineering challenges worth calling out. First, answer security — we made the challenge authoritative on the server so the client never knows the correct answer. Second, environment drift — the local venv moved to Python 3.14 while Docker pinned 3.11; that surfaced a latent forward-reference bug that only crashed under 3.11, which we caught and fixed rather than papering over. Third, real-device wiring — deriving the backend host from Expo's hostUri and adding a relay fallback plus explicit 401 handling made the mobile E2E flow actually work on a physical phone.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Taken together, this project demonstrates real breadth and maturity. It's a complete full-stack system across three clients plus ML and DevOps. Security is designed in, not added on. The automated test suite is substantial and has caught actual bugs. The mobile app is offline-first and syncs idempotently. And the delivery path is production-shaped — containerized with migrations, structured errors, rate limiting, and a lean runtime.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is complete for scope, with a clear, honest roadmap ahead. Remaining items are FCM/APNs delivery and local alarm scheduling behind the existing provider protocol, broader flow-level tests, and a real cloud deployment. Crucially, our docs use an implemented / scaffold / planned legend so nothing unimplemented is presented as done — a discipline we're proud of.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CerebroKognit. Thank you for your attention — I'm happy to take questions on the architecture, the challenge engine's security model, the ML difficulty adaptation, or the offline sync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1097280"/>
          </a:xfrm>
          <a:prstGeom prst="rect">
            <a:avLst/>
          </a:prstGeom>
          <a:noFill/>
        </p:spPr>
        <p:txBody>
          <a:bodyPr wrap="square" anchor="t">
            <a:spAutoFit/>
          </a:bodyPr>
          <a:lstStyle/>
          <a:p>
            <a:pPr algn="ctr"/>
            <a:r>
              <a:rPr sz="6000" b="1">
                <a:solidFill>
                  <a:srgbClr val="FFFFFF"/>
                </a:solidFill>
                <a:latin typeface="Calibri"/>
              </a:rPr>
              <a:t>CerebroKognit</a:t>
            </a:r>
          </a:p>
        </p:txBody>
      </p:sp>
      <p:sp>
        <p:nvSpPr>
          <p:cNvPr id="4" name="TextBox 3"/>
          <p:cNvSpPr txBox="1"/>
          <p:nvPr/>
        </p:nvSpPr>
        <p:spPr>
          <a:xfrm>
            <a:off x="914400" y="2926080"/>
            <a:ext cx="10332720" cy="731520"/>
          </a:xfrm>
          <a:prstGeom prst="rect">
            <a:avLst/>
          </a:prstGeom>
          <a:noFill/>
        </p:spPr>
        <p:txBody>
          <a:bodyPr wrap="square" anchor="t">
            <a:spAutoFit/>
          </a:bodyPr>
          <a:lstStyle/>
          <a:p>
            <a:pPr algn="ctr"/>
            <a:r>
              <a:rPr sz="2600" b="0">
                <a:solidFill>
                  <a:srgbClr val="CAD5FF"/>
                </a:solidFill>
                <a:latin typeface="Calibri"/>
              </a:rPr>
              <a:t>Intelligent Cognitive Alarm Platform</a:t>
            </a:r>
          </a:p>
        </p:txBody>
      </p:sp>
      <p:sp>
        <p:nvSpPr>
          <p:cNvPr id="5" name="TextBox 4"/>
          <p:cNvSpPr txBox="1"/>
          <p:nvPr/>
        </p:nvSpPr>
        <p:spPr>
          <a:xfrm>
            <a:off x="914400" y="3931920"/>
            <a:ext cx="10332720" cy="457200"/>
          </a:xfrm>
          <a:prstGeom prst="rect">
            <a:avLst/>
          </a:prstGeom>
          <a:noFill/>
        </p:spPr>
        <p:txBody>
          <a:bodyPr wrap="square" anchor="t">
            <a:spAutoFit/>
          </a:bodyPr>
          <a:lstStyle/>
          <a:p>
            <a:pPr algn="ctr"/>
            <a:r>
              <a:rPr sz="1800" b="0">
                <a:solidFill>
                  <a:srgbClr val="10B981"/>
                </a:solidFill>
                <a:latin typeface="Calibri"/>
              </a:rPr>
              <a:t>Wake up sharper, not just earlier.</a:t>
            </a:r>
          </a:p>
        </p:txBody>
      </p:sp>
      <p:sp>
        <p:nvSpPr>
          <p:cNvPr id="6" name="Rounded Rectangle 5"/>
          <p:cNvSpPr/>
          <p:nvPr/>
        </p:nvSpPr>
        <p:spPr>
          <a:xfrm>
            <a:off x="4754880" y="5120640"/>
            <a:ext cx="2651760" cy="502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Internship Capstone · B3</a:t>
            </a:r>
          </a:p>
        </p:txBody>
      </p:sp>
      <p:sp>
        <p:nvSpPr>
          <p:cNvPr id="7" name="TextBox 6"/>
          <p:cNvSpPr txBox="1"/>
          <p:nvPr/>
        </p:nvSpPr>
        <p:spPr>
          <a:xfrm>
            <a:off x="914400" y="5943600"/>
            <a:ext cx="10332720" cy="457200"/>
          </a:xfrm>
          <a:prstGeom prst="rect">
            <a:avLst/>
          </a:prstGeom>
          <a:noFill/>
        </p:spPr>
        <p:txBody>
          <a:bodyPr wrap="square" anchor="t">
            <a:spAutoFit/>
          </a:bodyPr>
          <a:lstStyle/>
          <a:p>
            <a:pPr algn="ctr"/>
            <a:r>
              <a:rPr sz="1500" b="0">
                <a:solidFill>
                  <a:srgbClr val="9AA5D0"/>
                </a:solidFill>
                <a:latin typeface="Calibri"/>
              </a:rPr>
              <a:t>Full-stack · React Native + FastAPI + PostgreSQL + ML (PyTorch)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What we'll cover</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Roadmap of the presentation</a:t>
            </a:r>
          </a:p>
        </p:txBody>
      </p:sp>
      <p:sp>
        <p:nvSpPr>
          <p:cNvPr id="6" name="TextBox 5"/>
          <p:cNvSpPr txBox="1"/>
          <p:nvPr/>
        </p:nvSpPr>
        <p:spPr>
          <a:xfrm>
            <a:off x="731520" y="1371600"/>
            <a:ext cx="10698480" cy="4572000"/>
          </a:xfrm>
          <a:prstGeom prst="rect">
            <a:avLst/>
          </a:prstGeom>
          <a:noFill/>
        </p:spPr>
        <p:txBody>
          <a:bodyPr wrap="square">
            <a:spAutoFit/>
          </a:bodyPr>
          <a:lstStyle/>
          <a:p>
            <a:pPr>
              <a:spcAft>
                <a:spcPts val="1400"/>
              </a:spcAft>
            </a:pPr>
            <a:r>
              <a:rPr b="1" sz="1800">
                <a:solidFill>
                  <a:srgbClr val="1E293B"/>
                </a:solidFill>
              </a:rPr>
              <a:t>1 · Problem &amp; opportunity — </a:t>
            </a:r>
            <a:r>
              <a:rPr sz="1800">
                <a:solidFill>
                  <a:srgbClr val="6B7280"/>
                </a:solidFill>
              </a:rPr>
              <a:t>why a cognitive alarm, and the market need</a:t>
            </a:r>
          </a:p>
          <a:p>
            <a:pPr>
              <a:spcAft>
                <a:spcPts val="1400"/>
              </a:spcAft>
            </a:pPr>
            <a:r>
              <a:rPr b="1" sz="1800">
                <a:solidFill>
                  <a:srgbClr val="1E293B"/>
                </a:solidFill>
              </a:rPr>
              <a:t>2 · Solution overview — </a:t>
            </a:r>
            <a:r>
              <a:rPr sz="1800">
                <a:solidFill>
                  <a:srgbClr val="6B7280"/>
                </a:solidFill>
              </a:rPr>
              <a:t>the core loop and architecture</a:t>
            </a:r>
          </a:p>
          <a:p>
            <a:pPr>
              <a:spcAft>
                <a:spcPts val="1400"/>
              </a:spcAft>
            </a:pPr>
            <a:r>
              <a:rPr b="1" sz="1800">
                <a:solidFill>
                  <a:srgbClr val="1E293B"/>
                </a:solidFill>
              </a:rPr>
              <a:t>3 · What we built — </a:t>
            </a:r>
            <a:r>
              <a:rPr sz="1800">
                <a:solidFill>
                  <a:srgbClr val="6B7280"/>
                </a:solidFill>
              </a:rPr>
              <a:t>mobile, backend, web, ML across 8 milestones</a:t>
            </a:r>
          </a:p>
          <a:p>
            <a:pPr>
              <a:spcAft>
                <a:spcPts val="1400"/>
              </a:spcAft>
            </a:pPr>
            <a:r>
              <a:rPr b="1" sz="1800">
                <a:solidFill>
                  <a:srgbClr val="1E293B"/>
                </a:solidFill>
              </a:rPr>
              <a:t>4 · Validation &amp; quality — </a:t>
            </a:r>
            <a:r>
              <a:rPr sz="1800">
                <a:solidFill>
                  <a:srgbClr val="6B7280"/>
                </a:solidFill>
              </a:rPr>
              <a:t>72 automated tests + end-to-end flows verified</a:t>
            </a:r>
          </a:p>
          <a:p>
            <a:pPr>
              <a:spcAft>
                <a:spcPts val="1400"/>
              </a:spcAft>
            </a:pPr>
            <a:r>
              <a:rPr b="1" sz="1800">
                <a:solidFill>
                  <a:srgbClr val="1E293B"/>
                </a:solidFill>
              </a:rPr>
              <a:t>5 · Challenges &amp; demo highlights — </a:t>
            </a:r>
            <a:r>
              <a:rPr sz="1800">
                <a:solidFill>
                  <a:srgbClr val="6B7280"/>
                </a:solidFill>
              </a:rPr>
              <a:t>what we solved along the way</a:t>
            </a:r>
          </a:p>
          <a:p>
            <a:pPr>
              <a:spcAft>
                <a:spcPts val="1400"/>
              </a:spcAft>
            </a:pPr>
            <a:r>
              <a:rPr b="1" sz="1800">
                <a:solidFill>
                  <a:srgbClr val="1E293B"/>
                </a:solidFill>
              </a:rPr>
              <a:t>6 · Impact &amp; next steps — </a:t>
            </a:r>
            <a:r>
              <a:rPr sz="1800">
                <a:solidFill>
                  <a:srgbClr val="6B7280"/>
                </a:solidFill>
              </a:rPr>
              <a:t>scale-out path and remaining backlog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The problem: our morning brains are the problem</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Grocery-list decision fatigue, before coffee</a:t>
            </a:r>
          </a:p>
        </p:txBody>
      </p:sp>
      <p:sp>
        <p:nvSpPr>
          <p:cNvPr id="6" name="TextBox 5"/>
          <p:cNvSpPr txBox="1"/>
          <p:nvPr/>
        </p:nvSpPr>
        <p:spPr>
          <a:xfrm>
            <a:off x="731520" y="1188720"/>
            <a:ext cx="10698480" cy="548640"/>
          </a:xfrm>
          <a:prstGeom prst="rect">
            <a:avLst/>
          </a:prstGeom>
          <a:noFill/>
        </p:spPr>
        <p:txBody>
          <a:bodyPr wrap="square" anchor="t">
            <a:spAutoFit/>
          </a:bodyPr>
          <a:lstStyle/>
          <a:p>
            <a:pPr algn="l"/>
            <a:r>
              <a:rPr sz="2000" b="1">
                <a:solidFill>
                  <a:srgbClr val="1E293B"/>
                </a:solidFill>
                <a:latin typeface="Calibri"/>
              </a:rPr>
              <a:t>Waking up is the hardest cognitive task of the day — and alarm apps ignore it.</a:t>
            </a:r>
          </a:p>
        </p:txBody>
      </p:sp>
      <p:sp>
        <p:nvSpPr>
          <p:cNvPr id="7" name="TextBox 6"/>
          <p:cNvSpPr txBox="1"/>
          <p:nvPr/>
        </p:nvSpPr>
        <p:spPr>
          <a:xfrm>
            <a:off x="731520" y="1920240"/>
            <a:ext cx="5486400" cy="3840480"/>
          </a:xfrm>
          <a:prstGeom prst="rect">
            <a:avLst/>
          </a:prstGeom>
          <a:noFill/>
        </p:spPr>
        <p:txBody>
          <a:bodyPr wrap="square">
            <a:spAutoFit/>
          </a:bodyPr>
          <a:lstStyle/>
          <a:p>
            <a:pPr>
              <a:spcAft>
                <a:spcPts val="1000"/>
              </a:spcAft>
            </a:pPr>
            <a:r>
              <a:rPr sz="1600">
                <a:solidFill>
                  <a:srgbClr val="6B7280"/>
                </a:solidFill>
              </a:rPr>
              <a:t>Snooze habits reinforce poor sleep + grogginess (sleep inertia)</a:t>
            </a:r>
          </a:p>
          <a:p>
            <a:pPr>
              <a:spcAft>
                <a:spcPts val="1000"/>
              </a:spcAft>
            </a:pPr>
            <a:r>
              <a:rPr sz="1600">
                <a:solidFill>
                  <a:srgbClr val="6B7280"/>
                </a:solidFill>
              </a:rPr>
              <a:t>Ordinary alarms are passive — they ring and stop</a:t>
            </a:r>
          </a:p>
          <a:p>
            <a:pPr>
              <a:spcAft>
                <a:spcPts val="1000"/>
              </a:spcAft>
            </a:pPr>
            <a:r>
              <a:rPr sz="1600">
                <a:solidFill>
                  <a:srgbClr val="6B7280"/>
                </a:solidFill>
              </a:rPr>
              <a:t>Users have no feedback on their wake-up behavior</a:t>
            </a:r>
          </a:p>
          <a:p>
            <a:pPr>
              <a:spcAft>
                <a:spcPts val="1000"/>
              </a:spcAft>
            </a:pPr>
            <a:r>
              <a:rPr sz="1600">
                <a:solidFill>
                  <a:srgbClr val="6B7280"/>
                </a:solidFill>
              </a:rPr>
              <a:t>No personalization: everyone gets the same beep</a:t>
            </a:r>
          </a:p>
        </p:txBody>
      </p:sp>
      <p:sp>
        <p:nvSpPr>
          <p:cNvPr id="8" name="Rounded Rectangle 7"/>
          <p:cNvSpPr/>
          <p:nvPr/>
        </p:nvSpPr>
        <p:spPr>
          <a:xfrm>
            <a:off x="6492240" y="1920240"/>
            <a:ext cx="4937760" cy="38404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2057400"/>
            <a:ext cx="82296" cy="3566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2057400"/>
            <a:ext cx="4389120" cy="457200"/>
          </a:xfrm>
          <a:prstGeom prst="rect">
            <a:avLst/>
          </a:prstGeom>
          <a:noFill/>
        </p:spPr>
        <p:txBody>
          <a:bodyPr wrap="square" anchor="t">
            <a:spAutoFit/>
          </a:bodyPr>
          <a:lstStyle/>
          <a:p>
            <a:pPr algn="l"/>
            <a:r>
              <a:rPr sz="1600" b="1">
                <a:solidFill>
                  <a:srgbClr val="1E293B"/>
                </a:solidFill>
                <a:latin typeface="Calibri"/>
              </a:rPr>
              <a:t>Insight</a:t>
            </a:r>
          </a:p>
        </p:txBody>
      </p:sp>
      <p:sp>
        <p:nvSpPr>
          <p:cNvPr id="11" name="TextBox 10"/>
          <p:cNvSpPr txBox="1"/>
          <p:nvPr/>
        </p:nvSpPr>
        <p:spPr>
          <a:xfrm>
            <a:off x="6903720" y="2514600"/>
            <a:ext cx="4389120" cy="3108960"/>
          </a:xfrm>
          <a:prstGeom prst="rect">
            <a:avLst/>
          </a:prstGeom>
          <a:noFill/>
        </p:spPr>
        <p:txBody>
          <a:bodyPr wrap="square" anchor="t">
            <a:spAutoFit/>
          </a:bodyPr>
          <a:lstStyle/>
          <a:p>
            <a:pPr algn="l"/>
            <a:r>
              <a:rPr sz="1300" b="0">
                <a:solidFill>
                  <a:srgbClr val="6B7280"/>
                </a:solidFill>
                <a:latin typeface="Calibri"/>
              </a:rPr>
              <a:t>Dismissing an alarm takes cognitive effort. If we exercise that brain while waking, we convert a passive ring into an active, personalized habit-building signal.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Solution: the cognitive verification loop</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Wake → think → verify → improve</a:t>
            </a:r>
          </a:p>
        </p:txBody>
      </p:sp>
      <p:sp>
        <p:nvSpPr>
          <p:cNvPr id="6" name="Rounded Rectangle 5"/>
          <p:cNvSpPr/>
          <p:nvPr/>
        </p:nvSpPr>
        <p:spPr>
          <a:xfrm>
            <a:off x="640080" y="1463040"/>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00200"/>
            <a:ext cx="82296" cy="1737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00200"/>
            <a:ext cx="3017520" cy="457200"/>
          </a:xfrm>
          <a:prstGeom prst="rect">
            <a:avLst/>
          </a:prstGeom>
          <a:noFill/>
        </p:spPr>
        <p:txBody>
          <a:bodyPr wrap="square" anchor="t">
            <a:spAutoFit/>
          </a:bodyPr>
          <a:lstStyle/>
          <a:p>
            <a:pPr algn="l"/>
            <a:r>
              <a:rPr sz="1600" b="1">
                <a:solidFill>
                  <a:srgbClr val="1E293B"/>
                </a:solidFill>
                <a:latin typeface="Calibri"/>
              </a:rPr>
              <a:t>1 · Wake</a:t>
            </a:r>
          </a:p>
        </p:txBody>
      </p:sp>
      <p:sp>
        <p:nvSpPr>
          <p:cNvPr id="9" name="TextBox 8"/>
          <p:cNvSpPr txBox="1"/>
          <p:nvPr/>
        </p:nvSpPr>
        <p:spPr>
          <a:xfrm>
            <a:off x="1051560" y="2057400"/>
            <a:ext cx="3017520" cy="1280160"/>
          </a:xfrm>
          <a:prstGeom prst="rect">
            <a:avLst/>
          </a:prstGeom>
          <a:noFill/>
        </p:spPr>
        <p:txBody>
          <a:bodyPr wrap="square" anchor="t">
            <a:spAutoFit/>
          </a:bodyPr>
          <a:lstStyle/>
          <a:p>
            <a:pPr algn="l"/>
            <a:r>
              <a:rPr sz="1300" b="0">
                <a:solidFill>
                  <a:srgbClr val="6B7280"/>
                </a:solidFill>
                <a:latin typeface="Calibri"/>
              </a:rPr>
              <a:t>Smart alarm fires at your real wake-up time, factoring sleep + schedule.</a:t>
            </a:r>
          </a:p>
        </p:txBody>
      </p:sp>
      <p:sp>
        <p:nvSpPr>
          <p:cNvPr id="10" name="Rounded Rectangle 9"/>
          <p:cNvSpPr/>
          <p:nvPr/>
        </p:nvSpPr>
        <p:spPr>
          <a:xfrm>
            <a:off x="4343400" y="1463040"/>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600200"/>
            <a:ext cx="82296"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600200"/>
            <a:ext cx="3017520" cy="457200"/>
          </a:xfrm>
          <a:prstGeom prst="rect">
            <a:avLst/>
          </a:prstGeom>
          <a:noFill/>
        </p:spPr>
        <p:txBody>
          <a:bodyPr wrap="square" anchor="t">
            <a:spAutoFit/>
          </a:bodyPr>
          <a:lstStyle/>
          <a:p>
            <a:pPr algn="l"/>
            <a:r>
              <a:rPr sz="1600" b="1">
                <a:solidFill>
                  <a:srgbClr val="1E293B"/>
                </a:solidFill>
                <a:latin typeface="Calibri"/>
              </a:rPr>
              <a:t>2 · Think</a:t>
            </a:r>
          </a:p>
        </p:txBody>
      </p:sp>
      <p:sp>
        <p:nvSpPr>
          <p:cNvPr id="13" name="TextBox 12"/>
          <p:cNvSpPr txBox="1"/>
          <p:nvPr/>
        </p:nvSpPr>
        <p:spPr>
          <a:xfrm>
            <a:off x="4754880" y="2057400"/>
            <a:ext cx="3017520" cy="1280160"/>
          </a:xfrm>
          <a:prstGeom prst="rect">
            <a:avLst/>
          </a:prstGeom>
          <a:noFill/>
        </p:spPr>
        <p:txBody>
          <a:bodyPr wrap="square" anchor="t">
            <a:spAutoFit/>
          </a:bodyPr>
          <a:lstStyle/>
          <a:p>
            <a:pPr algn="l"/>
            <a:r>
              <a:rPr sz="1300" b="0">
                <a:solidFill>
                  <a:srgbClr val="6B7280"/>
                </a:solidFill>
                <a:latin typeface="Calibri"/>
              </a:rPr>
              <a:t>A short cognitive challenge (math / logic / memory / word / pattern / riddle / quick-quiz) is served before you can dismiss.</a:t>
            </a:r>
          </a:p>
        </p:txBody>
      </p:sp>
      <p:sp>
        <p:nvSpPr>
          <p:cNvPr id="14" name="Rounded Rectangle 13"/>
          <p:cNvSpPr/>
          <p:nvPr/>
        </p:nvSpPr>
        <p:spPr>
          <a:xfrm>
            <a:off x="8046720" y="1463040"/>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600200"/>
            <a:ext cx="82296" cy="17373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600200"/>
            <a:ext cx="3017520" cy="457200"/>
          </a:xfrm>
          <a:prstGeom prst="rect">
            <a:avLst/>
          </a:prstGeom>
          <a:noFill/>
        </p:spPr>
        <p:txBody>
          <a:bodyPr wrap="square" anchor="t">
            <a:spAutoFit/>
          </a:bodyPr>
          <a:lstStyle/>
          <a:p>
            <a:pPr algn="l"/>
            <a:r>
              <a:rPr sz="1600" b="1">
                <a:solidFill>
                  <a:srgbClr val="1E293B"/>
                </a:solidFill>
                <a:latin typeface="Calibri"/>
              </a:rPr>
              <a:t>3 · Verify</a:t>
            </a:r>
          </a:p>
        </p:txBody>
      </p:sp>
      <p:sp>
        <p:nvSpPr>
          <p:cNvPr id="17" name="TextBox 16"/>
          <p:cNvSpPr txBox="1"/>
          <p:nvPr/>
        </p:nvSpPr>
        <p:spPr>
          <a:xfrm>
            <a:off x="8458200" y="2057400"/>
            <a:ext cx="3017520" cy="1280160"/>
          </a:xfrm>
          <a:prstGeom prst="rect">
            <a:avLst/>
          </a:prstGeom>
          <a:noFill/>
        </p:spPr>
        <p:txBody>
          <a:bodyPr wrap="square" anchor="t">
            <a:spAutoFit/>
          </a:bodyPr>
          <a:lstStyle/>
          <a:p>
            <a:pPr algn="l"/>
            <a:r>
              <a:rPr sz="1300" b="0">
                <a:solidFill>
                  <a:srgbClr val="6B7280"/>
                </a:solidFill>
                <a:latin typeface="Calibri"/>
              </a:rPr>
              <a:t>Answer is verified server-side — no answer can be leaked or guessed.</a:t>
            </a:r>
          </a:p>
        </p:txBody>
      </p:sp>
      <p:sp>
        <p:nvSpPr>
          <p:cNvPr id="18" name="Rounded Rectangle 17"/>
          <p:cNvSpPr/>
          <p:nvPr/>
        </p:nvSpPr>
        <p:spPr>
          <a:xfrm>
            <a:off x="640080" y="3749039"/>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886200"/>
            <a:ext cx="82296"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886200"/>
            <a:ext cx="3017520" cy="457200"/>
          </a:xfrm>
          <a:prstGeom prst="rect">
            <a:avLst/>
          </a:prstGeom>
          <a:noFill/>
        </p:spPr>
        <p:txBody>
          <a:bodyPr wrap="square" anchor="t">
            <a:spAutoFit/>
          </a:bodyPr>
          <a:lstStyle/>
          <a:p>
            <a:pPr algn="l"/>
            <a:r>
              <a:rPr sz="1600" b="1">
                <a:solidFill>
                  <a:srgbClr val="1E293B"/>
                </a:solidFill>
                <a:latin typeface="Calibri"/>
              </a:rPr>
              <a:t>4 · Improve</a:t>
            </a:r>
          </a:p>
        </p:txBody>
      </p:sp>
      <p:sp>
        <p:nvSpPr>
          <p:cNvPr id="21" name="TextBox 20"/>
          <p:cNvSpPr txBox="1"/>
          <p:nvPr/>
        </p:nvSpPr>
        <p:spPr>
          <a:xfrm>
            <a:off x="1051560" y="4343400"/>
            <a:ext cx="3017520" cy="1280160"/>
          </a:xfrm>
          <a:prstGeom prst="rect">
            <a:avLst/>
          </a:prstGeom>
          <a:noFill/>
        </p:spPr>
        <p:txBody>
          <a:bodyPr wrap="square" anchor="t">
            <a:spAutoFit/>
          </a:bodyPr>
          <a:lstStyle/>
          <a:p>
            <a:pPr algn="l"/>
            <a:r>
              <a:rPr sz="1300" b="0">
                <a:solidFill>
                  <a:srgbClr val="6B7280"/>
                </a:solidFill>
                <a:latin typeface="Calibri"/>
              </a:rPr>
              <a:t>Correct &amp; quick → difficulty adapts up. Snoozing → tracked and discouraged.</a:t>
            </a:r>
          </a:p>
        </p:txBody>
      </p:sp>
      <p:sp>
        <p:nvSpPr>
          <p:cNvPr id="22" name="Rounded Rectangle 21"/>
          <p:cNvSpPr/>
          <p:nvPr/>
        </p:nvSpPr>
        <p:spPr>
          <a:xfrm>
            <a:off x="4343400" y="3749039"/>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3886200"/>
            <a:ext cx="82296" cy="1737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3886200"/>
            <a:ext cx="3017520" cy="457200"/>
          </a:xfrm>
          <a:prstGeom prst="rect">
            <a:avLst/>
          </a:prstGeom>
          <a:noFill/>
        </p:spPr>
        <p:txBody>
          <a:bodyPr wrap="square" anchor="t">
            <a:spAutoFit/>
          </a:bodyPr>
          <a:lstStyle/>
          <a:p>
            <a:pPr algn="l"/>
            <a:r>
              <a:rPr sz="1600" b="1">
                <a:solidFill>
                  <a:srgbClr val="1E293B"/>
                </a:solidFill>
                <a:latin typeface="Calibri"/>
              </a:rPr>
              <a:t>5 · Score</a:t>
            </a:r>
          </a:p>
        </p:txBody>
      </p:sp>
      <p:sp>
        <p:nvSpPr>
          <p:cNvPr id="25" name="TextBox 24"/>
          <p:cNvSpPr txBox="1"/>
          <p:nvPr/>
        </p:nvSpPr>
        <p:spPr>
          <a:xfrm>
            <a:off x="4754880" y="4343400"/>
            <a:ext cx="3017520" cy="1280160"/>
          </a:xfrm>
          <a:prstGeom prst="rect">
            <a:avLst/>
          </a:prstGeom>
          <a:noFill/>
        </p:spPr>
        <p:txBody>
          <a:bodyPr wrap="square" anchor="t">
            <a:spAutoFit/>
          </a:bodyPr>
          <a:lstStyle/>
          <a:p>
            <a:pPr algn="l"/>
            <a:r>
              <a:rPr sz="1300" b="0">
                <a:solidFill>
                  <a:srgbClr val="6B7280"/>
                </a:solidFill>
                <a:latin typeface="Calibri"/>
              </a:rPr>
              <a:t>Daily habit score: wake-up consistency, challenge completion, snooze reduction, sleep adherence.</a:t>
            </a:r>
          </a:p>
        </p:txBody>
      </p:sp>
      <p:sp>
        <p:nvSpPr>
          <p:cNvPr id="26" name="Rounded Rectangle 25"/>
          <p:cNvSpPr/>
          <p:nvPr/>
        </p:nvSpPr>
        <p:spPr>
          <a:xfrm>
            <a:off x="8046720" y="3749039"/>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83880" y="3886200"/>
            <a:ext cx="82296"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3886200"/>
            <a:ext cx="3017520" cy="457200"/>
          </a:xfrm>
          <a:prstGeom prst="rect">
            <a:avLst/>
          </a:prstGeom>
          <a:noFill/>
        </p:spPr>
        <p:txBody>
          <a:bodyPr wrap="square" anchor="t">
            <a:spAutoFit/>
          </a:bodyPr>
          <a:lstStyle/>
          <a:p>
            <a:pPr algn="l"/>
            <a:r>
              <a:rPr sz="1600" b="1">
                <a:solidFill>
                  <a:srgbClr val="1E293B"/>
                </a:solidFill>
                <a:latin typeface="Calibri"/>
              </a:rPr>
              <a:t>6 · Coach</a:t>
            </a:r>
          </a:p>
        </p:txBody>
      </p:sp>
      <p:sp>
        <p:nvSpPr>
          <p:cNvPr id="29" name="TextBox 28"/>
          <p:cNvSpPr txBox="1"/>
          <p:nvPr/>
        </p:nvSpPr>
        <p:spPr>
          <a:xfrm>
            <a:off x="8458200" y="4343400"/>
            <a:ext cx="3017520" cy="1280160"/>
          </a:xfrm>
          <a:prstGeom prst="rect">
            <a:avLst/>
          </a:prstGeom>
          <a:noFill/>
        </p:spPr>
        <p:txBody>
          <a:bodyPr wrap="square" anchor="t">
            <a:spAutoFit/>
          </a:bodyPr>
          <a:lstStyle/>
          <a:p>
            <a:pPr algn="l"/>
            <a:r>
              <a:rPr sz="1300" b="0">
                <a:solidFill>
                  <a:srgbClr val="6B7280"/>
                </a:solidFill>
                <a:latin typeface="Calibri"/>
              </a:rPr>
              <a:t>Recommendations tune your bedtime, wake-up time, and challenge mix.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Architecture: three clients, one authoritative backend</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React Native · React · FastAPI · PostgreSQL · PyTorch</a:t>
            </a:r>
          </a:p>
        </p:txBody>
      </p:sp>
      <p:sp>
        <p:nvSpPr>
          <p:cNvPr id="6" name="Rounded Rectangle 5"/>
          <p:cNvSpPr/>
          <p:nvPr/>
        </p:nvSpPr>
        <p:spPr>
          <a:xfrm>
            <a:off x="64008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08760"/>
            <a:ext cx="82296" cy="1554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3017520" cy="457200"/>
          </a:xfrm>
          <a:prstGeom prst="rect">
            <a:avLst/>
          </a:prstGeom>
          <a:noFill/>
        </p:spPr>
        <p:txBody>
          <a:bodyPr wrap="square" anchor="t">
            <a:spAutoFit/>
          </a:bodyPr>
          <a:lstStyle/>
          <a:p>
            <a:pPr algn="l"/>
            <a:r>
              <a:rPr sz="1600" b="1">
                <a:solidFill>
                  <a:srgbClr val="1E293B"/>
                </a:solidFill>
                <a:latin typeface="Calibri"/>
              </a:rPr>
              <a:t>Mobile (Expo / RN 0.87)</a:t>
            </a:r>
          </a:p>
        </p:txBody>
      </p:sp>
      <p:sp>
        <p:nvSpPr>
          <p:cNvPr id="9" name="TextBox 8"/>
          <p:cNvSpPr txBox="1"/>
          <p:nvPr/>
        </p:nvSpPr>
        <p:spPr>
          <a:xfrm>
            <a:off x="1051560" y="1965960"/>
            <a:ext cx="3017520" cy="1097280"/>
          </a:xfrm>
          <a:prstGeom prst="rect">
            <a:avLst/>
          </a:prstGeom>
          <a:noFill/>
        </p:spPr>
        <p:txBody>
          <a:bodyPr wrap="square" anchor="t">
            <a:spAutoFit/>
          </a:bodyPr>
          <a:lstStyle/>
          <a:p>
            <a:pPr algn="l"/>
            <a:r>
              <a:rPr sz="1300" b="0">
                <a:solidFill>
                  <a:srgbClr val="6B7280"/>
                </a:solidFill>
                <a:latin typeface="Calibri"/>
              </a:rPr>
              <a:t>Alarm dismissal, offline-first sync engine, push registration.</a:t>
            </a:r>
          </a:p>
        </p:txBody>
      </p:sp>
      <p:sp>
        <p:nvSpPr>
          <p:cNvPr id="10" name="Rounded Rectangle 9"/>
          <p:cNvSpPr/>
          <p:nvPr/>
        </p:nvSpPr>
        <p:spPr>
          <a:xfrm>
            <a:off x="640080" y="338328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82296" cy="1554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520440"/>
            <a:ext cx="3017520" cy="457200"/>
          </a:xfrm>
          <a:prstGeom prst="rect">
            <a:avLst/>
          </a:prstGeom>
          <a:noFill/>
        </p:spPr>
        <p:txBody>
          <a:bodyPr wrap="square" anchor="t">
            <a:spAutoFit/>
          </a:bodyPr>
          <a:lstStyle/>
          <a:p>
            <a:pPr algn="l"/>
            <a:r>
              <a:rPr sz="1600" b="1">
                <a:solidFill>
                  <a:srgbClr val="1E293B"/>
                </a:solidFill>
                <a:latin typeface="Calibri"/>
              </a:rPr>
              <a:t>Web Dashboard (React 18)</a:t>
            </a:r>
          </a:p>
        </p:txBody>
      </p:sp>
      <p:sp>
        <p:nvSpPr>
          <p:cNvPr id="13" name="TextBox 12"/>
          <p:cNvSpPr txBox="1"/>
          <p:nvPr/>
        </p:nvSpPr>
        <p:spPr>
          <a:xfrm>
            <a:off x="1051560" y="3977640"/>
            <a:ext cx="3017520" cy="1097280"/>
          </a:xfrm>
          <a:prstGeom prst="rect">
            <a:avLst/>
          </a:prstGeom>
          <a:noFill/>
        </p:spPr>
        <p:txBody>
          <a:bodyPr wrap="square" anchor="t">
            <a:spAutoFit/>
          </a:bodyPr>
          <a:lstStyle/>
          <a:p>
            <a:pPr algn="l"/>
            <a:r>
              <a:rPr sz="1300" b="0">
                <a:solidFill>
                  <a:srgbClr val="6B7280"/>
                </a:solidFill>
                <a:latin typeface="Calibri"/>
              </a:rPr>
              <a:t>Home, Dashboard, Reports, and an RBAC Admin console.</a:t>
            </a:r>
          </a:p>
        </p:txBody>
      </p:sp>
      <p:sp>
        <p:nvSpPr>
          <p:cNvPr id="14" name="Rounded Rectangle 13"/>
          <p:cNvSpPr/>
          <p:nvPr/>
        </p:nvSpPr>
        <p:spPr>
          <a:xfrm>
            <a:off x="640080" y="5394960"/>
            <a:ext cx="3566160" cy="118872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5532120"/>
            <a:ext cx="82296" cy="914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532120"/>
            <a:ext cx="3017520" cy="457200"/>
          </a:xfrm>
          <a:prstGeom prst="rect">
            <a:avLst/>
          </a:prstGeom>
          <a:noFill/>
        </p:spPr>
        <p:txBody>
          <a:bodyPr wrap="square" anchor="t">
            <a:spAutoFit/>
          </a:bodyPr>
          <a:lstStyle/>
          <a:p>
            <a:pPr algn="l"/>
            <a:r>
              <a:rPr sz="1600" b="1">
                <a:solidFill>
                  <a:srgbClr val="1E293B"/>
                </a:solidFill>
                <a:latin typeface="Calibri"/>
              </a:rPr>
              <a:t>ML Engine (PyTorch)</a:t>
            </a:r>
          </a:p>
        </p:txBody>
      </p:sp>
      <p:sp>
        <p:nvSpPr>
          <p:cNvPr id="17" name="TextBox 16"/>
          <p:cNvSpPr txBox="1"/>
          <p:nvPr/>
        </p:nvSpPr>
        <p:spPr>
          <a:xfrm>
            <a:off x="1051560" y="5989320"/>
            <a:ext cx="3017520" cy="457200"/>
          </a:xfrm>
          <a:prstGeom prst="rect">
            <a:avLst/>
          </a:prstGeom>
          <a:noFill/>
        </p:spPr>
        <p:txBody>
          <a:bodyPr wrap="square" anchor="t">
            <a:spAutoFit/>
          </a:bodyPr>
          <a:lstStyle/>
          <a:p>
            <a:pPr algn="l"/>
            <a:r>
              <a:rPr sz="1300" b="0">
                <a:solidFill>
                  <a:srgbClr val="6B7280"/>
                </a:solidFill>
                <a:latin typeface="Calibri"/>
              </a:rPr>
              <a:t>Adaptive difficulty: predicts challenge level from performance history.</a:t>
            </a:r>
          </a:p>
        </p:txBody>
      </p:sp>
      <p:sp>
        <p:nvSpPr>
          <p:cNvPr id="18" name="Rounded Rectangle 17"/>
          <p:cNvSpPr/>
          <p:nvPr/>
        </p:nvSpPr>
        <p:spPr>
          <a:xfrm>
            <a:off x="4343400" y="1371600"/>
            <a:ext cx="3566160" cy="4206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1508760"/>
            <a:ext cx="82296"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1508760"/>
            <a:ext cx="3017520" cy="457200"/>
          </a:xfrm>
          <a:prstGeom prst="rect">
            <a:avLst/>
          </a:prstGeom>
          <a:noFill/>
        </p:spPr>
        <p:txBody>
          <a:bodyPr wrap="square" anchor="t">
            <a:spAutoFit/>
          </a:bodyPr>
          <a:lstStyle/>
          <a:p>
            <a:pPr algn="l"/>
            <a:r>
              <a:rPr sz="1600" b="1">
                <a:solidFill>
                  <a:srgbClr val="1E293B"/>
                </a:solidFill>
                <a:latin typeface="Calibri"/>
              </a:rPr>
              <a:t>FastAPI Backend</a:t>
            </a:r>
          </a:p>
        </p:txBody>
      </p:sp>
      <p:sp>
        <p:nvSpPr>
          <p:cNvPr id="21" name="TextBox 20"/>
          <p:cNvSpPr txBox="1"/>
          <p:nvPr/>
        </p:nvSpPr>
        <p:spPr>
          <a:xfrm>
            <a:off x="4754880" y="1965960"/>
            <a:ext cx="3017520" cy="3474720"/>
          </a:xfrm>
          <a:prstGeom prst="rect">
            <a:avLst/>
          </a:prstGeom>
          <a:noFill/>
        </p:spPr>
        <p:txBody>
          <a:bodyPr wrap="square" anchor="t">
            <a:spAutoFit/>
          </a:bodyPr>
          <a:lstStyle/>
          <a:p>
            <a:pPr algn="l"/>
            <a:r>
              <a:rPr sz="1300" b="0">
                <a:solidFill>
                  <a:srgbClr val="6B7280"/>
                </a:solidFill>
                <a:latin typeface="Calibri"/>
              </a:rPr>
              <a:t>Auth + RBAC · adaptive challenge engine · habit scoring · analytics · recommendations · sync · reports · notifications · gateway (rate-limit + logging).</a:t>
            </a:r>
          </a:p>
        </p:txBody>
      </p:sp>
      <p:sp>
        <p:nvSpPr>
          <p:cNvPr id="22" name="Rounded Rectangle 21"/>
          <p:cNvSpPr/>
          <p:nvPr/>
        </p:nvSpPr>
        <p:spPr>
          <a:xfrm>
            <a:off x="8046720" y="1371600"/>
            <a:ext cx="3566160" cy="4206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83880" y="1508760"/>
            <a:ext cx="82296" cy="3931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8200" y="1508760"/>
            <a:ext cx="3017520" cy="457200"/>
          </a:xfrm>
          <a:prstGeom prst="rect">
            <a:avLst/>
          </a:prstGeom>
          <a:noFill/>
        </p:spPr>
        <p:txBody>
          <a:bodyPr wrap="square" anchor="t">
            <a:spAutoFit/>
          </a:bodyPr>
          <a:lstStyle/>
          <a:p>
            <a:pPr algn="l"/>
            <a:r>
              <a:rPr sz="1600" b="1">
                <a:solidFill>
                  <a:srgbClr val="1E293B"/>
                </a:solidFill>
                <a:latin typeface="Calibri"/>
              </a:rPr>
              <a:t>PostgreSQL 15</a:t>
            </a:r>
          </a:p>
        </p:txBody>
      </p:sp>
      <p:sp>
        <p:nvSpPr>
          <p:cNvPr id="25" name="TextBox 24"/>
          <p:cNvSpPr txBox="1"/>
          <p:nvPr/>
        </p:nvSpPr>
        <p:spPr>
          <a:xfrm>
            <a:off x="8458200" y="1965960"/>
            <a:ext cx="3017520" cy="3474720"/>
          </a:xfrm>
          <a:prstGeom prst="rect">
            <a:avLst/>
          </a:prstGeom>
          <a:noFill/>
        </p:spPr>
        <p:txBody>
          <a:bodyPr wrap="square" anchor="t">
            <a:spAutoFit/>
          </a:bodyPr>
          <a:lstStyle/>
          <a:p>
            <a:pPr algn="l"/>
            <a:r>
              <a:rPr sz="1300" b="0">
                <a:solidFill>
                  <a:srgbClr val="6B7280"/>
                </a:solidFill>
                <a:latin typeface="Calibri"/>
              </a:rPr>
              <a:t>Users, roles, alarms, challenges, attempts, habit scores, push tokens. Alembic migrations; SQLite auto-init for local dev.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Eight milestones, delivery complete</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Milestones 1–4 delivered; 4 more archived for future scope</a:t>
            </a:r>
          </a:p>
        </p:txBody>
      </p:sp>
      <p:graphicFrame>
        <p:nvGraphicFramePr>
          <p:cNvPr id="6" name="Table 5"/>
          <p:cNvGraphicFramePr>
            <a:graphicFrameLocks noGrp="1"/>
          </p:cNvGraphicFramePr>
          <p:nvPr/>
        </p:nvGraphicFramePr>
        <p:xfrm>
          <a:off x="640080" y="1371600"/>
          <a:ext cx="10881360" cy="4206240"/>
        </p:xfrm>
        <a:graphic>
          <a:graphicData uri="http://schemas.openxmlformats.org/drawingml/2006/table">
            <a:tbl>
              <a:tblPr firstRow="1" bandRow="1">
                <a:tableStyleId>{5C22544A-7EE6-4342-B048-85BDC9FD1C3A}</a:tableStyleId>
              </a:tblPr>
              <a:tblGrid>
                <a:gridCol w="2011680"/>
                <a:gridCol w="4937760"/>
                <a:gridCol w="3931920"/>
              </a:tblGrid>
              <a:tr h="841248">
                <a:tc>
                  <a:txBody>
                    <a:bodyPr/>
                    <a:lstStyle/>
                    <a:p>
                      <a:pPr>
                        <a:defRPr b="1" sz="1500">
                          <a:solidFill>
                            <a:srgbClr val="FFFFFF"/>
                          </a:solidFill>
                        </a:defRPr>
                      </a:pPr>
                      <a:r>
                        <a:t>Milestone</a:t>
                      </a:r>
                    </a:p>
                  </a:txBody>
                  <a:tcPr/>
                </a:tc>
                <a:tc>
                  <a:txBody>
                    <a:bodyPr/>
                    <a:lstStyle/>
                    <a:p>
                      <a:pPr>
                        <a:defRPr b="1" sz="1500">
                          <a:solidFill>
                            <a:srgbClr val="FFFFFF"/>
                          </a:solidFill>
                        </a:defRPr>
                      </a:pPr>
                      <a:r>
                        <a:t>Focus</a:t>
                      </a:r>
                    </a:p>
                  </a:txBody>
                  <a:tcPr/>
                </a:tc>
                <a:tc>
                  <a:txBody>
                    <a:bodyPr/>
                    <a:lstStyle/>
                    <a:p>
                      <a:pPr>
                        <a:defRPr b="1" sz="1500">
                          <a:solidFill>
                            <a:srgbClr val="FFFFFF"/>
                          </a:solidFill>
                        </a:defRPr>
                      </a:pPr>
                      <a:r>
                        <a:t>Shipped</a:t>
                      </a:r>
                    </a:p>
                  </a:txBody>
                  <a:tcPr/>
                </a:tc>
              </a:tr>
              <a:tr h="841248">
                <a:tc>
                  <a:txBody>
                    <a:bodyPr/>
                    <a:lstStyle/>
                    <a:p>
                      <a:pPr>
                        <a:defRPr sz="1400">
                          <a:solidFill>
                            <a:srgbClr val="6B7280"/>
                          </a:solidFill>
                        </a:defRPr>
                      </a:pPr>
                      <a:r>
                        <a:t>M1</a:t>
                      </a:r>
                    </a:p>
                  </a:txBody>
                  <a:tcPr/>
                </a:tc>
                <a:tc>
                  <a:txBody>
                    <a:bodyPr/>
                    <a:lstStyle/>
                    <a:p>
                      <a:pPr>
                        <a:defRPr sz="1400">
                          <a:solidFill>
                            <a:srgbClr val="6B7280"/>
                          </a:solidFill>
                        </a:defRPr>
                      </a:pPr>
                      <a:r>
                        <a:t>Auth, profiles, tz-aware alarms</a:t>
                      </a:r>
                    </a:p>
                  </a:txBody>
                  <a:tcPr/>
                </a:tc>
                <a:tc>
                  <a:txBody>
                    <a:bodyPr/>
                    <a:lstStyle/>
                    <a:p>
                      <a:pPr>
                        <a:defRPr sz="1400">
                          <a:solidFill>
                            <a:srgbClr val="6B7280"/>
                          </a:solidFill>
                        </a:defRPr>
                      </a:pPr>
                      <a:r>
                        <a:t>bcrypt + JWT + RBAC; profile/settings; timezone scheduling</a:t>
                      </a:r>
                    </a:p>
                  </a:txBody>
                  <a:tcPr/>
                </a:tc>
              </a:tr>
              <a:tr h="841248">
                <a:tc>
                  <a:txBody>
                    <a:bodyPr/>
                    <a:lstStyle/>
                    <a:p>
                      <a:pPr>
                        <a:defRPr sz="1400">
                          <a:solidFill>
                            <a:srgbClr val="6B7280"/>
                          </a:solidFill>
                        </a:defRPr>
                      </a:pPr>
                      <a:r>
                        <a:t>M2</a:t>
                      </a:r>
                    </a:p>
                  </a:txBody>
                  <a:tcPr/>
                </a:tc>
                <a:tc>
                  <a:txBody>
                    <a:bodyPr/>
                    <a:lstStyle/>
                    <a:p>
                      <a:pPr>
                        <a:defRPr sz="1400">
                          <a:solidFill>
                            <a:srgbClr val="6B7280"/>
                          </a:solidFill>
                        </a:defRPr>
                      </a:pPr>
                      <a:r>
                        <a:t>Server-authoritative challenge engine</a:t>
                      </a:r>
                    </a:p>
                  </a:txBody>
                  <a:tcPr/>
                </a:tc>
                <a:tc>
                  <a:txBody>
                    <a:bodyPr/>
                    <a:lstStyle/>
                    <a:p>
                      <a:pPr>
                        <a:defRPr sz="1400">
                          <a:solidFill>
                            <a:srgbClr val="6B7280"/>
                          </a:solidFill>
                        </a:defRPr>
                      </a:pPr>
                      <a:r>
                        <a:t>No answer leak; /submit verify; alarm-dismiss gate; real analytics</a:t>
                      </a:r>
                    </a:p>
                  </a:txBody>
                  <a:tcPr/>
                </a:tc>
              </a:tr>
              <a:tr h="841248">
                <a:tc>
                  <a:txBody>
                    <a:bodyPr/>
                    <a:lstStyle/>
                    <a:p>
                      <a:pPr>
                        <a:defRPr sz="1400">
                          <a:solidFill>
                            <a:srgbClr val="6B7280"/>
                          </a:solidFill>
                        </a:defRPr>
                      </a:pPr>
                      <a:r>
                        <a:t>M3</a:t>
                      </a:r>
                    </a:p>
                  </a:txBody>
                  <a:tcPr/>
                </a:tc>
                <a:tc>
                  <a:txBody>
                    <a:bodyPr/>
                    <a:lstStyle/>
                    <a:p>
                      <a:pPr>
                        <a:defRPr sz="1400">
                          <a:solidFill>
                            <a:srgbClr val="6B7280"/>
                          </a:solidFill>
                        </a:defRPr>
                      </a:pPr>
                      <a:r>
                        <a:t>Adaptive ML + coaching</a:t>
                      </a:r>
                    </a:p>
                  </a:txBody>
                  <a:tcPr/>
                </a:tc>
                <a:tc>
                  <a:txBody>
                    <a:bodyPr/>
                    <a:lstStyle/>
                    <a:p>
                      <a:pPr>
                        <a:defRPr sz="1400">
                          <a:solidFill>
                            <a:srgbClr val="6B7280"/>
                          </a:solidFill>
                        </a:defRPr>
                      </a:pPr>
                      <a:r>
                        <a:t>Trained difficulty model; recommendations; streak habit scoring; live dashboards</a:t>
                      </a:r>
                    </a:p>
                  </a:txBody>
                  <a:tcPr/>
                </a:tc>
              </a:tr>
              <a:tr h="841248">
                <a:tc>
                  <a:txBody>
                    <a:bodyPr/>
                    <a:lstStyle/>
                    <a:p>
                      <a:pPr>
                        <a:defRPr sz="1400">
                          <a:solidFill>
                            <a:srgbClr val="6B7280"/>
                          </a:solidFill>
                        </a:defRPr>
                      </a:pPr>
                      <a:r>
                        <a:t>M4</a:t>
                      </a:r>
                    </a:p>
                  </a:txBody>
                  <a:tcPr/>
                </a:tc>
                <a:tc>
                  <a:txBody>
                    <a:bodyPr/>
                    <a:lstStyle/>
                    <a:p>
                      <a:pPr>
                        <a:defRPr sz="1400">
                          <a:solidFill>
                            <a:srgbClr val="6B7280"/>
                          </a:solidFill>
                        </a:defRPr>
                      </a:pPr>
                      <a:r>
                        <a:t>Hardening, reports, deployment</a:t>
                      </a:r>
                    </a:p>
                  </a:txBody>
                  <a:tcPr/>
                </a:tc>
                <a:tc>
                  <a:txBody>
                    <a:bodyPr/>
                    <a:lstStyle/>
                    <a:p>
                      <a:pPr>
                        <a:defRPr sz="1400">
                          <a:solidFill>
                            <a:srgbClr val="6B7280"/>
                          </a:solidFill>
                        </a:defRPr>
                      </a:pPr>
                      <a:r>
                        <a:t>Error envelope, CI, Docker, admin UI, PDF/Excel, mobile tests + offline sync</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Backend: 30+ REST endpoints, security-first</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Auth · challenges · habits · analytics · sync · reports · notifications</a:t>
            </a:r>
          </a:p>
        </p:txBody>
      </p:sp>
      <p:sp>
        <p:nvSpPr>
          <p:cNvPr id="6" name="TextBox 5"/>
          <p:cNvSpPr txBox="1"/>
          <p:nvPr/>
        </p:nvSpPr>
        <p:spPr>
          <a:xfrm>
            <a:off x="640080" y="1371600"/>
            <a:ext cx="5486400" cy="4572000"/>
          </a:xfrm>
          <a:prstGeom prst="rect">
            <a:avLst/>
          </a:prstGeom>
          <a:noFill/>
        </p:spPr>
        <p:txBody>
          <a:bodyPr wrap="square">
            <a:spAutoFit/>
          </a:bodyPr>
          <a:lstStyle/>
          <a:p>
            <a:pPr>
              <a:spcAft>
                <a:spcPts val="800"/>
              </a:spcAft>
            </a:pPr>
            <a:r>
              <a:rPr b="1" sz="1500">
                <a:solidFill>
                  <a:srgbClr val="1E293B"/>
                </a:solidFill>
              </a:rPr>
              <a:t>Auth &amp; RBAC — </a:t>
            </a:r>
            <a:r>
              <a:rPr sz="1500">
                <a:solidFill>
                  <a:srgbClr val="6B7280"/>
                </a:solidFill>
              </a:rPr>
              <a:t>bcrypt (12 rounds), JWT HS256, User/Coach/Admin roles</a:t>
            </a:r>
          </a:p>
          <a:p>
            <a:pPr>
              <a:spcAft>
                <a:spcPts val="800"/>
              </a:spcAft>
            </a:pPr>
            <a:r>
              <a:rPr b="1" sz="1500">
                <a:solidFill>
                  <a:srgbClr val="1E293B"/>
                </a:solidFill>
              </a:rPr>
              <a:t>Challenge engine — </a:t>
            </a:r>
            <a:r>
              <a:rPr sz="1500">
                <a:solidFill>
                  <a:srgbClr val="6B7280"/>
                </a:solidFill>
              </a:rPr>
              <a:t>7 types × 5 difficulties, deterministic templates, adaptive</a:t>
            </a:r>
          </a:p>
          <a:p>
            <a:pPr>
              <a:spcAft>
                <a:spcPts val="800"/>
              </a:spcAft>
            </a:pPr>
            <a:r>
              <a:rPr b="1" sz="1500">
                <a:solidFill>
                  <a:srgbClr val="1E293B"/>
                </a:solidFill>
              </a:rPr>
              <a:t>Habit scoring — </a:t>
            </a:r>
            <a:r>
              <a:rPr sz="1500">
                <a:solidFill>
                  <a:srgbClr val="6B7280"/>
                </a:solidFill>
              </a:rPr>
              <a:t>35/25/20/20 weighted composite from real behavior</a:t>
            </a:r>
          </a:p>
          <a:p>
            <a:pPr>
              <a:spcAft>
                <a:spcPts val="800"/>
              </a:spcAft>
            </a:pPr>
            <a:r>
              <a:rPr b="1" sz="1500">
                <a:solidFill>
                  <a:srgbClr val="1E293B"/>
                </a:solidFill>
              </a:rPr>
              <a:t>Analytics &amp; coaching — </a:t>
            </a:r>
            <a:r>
              <a:rPr sz="1500">
                <a:solidFill>
                  <a:srgbClr val="6B7280"/>
                </a:solidFill>
              </a:rPr>
              <a:t>sleep estimates, trends, 4 recommendation categories</a:t>
            </a:r>
          </a:p>
          <a:p>
            <a:pPr>
              <a:spcAft>
                <a:spcPts val="800"/>
              </a:spcAft>
            </a:pPr>
            <a:r>
              <a:rPr b="1" sz="1500">
                <a:solidFill>
                  <a:srgbClr val="1E293B"/>
                </a:solidFill>
              </a:rPr>
              <a:t>Reports — </a:t>
            </a:r>
            <a:r>
              <a:rPr sz="1500">
                <a:solidFill>
                  <a:srgbClr val="6B7280"/>
                </a:solidFill>
              </a:rPr>
              <a:t>CSV / JSON / PDF / Excel, incl. async generation</a:t>
            </a:r>
          </a:p>
          <a:p>
            <a:pPr>
              <a:spcAft>
                <a:spcPts val="800"/>
              </a:spcAft>
            </a:pPr>
            <a:r>
              <a:rPr b="1" sz="1500">
                <a:solidFill>
                  <a:srgbClr val="1E293B"/>
                </a:solidFill>
              </a:rPr>
              <a:t>Notifications — </a:t>
            </a:r>
            <a:r>
              <a:rPr sz="1500">
                <a:solidFill>
                  <a:srgbClr val="6B7280"/>
                </a:solidFill>
              </a:rPr>
              <a:t>push-token registry with ownership reassignment</a:t>
            </a:r>
          </a:p>
        </p:txBody>
      </p:sp>
      <p:sp>
        <p:nvSpPr>
          <p:cNvPr id="7" name="Rounded Rectangle 6"/>
          <p:cNvSpPr/>
          <p:nvPr/>
        </p:nvSpPr>
        <p:spPr>
          <a:xfrm>
            <a:off x="6400800" y="1371600"/>
            <a:ext cx="512064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37960" y="1508760"/>
            <a:ext cx="82296"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508760"/>
            <a:ext cx="4572000" cy="457200"/>
          </a:xfrm>
          <a:prstGeom prst="rect">
            <a:avLst/>
          </a:prstGeom>
          <a:noFill/>
        </p:spPr>
        <p:txBody>
          <a:bodyPr wrap="square" anchor="t">
            <a:spAutoFit/>
          </a:bodyPr>
          <a:lstStyle/>
          <a:p>
            <a:pPr algn="l"/>
            <a:r>
              <a:rPr sz="1600" b="1">
                <a:solidFill>
                  <a:srgbClr val="1E293B"/>
                </a:solidFill>
                <a:latin typeface="Calibri"/>
              </a:rPr>
              <a:t>Security</a:t>
            </a:r>
          </a:p>
        </p:txBody>
      </p:sp>
      <p:sp>
        <p:nvSpPr>
          <p:cNvPr id="10" name="TextBox 9"/>
          <p:cNvSpPr txBox="1"/>
          <p:nvPr/>
        </p:nvSpPr>
        <p:spPr>
          <a:xfrm>
            <a:off x="6812280" y="1965960"/>
            <a:ext cx="4572000" cy="1280160"/>
          </a:xfrm>
          <a:prstGeom prst="rect">
            <a:avLst/>
          </a:prstGeom>
          <a:noFill/>
        </p:spPr>
        <p:txBody>
          <a:bodyPr wrap="square" anchor="t">
            <a:spAutoFit/>
          </a:bodyPr>
          <a:lstStyle/>
          <a:p>
            <a:pPr algn="l"/>
            <a:r>
              <a:rPr sz="1300" b="0">
                <a:solidFill>
                  <a:srgbClr val="6B7280"/>
                </a:solidFill>
                <a:latin typeface="Calibri"/>
              </a:rPr>
              <a:t>Env-driven JWT secret &amp; CORS; RBAC enforced on every protected route; server-authoritative answer verification (no leak).</a:t>
            </a:r>
          </a:p>
        </p:txBody>
      </p:sp>
      <p:sp>
        <p:nvSpPr>
          <p:cNvPr id="11" name="Rounded Rectangle 10"/>
          <p:cNvSpPr/>
          <p:nvPr/>
        </p:nvSpPr>
        <p:spPr>
          <a:xfrm>
            <a:off x="6400800" y="3657600"/>
            <a:ext cx="512064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37960" y="3794760"/>
            <a:ext cx="82296"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3794760"/>
            <a:ext cx="4572000" cy="457200"/>
          </a:xfrm>
          <a:prstGeom prst="rect">
            <a:avLst/>
          </a:prstGeom>
          <a:noFill/>
        </p:spPr>
        <p:txBody>
          <a:bodyPr wrap="square" anchor="t">
            <a:spAutoFit/>
          </a:bodyPr>
          <a:lstStyle/>
          <a:p>
            <a:pPr algn="l"/>
            <a:r>
              <a:rPr sz="1600" b="1">
                <a:solidFill>
                  <a:srgbClr val="1E293B"/>
                </a:solidFill>
                <a:latin typeface="Calibri"/>
              </a:rPr>
              <a:t>Reliability</a:t>
            </a:r>
          </a:p>
        </p:txBody>
      </p:sp>
      <p:sp>
        <p:nvSpPr>
          <p:cNvPr id="14" name="TextBox 13"/>
          <p:cNvSpPr txBox="1"/>
          <p:nvPr/>
        </p:nvSpPr>
        <p:spPr>
          <a:xfrm>
            <a:off x="6812280" y="4251960"/>
            <a:ext cx="4572000" cy="1280160"/>
          </a:xfrm>
          <a:prstGeom prst="rect">
            <a:avLst/>
          </a:prstGeom>
          <a:noFill/>
        </p:spPr>
        <p:txBody>
          <a:bodyPr wrap="square" anchor="t">
            <a:spAutoFit/>
          </a:bodyPr>
          <a:lstStyle/>
          <a:p>
            <a:pPr algn="l"/>
            <a:r>
              <a:rPr sz="1300" b="0">
                <a:solidFill>
                  <a:srgbClr val="6B7280"/>
                </a:solidFill>
                <a:latin typeface="Calibri"/>
              </a:rPr>
              <a:t>Structured error envelope {detail, error_code, timestamp}; rate limiting + request-ID logging; Alembic migrations; idempotent sync upserts.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Mobile: offline-first and push-ready</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Alarm dismiss E2E wired end-to-end</a:t>
            </a:r>
          </a:p>
        </p:txBody>
      </p:sp>
      <p:sp>
        <p:nvSpPr>
          <p:cNvPr id="6" name="TextBox 5"/>
          <p:cNvSpPr txBox="1"/>
          <p:nvPr/>
        </p:nvSpPr>
        <p:spPr>
          <a:xfrm>
            <a:off x="640080" y="1371600"/>
            <a:ext cx="5486400" cy="4572000"/>
          </a:xfrm>
          <a:prstGeom prst="rect">
            <a:avLst/>
          </a:prstGeom>
          <a:noFill/>
        </p:spPr>
        <p:txBody>
          <a:bodyPr wrap="square">
            <a:spAutoFit/>
          </a:bodyPr>
          <a:lstStyle/>
          <a:p>
            <a:pPr>
              <a:spcAft>
                <a:spcPts val="800"/>
              </a:spcAft>
            </a:pPr>
            <a:r>
              <a:rPr b="1" sz="1500">
                <a:solidFill>
                  <a:srgbClr val="1E293B"/>
                </a:solidFill>
              </a:rPr>
              <a:t>Alarm dismissal — </a:t>
            </a:r>
            <a:r>
              <a:rPr sz="1500">
                <a:solidFill>
                  <a:srgbClr val="6B7280"/>
                </a:solidFill>
              </a:rPr>
              <a:t>next → submit → dismiss, fully functional on-device</a:t>
            </a:r>
          </a:p>
          <a:p>
            <a:pPr>
              <a:spcAft>
                <a:spcPts val="800"/>
              </a:spcAft>
            </a:pPr>
            <a:r>
              <a:rPr b="1" sz="1500">
                <a:solidFill>
                  <a:srgbClr val="1E293B"/>
                </a:solidFill>
              </a:rPr>
              <a:t>Challenge UX — </a:t>
            </a:r>
            <a:r>
              <a:rPr sz="1500">
                <a:solidFill>
                  <a:srgbClr val="6B7280"/>
                </a:solidFill>
              </a:rPr>
              <a:t>7 challenge screens, answer verification, retry</a:t>
            </a:r>
          </a:p>
          <a:p>
            <a:pPr>
              <a:spcAft>
                <a:spcPts val="800"/>
              </a:spcAft>
            </a:pPr>
            <a:r>
              <a:rPr b="1" sz="1500">
                <a:solidFill>
                  <a:srgbClr val="1E293B"/>
                </a:solidFill>
              </a:rPr>
              <a:t>Offline-first sync — </a:t>
            </a:r>
            <a:r>
              <a:rPr sz="1500">
                <a:solidFill>
                  <a:srgbClr val="6B7280"/>
                </a:solidFill>
              </a:rPr>
              <a:t>AsyncStorage cache + sync engine hitting idempotent /sync endpoints</a:t>
            </a:r>
          </a:p>
          <a:p>
            <a:pPr>
              <a:spcAft>
                <a:spcPts val="800"/>
              </a:spcAft>
            </a:pPr>
            <a:r>
              <a:rPr b="1" sz="1500">
                <a:solidFill>
                  <a:srgbClr val="1E293B"/>
                </a:solidFill>
              </a:rPr>
              <a:t>Offline fallback — </a:t>
            </a:r>
            <a:r>
              <a:rPr sz="1500">
                <a:solidFill>
                  <a:srgbClr val="6B7280"/>
                </a:solidFill>
              </a:rPr>
              <a:t>cached alarms &amp; habit score with an offline banner</a:t>
            </a:r>
          </a:p>
          <a:p>
            <a:pPr>
              <a:spcAft>
                <a:spcPts val="800"/>
              </a:spcAft>
            </a:pPr>
            <a:r>
              <a:rPr b="1" sz="1500">
                <a:solidFill>
                  <a:srgbClr val="1E293B"/>
                </a:solidFill>
              </a:rPr>
              <a:t>Push registration — </a:t>
            </a:r>
            <a:r>
              <a:rPr sz="1500">
                <a:solidFill>
                  <a:srgbClr val="6B7280"/>
                </a:solidFill>
              </a:rPr>
              <a:t>Expo token POSTed to /notifications/register on login</a:t>
            </a:r>
          </a:p>
        </p:txBody>
      </p:sp>
      <p:sp>
        <p:nvSpPr>
          <p:cNvPr id="7" name="Rounded Rectangle 6"/>
          <p:cNvSpPr/>
          <p:nvPr/>
        </p:nvSpPr>
        <p:spPr>
          <a:xfrm>
            <a:off x="6400800" y="1371600"/>
            <a:ext cx="5120640" cy="38404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37960" y="1508760"/>
            <a:ext cx="82296" cy="35661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508760"/>
            <a:ext cx="4572000" cy="457200"/>
          </a:xfrm>
          <a:prstGeom prst="rect">
            <a:avLst/>
          </a:prstGeom>
          <a:noFill/>
        </p:spPr>
        <p:txBody>
          <a:bodyPr wrap="square" anchor="t">
            <a:spAutoFit/>
          </a:bodyPr>
          <a:lstStyle/>
          <a:p>
            <a:pPr algn="l"/>
            <a:r>
              <a:rPr sz="1600" b="1">
                <a:solidFill>
                  <a:srgbClr val="1E293B"/>
                </a:solidFill>
                <a:latin typeface="Calibri"/>
              </a:rPr>
              <a:t>Tested at the logic layer</a:t>
            </a:r>
          </a:p>
        </p:txBody>
      </p:sp>
      <p:sp>
        <p:nvSpPr>
          <p:cNvPr id="10" name="TextBox 9"/>
          <p:cNvSpPr txBox="1"/>
          <p:nvPr/>
        </p:nvSpPr>
        <p:spPr>
          <a:xfrm>
            <a:off x="6812280" y="1965960"/>
            <a:ext cx="4572000" cy="3108960"/>
          </a:xfrm>
          <a:prstGeom prst="rect">
            <a:avLst/>
          </a:prstGeom>
          <a:noFill/>
        </p:spPr>
        <p:txBody>
          <a:bodyPr wrap="square" anchor="t">
            <a:spAutoFit/>
          </a:bodyPr>
          <a:lstStyle/>
          <a:p>
            <a:pPr algn="l"/>
            <a:r>
              <a:rPr sz="1300" b="0">
                <a:solidFill>
                  <a:srgbClr val="6B7280"/>
                </a:solidFill>
                <a:latin typeface="Calibri"/>
              </a:rPr>
              <a:t>The sync engine and push helpers are pure/injectable modules covered by 31 jest tests, so offline behavior is verified without needing a physical device.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ML: adaptive difficulty that really adapts</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A trained model behind the challenge curve</a:t>
            </a:r>
          </a:p>
        </p:txBody>
      </p:sp>
      <p:sp>
        <p:nvSpPr>
          <p:cNvPr id="6" name="Rounded Rectangle 5"/>
          <p:cNvSpPr/>
          <p:nvPr/>
        </p:nvSpPr>
        <p:spPr>
          <a:xfrm>
            <a:off x="640080" y="1371600"/>
            <a:ext cx="5120640" cy="1920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08760"/>
            <a:ext cx="82296" cy="1645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4572000" cy="457200"/>
          </a:xfrm>
          <a:prstGeom prst="rect">
            <a:avLst/>
          </a:prstGeom>
          <a:noFill/>
        </p:spPr>
        <p:txBody>
          <a:bodyPr wrap="square" anchor="t">
            <a:spAutoFit/>
          </a:bodyPr>
          <a:lstStyle/>
          <a:p>
            <a:pPr algn="l"/>
            <a:r>
              <a:rPr sz="1600" b="1">
                <a:solidFill>
                  <a:srgbClr val="1E293B"/>
                </a:solidFill>
                <a:latin typeface="Calibri"/>
              </a:rPr>
              <a:t>Model</a:t>
            </a:r>
          </a:p>
        </p:txBody>
      </p:sp>
      <p:sp>
        <p:nvSpPr>
          <p:cNvPr id="9" name="TextBox 8"/>
          <p:cNvSpPr txBox="1"/>
          <p:nvPr/>
        </p:nvSpPr>
        <p:spPr>
          <a:xfrm>
            <a:off x="1051560" y="1965960"/>
            <a:ext cx="4572000" cy="1188720"/>
          </a:xfrm>
          <a:prstGeom prst="rect">
            <a:avLst/>
          </a:prstGeom>
          <a:noFill/>
        </p:spPr>
        <p:txBody>
          <a:bodyPr wrap="square" anchor="t">
            <a:spAutoFit/>
          </a:bodyPr>
          <a:lstStyle/>
          <a:p>
            <a:pPr algn="l"/>
            <a:r>
              <a:rPr sz="1300" b="0">
                <a:solidFill>
                  <a:srgbClr val="6B7280"/>
                </a:solidFill>
                <a:latin typeface="Calibri"/>
              </a:rPr>
              <a:t>A PyTorch DifficultyPredictor trained on a synthetic rule-based dataset (93.7% validation accuracy).</a:t>
            </a:r>
          </a:p>
        </p:txBody>
      </p:sp>
      <p:sp>
        <p:nvSpPr>
          <p:cNvPr id="10" name="Rounded Rectangle 9"/>
          <p:cNvSpPr/>
          <p:nvPr/>
        </p:nvSpPr>
        <p:spPr>
          <a:xfrm>
            <a:off x="640080" y="3474720"/>
            <a:ext cx="5120640" cy="1920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611879"/>
            <a:ext cx="82296" cy="1645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11879"/>
            <a:ext cx="4572000" cy="457200"/>
          </a:xfrm>
          <a:prstGeom prst="rect">
            <a:avLst/>
          </a:prstGeom>
          <a:noFill/>
        </p:spPr>
        <p:txBody>
          <a:bodyPr wrap="square" anchor="t">
            <a:spAutoFit/>
          </a:bodyPr>
          <a:lstStyle/>
          <a:p>
            <a:pPr algn="l"/>
            <a:r>
              <a:rPr sz="1600" b="1">
                <a:solidFill>
                  <a:srgbClr val="1E293B"/>
                </a:solidFill>
                <a:latin typeface="Calibri"/>
              </a:rPr>
              <a:t>Fallback</a:t>
            </a:r>
          </a:p>
        </p:txBody>
      </p:sp>
      <p:sp>
        <p:nvSpPr>
          <p:cNvPr id="13" name="TextBox 12"/>
          <p:cNvSpPr txBox="1"/>
          <p:nvPr/>
        </p:nvSpPr>
        <p:spPr>
          <a:xfrm>
            <a:off x="1051560" y="4069080"/>
            <a:ext cx="4572000" cy="1188720"/>
          </a:xfrm>
          <a:prstGeom prst="rect">
            <a:avLst/>
          </a:prstGeom>
          <a:noFill/>
        </p:spPr>
        <p:txBody>
          <a:bodyPr wrap="square" anchor="t">
            <a:spAutoFit/>
          </a:bodyPr>
          <a:lstStyle/>
          <a:p>
            <a:pPr algn="l"/>
            <a:r>
              <a:rPr sz="1300" b="0">
                <a:solidFill>
                  <a:srgbClr val="6B7280"/>
                </a:solidFill>
                <a:latin typeface="Calibri"/>
              </a:rPr>
              <a:t>A deterministic rule-based path runs when PyTorch isn't available (lean Docker runtime) — the app never hard-depends on the heavyweight dependency.</a:t>
            </a:r>
          </a:p>
        </p:txBody>
      </p:sp>
      <p:sp>
        <p:nvSpPr>
          <p:cNvPr id="14" name="Rounded Rectangle 13"/>
          <p:cNvSpPr/>
          <p:nvPr/>
        </p:nvSpPr>
        <p:spPr>
          <a:xfrm>
            <a:off x="5943600" y="1371600"/>
            <a:ext cx="5577840" cy="402336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1508760"/>
            <a:ext cx="82296" cy="3749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5029200" cy="457200"/>
          </a:xfrm>
          <a:prstGeom prst="rect">
            <a:avLst/>
          </a:prstGeom>
          <a:noFill/>
        </p:spPr>
        <p:txBody>
          <a:bodyPr wrap="square" anchor="t">
            <a:spAutoFit/>
          </a:bodyPr>
          <a:lstStyle/>
          <a:p>
            <a:pPr algn="l"/>
            <a:r>
              <a:rPr sz="1600" b="1">
                <a:solidFill>
                  <a:srgbClr val="1E293B"/>
                </a:solidFill>
                <a:latin typeface="Calibri"/>
              </a:rPr>
              <a:t>Inputs / Outputs</a:t>
            </a:r>
          </a:p>
        </p:txBody>
      </p:sp>
      <p:sp>
        <p:nvSpPr>
          <p:cNvPr id="17" name="TextBox 16"/>
          <p:cNvSpPr txBox="1"/>
          <p:nvPr/>
        </p:nvSpPr>
        <p:spPr>
          <a:xfrm>
            <a:off x="6355080" y="1965960"/>
            <a:ext cx="5029200" cy="3291840"/>
          </a:xfrm>
          <a:prstGeom prst="rect">
            <a:avLst/>
          </a:prstGeom>
          <a:noFill/>
        </p:spPr>
        <p:txBody>
          <a:bodyPr wrap="square" anchor="t">
            <a:spAutoFit/>
          </a:bodyPr>
          <a:lstStyle/>
          <a:p>
            <a:pPr algn="l"/>
            <a:r>
              <a:rPr sz="1300" b="0">
                <a:solidFill>
                  <a:srgbClr val="6B7280"/>
                </a:solidFill>
                <a:latin typeface="Calibri"/>
              </a:rPr>
              <a:t/>
            </a:r>
          </a:p>
        </p:txBody>
      </p:sp>
      <p:sp>
        <p:nvSpPr>
          <p:cNvPr id="18" name="TextBox 17"/>
          <p:cNvSpPr txBox="1"/>
          <p:nvPr/>
        </p:nvSpPr>
        <p:spPr>
          <a:xfrm>
            <a:off x="6309360" y="1920240"/>
            <a:ext cx="4937760" cy="3108960"/>
          </a:xfrm>
          <a:prstGeom prst="rect">
            <a:avLst/>
          </a:prstGeom>
          <a:noFill/>
        </p:spPr>
        <p:txBody>
          <a:bodyPr wrap="square">
            <a:spAutoFit/>
          </a:bodyPr>
          <a:lstStyle/>
          <a:p>
            <a:pPr>
              <a:spcAft>
                <a:spcPts val="800"/>
              </a:spcAft>
            </a:pPr>
            <a:r>
              <a:rPr sz="1500">
                <a:solidFill>
                  <a:srgbClr val="FFFFFF"/>
                </a:solidFill>
              </a:rPr>
              <a:t>•  Inputs: success rate, avg time, snooze count, streak</a:t>
            </a:r>
          </a:p>
          <a:p>
            <a:pPr>
              <a:spcAft>
                <a:spcPts val="800"/>
              </a:spcAft>
            </a:pPr>
            <a:r>
              <a:rPr sz="1500">
                <a:solidFill>
                  <a:srgbClr val="FFFFFF"/>
                </a:solidFill>
              </a:rPr>
              <a:t>•  Output: next challenge difficulty (Beginner → Expert)</a:t>
            </a:r>
          </a:p>
          <a:p>
            <a:pPr>
              <a:spcAft>
                <a:spcPts val="800"/>
              </a:spcAft>
            </a:pPr>
            <a:r>
              <a:rPr sz="1500">
                <a:solidFill>
                  <a:srgbClr val="FFFFFF"/>
                </a:solidFill>
              </a:rPr>
              <a:t>•  Per-user personalization; cadence rises with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Web: dashboards for every role</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Track · Plan · Account, grouped navigation</a:t>
            </a:r>
          </a:p>
        </p:txBody>
      </p:sp>
      <p:sp>
        <p:nvSpPr>
          <p:cNvPr id="6" name="Rounded Rectangle 5"/>
          <p:cNvSpPr/>
          <p:nvPr/>
        </p:nvSpPr>
        <p:spPr>
          <a:xfrm>
            <a:off x="640080" y="1371600"/>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08760"/>
            <a:ext cx="82296" cy="1737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3017520" cy="457200"/>
          </a:xfrm>
          <a:prstGeom prst="rect">
            <a:avLst/>
          </a:prstGeom>
          <a:noFill/>
        </p:spPr>
        <p:txBody>
          <a:bodyPr wrap="square" anchor="t">
            <a:spAutoFit/>
          </a:bodyPr>
          <a:lstStyle/>
          <a:p>
            <a:pPr algn="l"/>
            <a:r>
              <a:rPr sz="1600" b="1">
                <a:solidFill>
                  <a:srgbClr val="1E293B"/>
                </a:solidFill>
                <a:latin typeface="Calibri"/>
              </a:rPr>
              <a:t>Track</a:t>
            </a:r>
          </a:p>
        </p:txBody>
      </p:sp>
      <p:sp>
        <p:nvSpPr>
          <p:cNvPr id="9" name="TextBox 8"/>
          <p:cNvSpPr txBox="1"/>
          <p:nvPr/>
        </p:nvSpPr>
        <p:spPr>
          <a:xfrm>
            <a:off x="1051560" y="1965960"/>
            <a:ext cx="3017520" cy="1280160"/>
          </a:xfrm>
          <a:prstGeom prst="rect">
            <a:avLst/>
          </a:prstGeom>
          <a:noFill/>
        </p:spPr>
        <p:txBody>
          <a:bodyPr wrap="square" anchor="t">
            <a:spAutoFit/>
          </a:bodyPr>
          <a:lstStyle/>
          <a:p>
            <a:pPr algn="l"/>
            <a:r>
              <a:rPr sz="1300" b="0">
                <a:solidFill>
                  <a:srgbClr val="6B7280"/>
                </a:solidFill>
                <a:latin typeface="Calibri"/>
              </a:rPr>
              <a:t>Home + Dashboard wired to live habit-history charts (Chart.js) and recommendations.</a:t>
            </a:r>
          </a:p>
        </p:txBody>
      </p:sp>
      <p:sp>
        <p:nvSpPr>
          <p:cNvPr id="10" name="Rounded Rectangle 9"/>
          <p:cNvSpPr/>
          <p:nvPr/>
        </p:nvSpPr>
        <p:spPr>
          <a:xfrm>
            <a:off x="4343400" y="1371600"/>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508760"/>
            <a:ext cx="82296"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508760"/>
            <a:ext cx="3017520" cy="457200"/>
          </a:xfrm>
          <a:prstGeom prst="rect">
            <a:avLst/>
          </a:prstGeom>
          <a:noFill/>
        </p:spPr>
        <p:txBody>
          <a:bodyPr wrap="square" anchor="t">
            <a:spAutoFit/>
          </a:bodyPr>
          <a:lstStyle/>
          <a:p>
            <a:pPr algn="l"/>
            <a:r>
              <a:rPr sz="1600" b="1">
                <a:solidFill>
                  <a:srgbClr val="1E293B"/>
                </a:solidFill>
                <a:latin typeface="Calibri"/>
              </a:rPr>
              <a:t>Plan</a:t>
            </a:r>
          </a:p>
        </p:txBody>
      </p:sp>
      <p:sp>
        <p:nvSpPr>
          <p:cNvPr id="13" name="TextBox 12"/>
          <p:cNvSpPr txBox="1"/>
          <p:nvPr/>
        </p:nvSpPr>
        <p:spPr>
          <a:xfrm>
            <a:off x="4754880" y="1965960"/>
            <a:ext cx="3017520" cy="1280160"/>
          </a:xfrm>
          <a:prstGeom prst="rect">
            <a:avLst/>
          </a:prstGeom>
          <a:noFill/>
        </p:spPr>
        <p:txBody>
          <a:bodyPr wrap="square" anchor="t">
            <a:spAutoFit/>
          </a:bodyPr>
          <a:lstStyle/>
          <a:p>
            <a:pPr algn="l"/>
            <a:r>
              <a:rPr sz="1300" b="0">
                <a:solidFill>
                  <a:srgbClr val="6B7280"/>
                </a:solidFill>
                <a:latin typeface="Calibri"/>
              </a:rPr>
              <a:t>Reports with CSV / JSON / PDF / Excel export channels.</a:t>
            </a:r>
          </a:p>
        </p:txBody>
      </p:sp>
      <p:sp>
        <p:nvSpPr>
          <p:cNvPr id="14" name="Rounded Rectangle 13"/>
          <p:cNvSpPr/>
          <p:nvPr/>
        </p:nvSpPr>
        <p:spPr>
          <a:xfrm>
            <a:off x="8046720" y="1371600"/>
            <a:ext cx="3566160" cy="201168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508760"/>
            <a:ext cx="82296"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508760"/>
            <a:ext cx="3017520" cy="457200"/>
          </a:xfrm>
          <a:prstGeom prst="rect">
            <a:avLst/>
          </a:prstGeom>
          <a:noFill/>
        </p:spPr>
        <p:txBody>
          <a:bodyPr wrap="square" anchor="t">
            <a:spAutoFit/>
          </a:bodyPr>
          <a:lstStyle/>
          <a:p>
            <a:pPr algn="l"/>
            <a:r>
              <a:rPr sz="1600" b="1">
                <a:solidFill>
                  <a:srgbClr val="1E293B"/>
                </a:solidFill>
                <a:latin typeface="Calibri"/>
              </a:rPr>
              <a:t>Account</a:t>
            </a:r>
          </a:p>
        </p:txBody>
      </p:sp>
      <p:sp>
        <p:nvSpPr>
          <p:cNvPr id="17" name="TextBox 16"/>
          <p:cNvSpPr txBox="1"/>
          <p:nvPr/>
        </p:nvSpPr>
        <p:spPr>
          <a:xfrm>
            <a:off x="8458200" y="1965960"/>
            <a:ext cx="3017520" cy="1280160"/>
          </a:xfrm>
          <a:prstGeom prst="rect">
            <a:avLst/>
          </a:prstGeom>
          <a:noFill/>
        </p:spPr>
        <p:txBody>
          <a:bodyPr wrap="square" anchor="t">
            <a:spAutoFit/>
          </a:bodyPr>
          <a:lstStyle/>
          <a:p>
            <a:pPr algn="l"/>
            <a:r>
              <a:rPr sz="1300" b="0">
                <a:solidFill>
                  <a:srgbClr val="6B7280"/>
                </a:solidFill>
                <a:latin typeface="Calibri"/>
              </a:rPr>
              <a:t>Profile, settings, and an RBAC-gated Admin console for platform metrics + user management.</a:t>
            </a:r>
          </a:p>
        </p:txBody>
      </p:sp>
      <p:sp>
        <p:nvSpPr>
          <p:cNvPr id="18" name="TextBox 17"/>
          <p:cNvSpPr txBox="1"/>
          <p:nvPr/>
        </p:nvSpPr>
        <p:spPr>
          <a:xfrm>
            <a:off x="640080" y="3749039"/>
            <a:ext cx="10881360" cy="2377440"/>
          </a:xfrm>
          <a:prstGeom prst="rect">
            <a:avLst/>
          </a:prstGeom>
          <a:noFill/>
        </p:spPr>
        <p:txBody>
          <a:bodyPr wrap="square">
            <a:spAutoFit/>
          </a:bodyPr>
          <a:lstStyle/>
          <a:p>
            <a:pPr>
              <a:spcAft>
                <a:spcPts val="800"/>
              </a:spcAft>
            </a:pPr>
            <a:r>
              <a:rPr sz="1500">
                <a:solidFill>
                  <a:srgbClr val="6B7280"/>
                </a:solidFill>
              </a:rPr>
              <a:t>Real data end-to-end: dashboard charts consume the snake_case API contract (a Vitest test caught a camelCase mis-key that was silently plotting empty charts).</a:t>
            </a:r>
          </a:p>
          <a:p>
            <a:pPr>
              <a:spcAft>
                <a:spcPts val="800"/>
              </a:spcAft>
            </a:pPr>
            <a:r>
              <a:rPr sz="1500">
                <a:solidFill>
                  <a:srgbClr val="6B7280"/>
                </a:solidFill>
              </a:rPr>
              <a:t>8 Vitest component/unit tests; grouped navigation with tooltips per the product spec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Validation &amp; quality: 70+ automated checks</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Every claim is backed by a passing gate</a:t>
            </a:r>
          </a:p>
        </p:txBody>
      </p:sp>
      <p:sp>
        <p:nvSpPr>
          <p:cNvPr id="6" name="Rounded Rectangle 5"/>
          <p:cNvSpPr/>
          <p:nvPr/>
        </p:nvSpPr>
        <p:spPr>
          <a:xfrm>
            <a:off x="64008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08760"/>
            <a:ext cx="82296" cy="1554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3017520" cy="457200"/>
          </a:xfrm>
          <a:prstGeom prst="rect">
            <a:avLst/>
          </a:prstGeom>
          <a:noFill/>
        </p:spPr>
        <p:txBody>
          <a:bodyPr wrap="square" anchor="t">
            <a:spAutoFit/>
          </a:bodyPr>
          <a:lstStyle/>
          <a:p>
            <a:pPr algn="l"/>
            <a:r>
              <a:rPr sz="1600" b="1">
                <a:solidFill>
                  <a:srgbClr val="1E293B"/>
                </a:solidFill>
                <a:latin typeface="Calibri"/>
              </a:rPr>
              <a:t>32 backend tests</a:t>
            </a:r>
          </a:p>
        </p:txBody>
      </p:sp>
      <p:sp>
        <p:nvSpPr>
          <p:cNvPr id="9" name="TextBox 8"/>
          <p:cNvSpPr txBox="1"/>
          <p:nvPr/>
        </p:nvSpPr>
        <p:spPr>
          <a:xfrm>
            <a:off x="1051560" y="1965960"/>
            <a:ext cx="3017520" cy="1097280"/>
          </a:xfrm>
          <a:prstGeom prst="rect">
            <a:avLst/>
          </a:prstGeom>
          <a:noFill/>
        </p:spPr>
        <p:txBody>
          <a:bodyPr wrap="square" anchor="t">
            <a:spAutoFit/>
          </a:bodyPr>
          <a:lstStyle/>
          <a:p>
            <a:pPr algn="l"/>
            <a:r>
              <a:rPr sz="1300" b="0">
                <a:solidFill>
                  <a:srgbClr val="6B7280"/>
                </a:solidFill>
                <a:latin typeface="Calibri"/>
              </a:rPr>
              <a:t>pytest suite covering auth, alarms, challenges, analytics, sync, reports — on Python 3.11 + 3.14.</a:t>
            </a:r>
          </a:p>
        </p:txBody>
      </p:sp>
      <p:sp>
        <p:nvSpPr>
          <p:cNvPr id="10" name="Rounded Rectangle 9"/>
          <p:cNvSpPr/>
          <p:nvPr/>
        </p:nvSpPr>
        <p:spPr>
          <a:xfrm>
            <a:off x="434340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508760"/>
            <a:ext cx="82296" cy="1554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508760"/>
            <a:ext cx="3017520" cy="457200"/>
          </a:xfrm>
          <a:prstGeom prst="rect">
            <a:avLst/>
          </a:prstGeom>
          <a:noFill/>
        </p:spPr>
        <p:txBody>
          <a:bodyPr wrap="square" anchor="t">
            <a:spAutoFit/>
          </a:bodyPr>
          <a:lstStyle/>
          <a:p>
            <a:pPr algn="l"/>
            <a:r>
              <a:rPr sz="1600" b="1">
                <a:solidFill>
                  <a:srgbClr val="1E293B"/>
                </a:solidFill>
                <a:latin typeface="Calibri"/>
              </a:rPr>
              <a:t>31 mobile tests</a:t>
            </a:r>
          </a:p>
        </p:txBody>
      </p:sp>
      <p:sp>
        <p:nvSpPr>
          <p:cNvPr id="13" name="TextBox 12"/>
          <p:cNvSpPr txBox="1"/>
          <p:nvPr/>
        </p:nvSpPr>
        <p:spPr>
          <a:xfrm>
            <a:off x="4754880" y="1965960"/>
            <a:ext cx="3017520" cy="1097280"/>
          </a:xfrm>
          <a:prstGeom prst="rect">
            <a:avLst/>
          </a:prstGeom>
          <a:noFill/>
        </p:spPr>
        <p:txBody>
          <a:bodyPr wrap="square" anchor="t">
            <a:spAutoFit/>
          </a:bodyPr>
          <a:lstStyle/>
          <a:p>
            <a:pPr algn="l"/>
            <a:r>
              <a:rPr sz="1300" b="0">
                <a:solidFill>
                  <a:srgbClr val="6B7280"/>
                </a:solidFill>
                <a:latin typeface="Calibri"/>
              </a:rPr>
              <a:t>jest-expo: sync engine, offline store, push registration, API utils, hooks.</a:t>
            </a:r>
          </a:p>
        </p:txBody>
      </p:sp>
      <p:sp>
        <p:nvSpPr>
          <p:cNvPr id="14" name="Rounded Rectangle 13"/>
          <p:cNvSpPr/>
          <p:nvPr/>
        </p:nvSpPr>
        <p:spPr>
          <a:xfrm>
            <a:off x="804672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508760"/>
            <a:ext cx="82296" cy="1554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508760"/>
            <a:ext cx="3017520" cy="457200"/>
          </a:xfrm>
          <a:prstGeom prst="rect">
            <a:avLst/>
          </a:prstGeom>
          <a:noFill/>
        </p:spPr>
        <p:txBody>
          <a:bodyPr wrap="square" anchor="t">
            <a:spAutoFit/>
          </a:bodyPr>
          <a:lstStyle/>
          <a:p>
            <a:pPr algn="l"/>
            <a:r>
              <a:rPr sz="1600" b="1">
                <a:solidFill>
                  <a:srgbClr val="1E293B"/>
                </a:solidFill>
                <a:latin typeface="Calibri"/>
              </a:rPr>
              <a:t>8 web tests + smokes</a:t>
            </a:r>
          </a:p>
        </p:txBody>
      </p:sp>
      <p:sp>
        <p:nvSpPr>
          <p:cNvPr id="17" name="TextBox 16"/>
          <p:cNvSpPr txBox="1"/>
          <p:nvPr/>
        </p:nvSpPr>
        <p:spPr>
          <a:xfrm>
            <a:off x="8458200" y="1965960"/>
            <a:ext cx="3017520" cy="1097280"/>
          </a:xfrm>
          <a:prstGeom prst="rect">
            <a:avLst/>
          </a:prstGeom>
          <a:noFill/>
        </p:spPr>
        <p:txBody>
          <a:bodyPr wrap="square" anchor="t">
            <a:spAutoFit/>
          </a:bodyPr>
          <a:lstStyle/>
          <a:p>
            <a:pPr algn="l"/>
            <a:r>
              <a:rPr sz="1300" b="0">
                <a:solidFill>
                  <a:srgbClr val="6B7280"/>
                </a:solidFill>
                <a:latin typeface="Calibri"/>
              </a:rPr>
              <a:t>Vitest components + smoke_m1 (22 checks) + smoke_m2 (28 checks).</a:t>
            </a:r>
          </a:p>
        </p:txBody>
      </p:sp>
      <p:sp>
        <p:nvSpPr>
          <p:cNvPr id="18" name="TextBox 17"/>
          <p:cNvSpPr txBox="1"/>
          <p:nvPr/>
        </p:nvSpPr>
        <p:spPr>
          <a:xfrm>
            <a:off x="640080" y="3566160"/>
            <a:ext cx="10881360" cy="2743200"/>
          </a:xfrm>
          <a:prstGeom prst="rect">
            <a:avLst/>
          </a:prstGeom>
          <a:noFill/>
        </p:spPr>
        <p:txBody>
          <a:bodyPr wrap="square">
            <a:spAutoFit/>
          </a:bodyPr>
          <a:lstStyle/>
          <a:p>
            <a:pPr>
              <a:spcAft>
                <a:spcPts val="800"/>
              </a:spcAft>
            </a:pPr>
            <a:r>
              <a:rPr b="1" sz="1500">
                <a:solidFill>
                  <a:srgbClr val="1E293B"/>
                </a:solidFill>
              </a:rPr>
              <a:t>CI (GitHub Actions) — </a:t>
            </a:r>
            <a:r>
              <a:rPr sz="1500">
                <a:solidFill>
                  <a:srgbClr val="6B7280"/>
                </a:solidFill>
              </a:rPr>
              <a:t>ruff lint, pytest, both smoke suites, web build+test, mobile test on every push.</a:t>
            </a:r>
          </a:p>
          <a:p>
            <a:pPr>
              <a:spcAft>
                <a:spcPts val="800"/>
              </a:spcAft>
            </a:pPr>
            <a:r>
              <a:rPr b="1" sz="1500">
                <a:solidFill>
                  <a:srgbClr val="1E293B"/>
                </a:solidFill>
              </a:rPr>
              <a:t>End-to-end verified — </a:t>
            </a:r>
            <a:r>
              <a:rPr sz="1500">
                <a:solidFill>
                  <a:srgbClr val="6B7280"/>
                </a:solidFill>
              </a:rPr>
              <a:t>register → login → challenge → habit → analytics → recommendations all return 200 over HTTP; PDF/Excel exports confirmed in-container.</a:t>
            </a:r>
          </a:p>
          <a:p>
            <a:pPr>
              <a:spcAft>
                <a:spcPts val="800"/>
              </a:spcAft>
            </a:pPr>
            <a:r>
              <a:rPr b="1" sz="1500">
                <a:solidFill>
                  <a:srgbClr val="1E293B"/>
                </a:solidFill>
              </a:rPr>
              <a:t>Docker deployment — </a:t>
            </a:r>
            <a:r>
              <a:rPr sz="1500">
                <a:solidFill>
                  <a:srgbClr val="6B7280"/>
                </a:solidFill>
              </a:rPr>
              <a:t>Postgres + migrations entrypoint + lean runtime image + healthchecks, compose up-tested.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Challenges we solved</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The engineering lessons worth naming</a:t>
            </a:r>
          </a:p>
        </p:txBody>
      </p:sp>
      <p:sp>
        <p:nvSpPr>
          <p:cNvPr id="6" name="Rounded Rectangle 5"/>
          <p:cNvSpPr/>
          <p:nvPr/>
        </p:nvSpPr>
        <p:spPr>
          <a:xfrm>
            <a:off x="640080" y="1371600"/>
            <a:ext cx="3566160" cy="4206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08760"/>
            <a:ext cx="82296"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3017520" cy="457200"/>
          </a:xfrm>
          <a:prstGeom prst="rect">
            <a:avLst/>
          </a:prstGeom>
          <a:noFill/>
        </p:spPr>
        <p:txBody>
          <a:bodyPr wrap="square" anchor="t">
            <a:spAutoFit/>
          </a:bodyPr>
          <a:lstStyle/>
          <a:p>
            <a:pPr algn="l"/>
            <a:r>
              <a:rPr sz="1600" b="1">
                <a:solidFill>
                  <a:srgbClr val="1E293B"/>
                </a:solidFill>
                <a:latin typeface="Calibri"/>
              </a:rPr>
              <a:t>Answer security</a:t>
            </a:r>
          </a:p>
        </p:txBody>
      </p:sp>
      <p:sp>
        <p:nvSpPr>
          <p:cNvPr id="9" name="TextBox 8"/>
          <p:cNvSpPr txBox="1"/>
          <p:nvPr/>
        </p:nvSpPr>
        <p:spPr>
          <a:xfrm>
            <a:off x="1051560" y="1965960"/>
            <a:ext cx="3017520" cy="3474720"/>
          </a:xfrm>
          <a:prstGeom prst="rect">
            <a:avLst/>
          </a:prstGeom>
          <a:noFill/>
        </p:spPr>
        <p:txBody>
          <a:bodyPr wrap="square" anchor="t">
            <a:spAutoFit/>
          </a:bodyPr>
          <a:lstStyle/>
          <a:p>
            <a:pPr algn="l"/>
            <a:r>
              <a:rPr sz="1300" b="0">
                <a:solidFill>
                  <a:srgbClr val="6B7280"/>
                </a:solidFill>
                <a:latin typeface="Calibri"/>
              </a:rPr>
              <a:t>Challenges snapshotted server-side; answers never returned to the client; verification is server-authoritative.</a:t>
            </a:r>
          </a:p>
        </p:txBody>
      </p:sp>
      <p:sp>
        <p:nvSpPr>
          <p:cNvPr id="10" name="Rounded Rectangle 9"/>
          <p:cNvSpPr/>
          <p:nvPr/>
        </p:nvSpPr>
        <p:spPr>
          <a:xfrm>
            <a:off x="4343400" y="1371600"/>
            <a:ext cx="3566160" cy="4206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508760"/>
            <a:ext cx="82296" cy="3931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508760"/>
            <a:ext cx="3017520" cy="457200"/>
          </a:xfrm>
          <a:prstGeom prst="rect">
            <a:avLst/>
          </a:prstGeom>
          <a:noFill/>
        </p:spPr>
        <p:txBody>
          <a:bodyPr wrap="square" anchor="t">
            <a:spAutoFit/>
          </a:bodyPr>
          <a:lstStyle/>
          <a:p>
            <a:pPr algn="l"/>
            <a:r>
              <a:rPr sz="1600" b="1">
                <a:solidFill>
                  <a:srgbClr val="1E293B"/>
                </a:solidFill>
                <a:latin typeface="Calibri"/>
              </a:rPr>
              <a:t>Cross-version drift</a:t>
            </a:r>
          </a:p>
        </p:txBody>
      </p:sp>
      <p:sp>
        <p:nvSpPr>
          <p:cNvPr id="13" name="TextBox 12"/>
          <p:cNvSpPr txBox="1"/>
          <p:nvPr/>
        </p:nvSpPr>
        <p:spPr>
          <a:xfrm>
            <a:off x="4754880" y="1965960"/>
            <a:ext cx="3017520" cy="3474720"/>
          </a:xfrm>
          <a:prstGeom prst="rect">
            <a:avLst/>
          </a:prstGeom>
          <a:noFill/>
        </p:spPr>
        <p:txBody>
          <a:bodyPr wrap="square" anchor="t">
            <a:spAutoFit/>
          </a:bodyPr>
          <a:lstStyle/>
          <a:p>
            <a:pPr algn="l"/>
            <a:r>
              <a:rPr sz="1300" b="0">
                <a:solidFill>
                  <a:srgbClr val="6B7280"/>
                </a:solidFill>
                <a:latin typeface="Calibri"/>
              </a:rPr>
              <a:t>Venv silently drifted to Python 3.14; Docker stays on 3.11 — found &amp; fixed a forward-ref bug that only crashed under 3.11.</a:t>
            </a:r>
          </a:p>
        </p:txBody>
      </p:sp>
      <p:sp>
        <p:nvSpPr>
          <p:cNvPr id="14" name="Rounded Rectangle 13"/>
          <p:cNvSpPr/>
          <p:nvPr/>
        </p:nvSpPr>
        <p:spPr>
          <a:xfrm>
            <a:off x="8046720" y="1371600"/>
            <a:ext cx="3566160" cy="420624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508760"/>
            <a:ext cx="82296" cy="3931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508760"/>
            <a:ext cx="3017520" cy="457200"/>
          </a:xfrm>
          <a:prstGeom prst="rect">
            <a:avLst/>
          </a:prstGeom>
          <a:noFill/>
        </p:spPr>
        <p:txBody>
          <a:bodyPr wrap="square" anchor="t">
            <a:spAutoFit/>
          </a:bodyPr>
          <a:lstStyle/>
          <a:p>
            <a:pPr algn="l"/>
            <a:r>
              <a:rPr sz="1600" b="1">
                <a:solidFill>
                  <a:srgbClr val="1E293B"/>
                </a:solidFill>
                <a:latin typeface="Calibri"/>
              </a:rPr>
              <a:t>Device connectivity</a:t>
            </a:r>
          </a:p>
        </p:txBody>
      </p:sp>
      <p:sp>
        <p:nvSpPr>
          <p:cNvPr id="17" name="TextBox 16"/>
          <p:cNvSpPr txBox="1"/>
          <p:nvPr/>
        </p:nvSpPr>
        <p:spPr>
          <a:xfrm>
            <a:off x="8458200" y="1965960"/>
            <a:ext cx="3017520" cy="3474720"/>
          </a:xfrm>
          <a:prstGeom prst="rect">
            <a:avLst/>
          </a:prstGeom>
          <a:noFill/>
        </p:spPr>
        <p:txBody>
          <a:bodyPr wrap="square" anchor="t">
            <a:spAutoFit/>
          </a:bodyPr>
          <a:lstStyle/>
          <a:p>
            <a:pPr algn="l"/>
            <a:r>
              <a:rPr sz="1300" b="0">
                <a:solidFill>
                  <a:srgbClr val="6B7280"/>
                </a:solidFill>
                <a:latin typeface="Calibri"/>
              </a:rPr>
              <a:t>Real-phone dev: base-URL resolution from Expo hostUri, relay fallback, and 401-triggered logout/refresh instead of silent failures.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Impact &amp; completeness</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Why this stands out</a:t>
            </a:r>
          </a:p>
        </p:txBody>
      </p:sp>
      <p:sp>
        <p:nvSpPr>
          <p:cNvPr id="6" name="TextBox 5"/>
          <p:cNvSpPr txBox="1"/>
          <p:nvPr/>
        </p:nvSpPr>
        <p:spPr>
          <a:xfrm>
            <a:off x="640080" y="1371600"/>
            <a:ext cx="10698480" cy="3291840"/>
          </a:xfrm>
          <a:prstGeom prst="rect">
            <a:avLst/>
          </a:prstGeom>
          <a:noFill/>
        </p:spPr>
        <p:txBody>
          <a:bodyPr wrap="square">
            <a:spAutoFit/>
          </a:bodyPr>
          <a:lstStyle/>
          <a:p>
            <a:pPr>
              <a:spcAft>
                <a:spcPts val="1000"/>
              </a:spcAft>
            </a:pPr>
            <a:r>
              <a:rPr b="1" sz="1700">
                <a:solidFill>
                  <a:srgbClr val="1E293B"/>
                </a:solidFill>
              </a:rPr>
              <a:t>Full-stack breadth — </a:t>
            </a:r>
            <a:r>
              <a:rPr sz="1700">
                <a:solidFill>
                  <a:srgbClr val="6B7280"/>
                </a:solidFill>
              </a:rPr>
              <a:t>mobile, web, backend, DB, ML, DevOps and testing — end to end, not a stubbed prototype.</a:t>
            </a:r>
          </a:p>
          <a:p>
            <a:pPr>
              <a:spcAft>
                <a:spcPts val="1000"/>
              </a:spcAft>
            </a:pPr>
            <a:r>
              <a:rPr b="1" sz="1700">
                <a:solidFill>
                  <a:srgbClr val="1E293B"/>
                </a:solidFill>
              </a:rPr>
              <a:t>Security by design — </a:t>
            </a:r>
            <a:r>
              <a:rPr sz="1700">
                <a:solidFill>
                  <a:srgbClr val="6B7280"/>
                </a:solidFill>
              </a:rPr>
              <a:t>server-authoritative challenge engine and RBAC throughout, not bolted on.</a:t>
            </a:r>
          </a:p>
          <a:p>
            <a:pPr>
              <a:spcAft>
                <a:spcPts val="1000"/>
              </a:spcAft>
            </a:pPr>
            <a:r>
              <a:rPr b="1" sz="1700">
                <a:solidFill>
                  <a:srgbClr val="1E293B"/>
                </a:solidFill>
              </a:rPr>
              <a:t>Test-first quality — </a:t>
            </a:r>
            <a:r>
              <a:rPr sz="1700">
                <a:solidFill>
                  <a:srgbClr val="6B7280"/>
                </a:solidFill>
              </a:rPr>
              <a:t>70+ automated checks in CI caught real regressions, including a live-chart data bug.</a:t>
            </a:r>
          </a:p>
          <a:p>
            <a:pPr>
              <a:spcAft>
                <a:spcPts val="1000"/>
              </a:spcAft>
            </a:pPr>
            <a:r>
              <a:rPr b="1" sz="1700">
                <a:solidFill>
                  <a:srgbClr val="1E293B"/>
                </a:solidFill>
              </a:rPr>
              <a:t>Offline-first mobile — </a:t>
            </a:r>
            <a:r>
              <a:rPr sz="1700">
                <a:solidFill>
                  <a:srgbClr val="6B7280"/>
                </a:solidFill>
              </a:rPr>
              <a:t>the app degrades gracefully and syncs idempotently.</a:t>
            </a:r>
          </a:p>
          <a:p>
            <a:pPr>
              <a:spcAft>
                <a:spcPts val="1000"/>
              </a:spcAft>
            </a:pPr>
            <a:r>
              <a:rPr b="1" sz="1700">
                <a:solidFill>
                  <a:srgbClr val="1E293B"/>
                </a:solidFill>
              </a:rPr>
              <a:t>Production-shaped — </a:t>
            </a:r>
            <a:r>
              <a:rPr sz="1700">
                <a:solidFill>
                  <a:srgbClr val="6B7280"/>
                </a:solidFill>
              </a:rPr>
              <a:t>Docker deployment, migrations entrypoint, structured errors, rate limiting, and lean runtime.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1064240" cy="548640"/>
          </a:xfrm>
          <a:prstGeom prst="rect">
            <a:avLst/>
          </a:prstGeom>
          <a:noFill/>
        </p:spPr>
        <p:txBody>
          <a:bodyPr wrap="square" anchor="t">
            <a:spAutoFit/>
          </a:bodyPr>
          <a:lstStyle/>
          <a:p>
            <a:pPr algn="l"/>
            <a:r>
              <a:rPr sz="2600" b="1">
                <a:solidFill>
                  <a:srgbClr val="FFFFFF"/>
                </a:solidFill>
                <a:latin typeface="Calibri"/>
              </a:rPr>
              <a:t>Next steps &amp; scaling path</a:t>
            </a:r>
          </a:p>
        </p:txBody>
      </p:sp>
      <p:sp>
        <p:nvSpPr>
          <p:cNvPr id="5" name="TextBox 4"/>
          <p:cNvSpPr txBox="1"/>
          <p:nvPr/>
        </p:nvSpPr>
        <p:spPr>
          <a:xfrm>
            <a:off x="548640" y="658368"/>
            <a:ext cx="11064240" cy="365760"/>
          </a:xfrm>
          <a:prstGeom prst="rect">
            <a:avLst/>
          </a:prstGeom>
          <a:noFill/>
        </p:spPr>
        <p:txBody>
          <a:bodyPr wrap="square" anchor="t">
            <a:spAutoFit/>
          </a:bodyPr>
          <a:lstStyle/>
          <a:p>
            <a:pPr algn="l"/>
            <a:r>
              <a:rPr sz="1400" b="0">
                <a:solidFill>
                  <a:srgbClr val="CAD5FF"/>
                </a:solidFill>
                <a:latin typeface="Calibri"/>
              </a:rPr>
              <a:t>Clearly scoped as deliberately-planned, not fabricated</a:t>
            </a:r>
          </a:p>
        </p:txBody>
      </p:sp>
      <p:sp>
        <p:nvSpPr>
          <p:cNvPr id="6" name="Rounded Rectangle 5"/>
          <p:cNvSpPr/>
          <p:nvPr/>
        </p:nvSpPr>
        <p:spPr>
          <a:xfrm>
            <a:off x="64008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08760"/>
            <a:ext cx="82296" cy="1554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08760"/>
            <a:ext cx="3017520" cy="457200"/>
          </a:xfrm>
          <a:prstGeom prst="rect">
            <a:avLst/>
          </a:prstGeom>
          <a:noFill/>
        </p:spPr>
        <p:txBody>
          <a:bodyPr wrap="square" anchor="t">
            <a:spAutoFit/>
          </a:bodyPr>
          <a:lstStyle/>
          <a:p>
            <a:pPr algn="l"/>
            <a:r>
              <a:rPr sz="1600" b="1">
                <a:solidFill>
                  <a:srgbClr val="1E293B"/>
                </a:solidFill>
                <a:latin typeface="Calibri"/>
              </a:rPr>
              <a:t>Notifications delivery</a:t>
            </a:r>
          </a:p>
        </p:txBody>
      </p:sp>
      <p:sp>
        <p:nvSpPr>
          <p:cNvPr id="9" name="TextBox 8"/>
          <p:cNvSpPr txBox="1"/>
          <p:nvPr/>
        </p:nvSpPr>
        <p:spPr>
          <a:xfrm>
            <a:off x="1051560" y="1965960"/>
            <a:ext cx="3017520" cy="1097280"/>
          </a:xfrm>
          <a:prstGeom prst="rect">
            <a:avLst/>
          </a:prstGeom>
          <a:noFill/>
        </p:spPr>
        <p:txBody>
          <a:bodyPr wrap="square" anchor="t">
            <a:spAutoFit/>
          </a:bodyPr>
          <a:lstStyle/>
          <a:p>
            <a:pPr algn="l"/>
            <a:r>
              <a:rPr sz="1300" b="0">
                <a:solidFill>
                  <a:srgbClr val="6B7280"/>
                </a:solidFill>
                <a:latin typeface="Calibri"/>
              </a:rPr>
              <a:t>FCM / APNs provider behind the existing messaging protocol, plus on-device local alarm scheduling.</a:t>
            </a:r>
          </a:p>
        </p:txBody>
      </p:sp>
      <p:sp>
        <p:nvSpPr>
          <p:cNvPr id="10" name="Rounded Rectangle 9"/>
          <p:cNvSpPr/>
          <p:nvPr/>
        </p:nvSpPr>
        <p:spPr>
          <a:xfrm>
            <a:off x="434340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508760"/>
            <a:ext cx="82296" cy="1554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508760"/>
            <a:ext cx="3017520" cy="457200"/>
          </a:xfrm>
          <a:prstGeom prst="rect">
            <a:avLst/>
          </a:prstGeom>
          <a:noFill/>
        </p:spPr>
        <p:txBody>
          <a:bodyPr wrap="square" anchor="t">
            <a:spAutoFit/>
          </a:bodyPr>
          <a:lstStyle/>
          <a:p>
            <a:pPr algn="l"/>
            <a:r>
              <a:rPr sz="1600" b="1">
                <a:solidFill>
                  <a:srgbClr val="1E293B"/>
                </a:solidFill>
                <a:latin typeface="Calibri"/>
              </a:rPr>
              <a:t>Flow coverage</a:t>
            </a:r>
          </a:p>
        </p:txBody>
      </p:sp>
      <p:sp>
        <p:nvSpPr>
          <p:cNvPr id="13" name="TextBox 12"/>
          <p:cNvSpPr txBox="1"/>
          <p:nvPr/>
        </p:nvSpPr>
        <p:spPr>
          <a:xfrm>
            <a:off x="4754880" y="1965960"/>
            <a:ext cx="3017520" cy="1097280"/>
          </a:xfrm>
          <a:prstGeom prst="rect">
            <a:avLst/>
          </a:prstGeom>
          <a:noFill/>
        </p:spPr>
        <p:txBody>
          <a:bodyPr wrap="square" anchor="t">
            <a:spAutoFit/>
          </a:bodyPr>
          <a:lstStyle/>
          <a:p>
            <a:pPr algn="l"/>
            <a:r>
              <a:rPr sz="1300" b="0">
                <a:solidFill>
                  <a:srgbClr val="6B7280"/>
                </a:solidFill>
                <a:latin typeface="Calibri"/>
              </a:rPr>
              <a:t>Broader flow-level alarm-dismiss component tests.</a:t>
            </a:r>
          </a:p>
        </p:txBody>
      </p:sp>
      <p:sp>
        <p:nvSpPr>
          <p:cNvPr id="14" name="Rounded Rectangle 13"/>
          <p:cNvSpPr/>
          <p:nvPr/>
        </p:nvSpPr>
        <p:spPr>
          <a:xfrm>
            <a:off x="8046720" y="1371600"/>
            <a:ext cx="3566160" cy="1828800"/>
          </a:xfrm>
          <a:prstGeom prst="roundRect">
            <a:avLst/>
          </a:prstGeom>
          <a:solidFill>
            <a:srgbClr val="FFFFFF"/>
          </a:solidFill>
          <a:ln>
            <a:solidFill>
              <a:srgbClr val="E0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508760"/>
            <a:ext cx="82296" cy="1554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508760"/>
            <a:ext cx="3017520" cy="457200"/>
          </a:xfrm>
          <a:prstGeom prst="rect">
            <a:avLst/>
          </a:prstGeom>
          <a:noFill/>
        </p:spPr>
        <p:txBody>
          <a:bodyPr wrap="square" anchor="t">
            <a:spAutoFit/>
          </a:bodyPr>
          <a:lstStyle/>
          <a:p>
            <a:pPr algn="l"/>
            <a:r>
              <a:rPr sz="1600" b="1">
                <a:solidFill>
                  <a:srgbClr val="1E293B"/>
                </a:solidFill>
                <a:latin typeface="Calibri"/>
              </a:rPr>
              <a:t>Real cloud deploy</a:t>
            </a:r>
          </a:p>
        </p:txBody>
      </p:sp>
      <p:sp>
        <p:nvSpPr>
          <p:cNvPr id="17" name="TextBox 16"/>
          <p:cNvSpPr txBox="1"/>
          <p:nvPr/>
        </p:nvSpPr>
        <p:spPr>
          <a:xfrm>
            <a:off x="8458200" y="1965960"/>
            <a:ext cx="3017520" cy="1097280"/>
          </a:xfrm>
          <a:prstGeom prst="rect">
            <a:avLst/>
          </a:prstGeom>
          <a:noFill/>
        </p:spPr>
        <p:txBody>
          <a:bodyPr wrap="square" anchor="t">
            <a:spAutoFit/>
          </a:bodyPr>
          <a:lstStyle/>
          <a:p>
            <a:pPr algn="l"/>
            <a:r>
              <a:rPr sz="1300" b="0">
                <a:solidFill>
                  <a:srgbClr val="6B7280"/>
                </a:solidFill>
                <a:latin typeface="Calibri"/>
              </a:rPr>
              <a:t>Provision a managed Postgres + container runtime; monitor via the documented stack.</a:t>
            </a:r>
          </a:p>
        </p:txBody>
      </p:sp>
      <p:sp>
        <p:nvSpPr>
          <p:cNvPr id="18" name="TextBox 17"/>
          <p:cNvSpPr txBox="1"/>
          <p:nvPr/>
        </p:nvSpPr>
        <p:spPr>
          <a:xfrm>
            <a:off x="640080" y="3566160"/>
            <a:ext cx="10698480" cy="2377440"/>
          </a:xfrm>
          <a:prstGeom prst="rect">
            <a:avLst/>
          </a:prstGeom>
          <a:noFill/>
        </p:spPr>
        <p:txBody>
          <a:bodyPr wrap="square">
            <a:spAutoFit/>
          </a:bodyPr>
          <a:lstStyle/>
          <a:p>
            <a:pPr>
              <a:spcAft>
                <a:spcPts val="800"/>
              </a:spcAft>
            </a:pPr>
            <a:r>
              <a:rPr sz="1500">
                <a:solidFill>
                  <a:srgbClr val="6B7280"/>
                </a:solidFill>
              </a:rPr>
              <a:t>Architecture is documented with an implemented/scaffold/planned legend — no unimplemented features are claimed as done.</a:t>
            </a:r>
          </a:p>
          <a:p>
            <a:pPr>
              <a:spcAft>
                <a:spcPts val="800"/>
              </a:spcAft>
            </a:pPr>
            <a:r>
              <a:rPr sz="1500">
                <a:solidFill>
                  <a:srgbClr val="6B7280"/>
                </a:solidFill>
              </a:rPr>
              <a:t>Offline sync + push registration are wired; on-device E2E verification needs a development build (Expo Go disables native push).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914400"/>
          </a:xfrm>
          <a:prstGeom prst="rect">
            <a:avLst/>
          </a:prstGeom>
          <a:noFill/>
        </p:spPr>
        <p:txBody>
          <a:bodyPr wrap="square" anchor="t">
            <a:spAutoFit/>
          </a:bodyPr>
          <a:lstStyle/>
          <a:p>
            <a:pPr algn="ctr"/>
            <a:r>
              <a:rPr sz="5400" b="1">
                <a:solidFill>
                  <a:srgbClr val="FFFFFF"/>
                </a:solidFill>
                <a:latin typeface="Calibri"/>
              </a:rPr>
              <a:t>Thank you</a:t>
            </a:r>
          </a:p>
        </p:txBody>
      </p:sp>
      <p:sp>
        <p:nvSpPr>
          <p:cNvPr id="4" name="TextBox 3"/>
          <p:cNvSpPr txBox="1"/>
          <p:nvPr/>
        </p:nvSpPr>
        <p:spPr>
          <a:xfrm>
            <a:off x="914400" y="3383280"/>
            <a:ext cx="10332720" cy="731520"/>
          </a:xfrm>
          <a:prstGeom prst="rect">
            <a:avLst/>
          </a:prstGeom>
          <a:noFill/>
        </p:spPr>
        <p:txBody>
          <a:bodyPr wrap="square" anchor="t">
            <a:spAutoFit/>
          </a:bodyPr>
          <a:lstStyle/>
          <a:p>
            <a:pPr algn="ctr"/>
            <a:r>
              <a:rPr sz="2200" b="0">
                <a:solidFill>
                  <a:srgbClr val="10B981"/>
                </a:solidFill>
                <a:latin typeface="Calibri"/>
              </a:rPr>
              <a:t>CerebroKognit — wake up sharper, not just earlier.</a:t>
            </a:r>
          </a:p>
        </p:txBody>
      </p:sp>
      <p:sp>
        <p:nvSpPr>
          <p:cNvPr id="5" name="TextBox 4"/>
          <p:cNvSpPr txBox="1"/>
          <p:nvPr/>
        </p:nvSpPr>
        <p:spPr>
          <a:xfrm>
            <a:off x="914400" y="4572000"/>
            <a:ext cx="10332720" cy="457200"/>
          </a:xfrm>
          <a:prstGeom prst="rect">
            <a:avLst/>
          </a:prstGeom>
          <a:noFill/>
        </p:spPr>
        <p:txBody>
          <a:bodyPr wrap="square" anchor="t">
            <a:spAutoFit/>
          </a:bodyPr>
          <a:lstStyle/>
          <a:p>
            <a:pPr algn="ctr"/>
            <a:r>
              <a:rPr sz="1600" b="0">
                <a:solidFill>
                  <a:srgbClr val="9AA5D0"/>
                </a:solidFill>
                <a:latin typeface="Calibri"/>
              </a:rPr>
              <a:t>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